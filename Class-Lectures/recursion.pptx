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B4BC-5523-6B15-E379-9D440B47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5498A-9F1B-6472-F519-710C8C9E6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F0FC-0AA9-8136-10E0-988D9210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C1CA-0711-850D-5183-A2B5A213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7137-DAE9-F53F-3928-0DAE159E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402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8FB6-9C6A-F2BD-6645-56D63385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D5916-DB56-3126-E08A-67B9C229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D3A2-2C6B-F220-0DE2-9B5C45FB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012E-03D3-4F84-BD86-3182884B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40CDA-08A8-25C9-7297-05C2A67E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941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68DC-6682-82D9-962D-035F7D32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65487-DC41-AAD6-069E-90A85655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8284-1A15-F0BC-8397-CD51B490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893AF-8BEC-AE33-ECEA-BB06A731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6908-FF3F-F647-EACB-D579D785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025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6D56-7FFB-4395-2EAE-ED2F7AB9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4702-43E3-2BCF-BC3A-243818AFC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050C7-B43B-1479-7A6D-930D37AF6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A581E-2932-1221-6837-84D3BBB0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42CD-9E35-5A28-DB43-BA1B0FFE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2A5E5-B8E6-13FB-12FC-F3D17D09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653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D583-DB59-9544-613C-A1399769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AB85D-86CC-130D-C73F-621488E2D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001A8-0867-70EE-F388-A6781857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61077-609E-F8EB-8394-BE4CEDE6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35E47-CD8C-DB62-FD58-1EEF1602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C7D4-9A0D-DB05-F459-9A05E934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4244C-8711-3475-2C24-B68828AF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720E4-06AC-D540-526F-8C8A26FF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5267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6F68-FA65-13A7-E538-86D1C890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EB2FD-6FF5-9190-F51D-A2B20E81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E5D0B-E530-1D35-E485-E3C11586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7CE04-5E37-1D2C-C5A6-EF62A94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950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3DA80-AF75-88CC-15E0-1E5BDEE9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51D2A-1D2C-B7FC-A6F5-5CDA8DC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E0DF3-51D1-71EB-ED76-1AB58147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423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47C7-DE01-6A7A-312D-4D28D27B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546E-840F-9AF8-2F81-CA4BE9DE9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E75C5-AB6D-14EF-A652-A55984E3B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C8BD-2F12-5C44-0FC5-ABC9121D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E7D24-0E6F-B0D5-0D71-D95C68F1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03AAF-817F-139F-90B1-20FC95BB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40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B2E5-7085-FB75-D49F-F337DF77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D0CC7-AF0E-1711-DB56-74A343DAC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7E1F3-91E0-7B84-0605-A920031DE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04610-A74D-DC1A-BA25-94B156EA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3477-02EC-84FF-5133-4C9D85B7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DB61-9795-C268-8DDE-B6C6739B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391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711-E1BD-6B80-C858-0A311024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84959-1478-670C-C72E-9C8B0460F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B284-709D-1F57-4302-A7529E77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DA95-CD40-59DB-4CFB-7C233183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B741-BA71-0A15-D65A-6E8BC96D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547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53C39-7EA2-3767-E74B-B5DEA81E4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AC98A-EAC6-73E0-715D-E8DB9B0D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9B47-A405-4629-6DC4-DB23D8A3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816A-9DF9-75D2-9412-D000F9B5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E42E3-AC87-BCB8-7238-01472917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938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EC87-6256-86F0-014E-BDF9F92A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6D71-80AA-6129-8460-409B3C6C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10D4-AD59-D4C1-A2FF-26767DAA3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0094E-B332-4D10-94A6-BABBC3B412D6}" type="datetimeFigureOut">
              <a:rPr lang="en-PK" smtClean="0"/>
              <a:t>11/11/2024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BEF30-1C2F-B788-8AB2-B46802B72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DCA6-2752-1710-7943-3D916DA7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309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even-children-hands-with-paints-photo-happiness-positive-smile-wallpaper-ofq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Sierpinski_triangle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C376-99DE-09E1-E01C-4FB0711BF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381C0-77CB-CA7A-41E6-36675421F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600" b="1" i="1" dirty="0">
                <a:latin typeface="+mj-lt"/>
              </a:rPr>
              <a:t>Recursion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2EA9-A91A-4C23-42CD-89F4058B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C9973-169D-A17E-C2A6-5AB2E66303E7}"/>
              </a:ext>
            </a:extLst>
          </p:cNvPr>
          <p:cNvSpPr txBox="1"/>
          <p:nvPr/>
        </p:nvSpPr>
        <p:spPr>
          <a:xfrm>
            <a:off x="1063690" y="1950098"/>
            <a:ext cx="2298514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is recursion</a:t>
            </a:r>
            <a:endParaRPr lang="en-PK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502A0-959F-6932-07B0-A1317A8F0B8F}"/>
              </a:ext>
            </a:extLst>
          </p:cNvPr>
          <p:cNvSpPr txBox="1"/>
          <p:nvPr/>
        </p:nvSpPr>
        <p:spPr>
          <a:xfrm>
            <a:off x="1063690" y="2466392"/>
            <a:ext cx="5266763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A. </a:t>
            </a:r>
            <a:r>
              <a:rPr lang="en-US" sz="2000" dirty="0"/>
              <a:t>When something is specified in terms of </a:t>
            </a:r>
            <a:r>
              <a:rPr lang="en-US" sz="2000" i="1" dirty="0"/>
              <a:t>itself</a:t>
            </a:r>
            <a:r>
              <a:rPr lang="en-US" sz="2000" dirty="0"/>
              <a:t>.</a:t>
            </a:r>
            <a:endParaRPr lang="en-PK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A4FCB-A43F-7AD1-7669-C19C894C74AF}"/>
              </a:ext>
            </a:extLst>
          </p:cNvPr>
          <p:cNvSpPr txBox="1"/>
          <p:nvPr/>
        </p:nvSpPr>
        <p:spPr>
          <a:xfrm>
            <a:off x="1063690" y="3121875"/>
            <a:ext cx="5140446" cy="163121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Why learn recursion?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Represents a new mode of thinking.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powerful programming paradigm.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Enables reasoning about correctness.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Gives insight into the nature of computation.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D1344-F137-51E6-6B6A-361C9C13378B}"/>
              </a:ext>
            </a:extLst>
          </p:cNvPr>
          <p:cNvSpPr txBox="1"/>
          <p:nvPr/>
        </p:nvSpPr>
        <p:spPr>
          <a:xfrm>
            <a:off x="1063690" y="5034638"/>
            <a:ext cx="6287555" cy="132343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Many computational artifacts are naturally self-referential.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File system with folders containing folders.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Fractal graphical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Divide-and-conquer algorithms (stay tuned).</a:t>
            </a:r>
            <a:endParaRPr lang="en-PK" sz="2000" dirty="0"/>
          </a:p>
        </p:txBody>
      </p:sp>
      <p:pic>
        <p:nvPicPr>
          <p:cNvPr id="9" name="Picture 8" descr="A close-up of hands painting&#10;&#10;Description automatically generated">
            <a:extLst>
              <a:ext uri="{FF2B5EF4-FFF2-40B4-BE49-F238E27FC236}">
                <a16:creationId xmlns:a16="http://schemas.microsoft.com/office/drawing/2014/main" id="{A4CB387A-06C9-F231-2CED-6DD65C964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29400" y="1390127"/>
            <a:ext cx="4724400" cy="2952750"/>
          </a:xfrm>
          <a:prstGeom prst="rect">
            <a:avLst/>
          </a:prstGeom>
        </p:spPr>
      </p:pic>
      <p:pic>
        <p:nvPicPr>
          <p:cNvPr id="11" name="Picture 10" descr="A blue triangle pattern on a black background&#10;&#10;Description automatically generated">
            <a:extLst>
              <a:ext uri="{FF2B5EF4-FFF2-40B4-BE49-F238E27FC236}">
                <a16:creationId xmlns:a16="http://schemas.microsoft.com/office/drawing/2014/main" id="{66DE0075-1FBD-A850-7FCF-93ED5DE25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609417" y="4412150"/>
            <a:ext cx="2402280" cy="208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6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9190-3328-DAB7-1365-534F634C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Convert an integer to binary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BE811-8B08-CBB7-8815-B13709FDB769}"/>
              </a:ext>
            </a:extLst>
          </p:cNvPr>
          <p:cNvSpPr txBox="1"/>
          <p:nvPr/>
        </p:nvSpPr>
        <p:spPr>
          <a:xfrm>
            <a:off x="838200" y="2185214"/>
            <a:ext cx="5105400" cy="193899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1"/>
                </a:solidFill>
              </a:rPr>
              <a:t>To compute a function of a positive integer 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Base case.</a:t>
            </a:r>
            <a:r>
              <a:rPr lang="en-US" sz="2000" dirty="0"/>
              <a:t> Return a value for small N 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Reduction step.</a:t>
            </a:r>
            <a:r>
              <a:rPr lang="en-US" sz="2000" dirty="0"/>
              <a:t> Assuming that it works for smaller values of its argument, use the function to compute a return value for N.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49F1E-7D80-1334-A7AC-0B9029DDCAA1}"/>
              </a:ext>
            </a:extLst>
          </p:cNvPr>
          <p:cNvSpPr txBox="1"/>
          <p:nvPr/>
        </p:nvSpPr>
        <p:spPr>
          <a:xfrm>
            <a:off x="6326155" y="1735031"/>
            <a:ext cx="5376793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string convert(int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convert(N/2) + </a:t>
            </a:r>
            <a:r>
              <a:rPr lang="en-US" dirty="0" err="1">
                <a:latin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</a:rPr>
              <a:t>(N%2);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convert(N);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B0035-CE58-5CD2-54CE-505A6CB1FDFD}"/>
              </a:ext>
            </a:extLst>
          </p:cNvPr>
          <p:cNvSpPr txBox="1"/>
          <p:nvPr/>
        </p:nvSpPr>
        <p:spPr>
          <a:xfrm>
            <a:off x="838200" y="1736878"/>
            <a:ext cx="2167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Recursive program</a:t>
            </a:r>
            <a:endParaRPr lang="en-PK" sz="2000" b="1" dirty="0"/>
          </a:p>
        </p:txBody>
      </p:sp>
    </p:spTree>
    <p:extLst>
      <p:ext uri="{BB962C8B-B14F-4D97-AF65-F5344CB8AC3E}">
        <p14:creationId xmlns:p14="http://schemas.microsoft.com/office/powerpoint/2010/main" val="353084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C2F6-3C92-AC07-E23B-F318402A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Proving a recursive program correct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10C72-C37D-D9CB-0CD7-18408FB20DEA}"/>
              </a:ext>
            </a:extLst>
          </p:cNvPr>
          <p:cNvSpPr txBox="1"/>
          <p:nvPr/>
        </p:nvSpPr>
        <p:spPr>
          <a:xfrm>
            <a:off x="502296" y="2082573"/>
            <a:ext cx="5257800" cy="1785104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To compute a function of 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Base case.</a:t>
            </a:r>
            <a:r>
              <a:rPr lang="en-US" sz="2000" dirty="0"/>
              <a:t> Return a value for small N 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Reduction step.</a:t>
            </a:r>
            <a:r>
              <a:rPr lang="en-US" sz="2000" dirty="0"/>
              <a:t> Assuming that it works for smaller values of its argument, use the function to compute a return value for N.</a:t>
            </a:r>
            <a:endParaRPr lang="en-PK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8AE9C-2E6B-4042-7D04-C1E3122671D4}"/>
              </a:ext>
            </a:extLst>
          </p:cNvPr>
          <p:cNvSpPr txBox="1"/>
          <p:nvPr/>
        </p:nvSpPr>
        <p:spPr>
          <a:xfrm>
            <a:off x="502296" y="1634237"/>
            <a:ext cx="1229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Recursion</a:t>
            </a:r>
            <a:endParaRPr lang="en-PK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77825-01A2-5025-FC79-44A65FA8539D}"/>
              </a:ext>
            </a:extLst>
          </p:cNvPr>
          <p:cNvSpPr txBox="1"/>
          <p:nvPr/>
        </p:nvSpPr>
        <p:spPr>
          <a:xfrm>
            <a:off x="6399246" y="2082573"/>
            <a:ext cx="4862803" cy="1785104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To prove a statement involving 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Base case. </a:t>
            </a:r>
            <a:r>
              <a:rPr lang="en-US" sz="2000" dirty="0"/>
              <a:t>Prove it for small N.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Induction step. </a:t>
            </a:r>
            <a:r>
              <a:rPr lang="en-US" sz="2000" dirty="0"/>
              <a:t>Assuming that the statement is true for all positive integers less than N, use that fact to prove it for N.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E1579-21FB-A0EF-A99B-0FF12AF8B222}"/>
              </a:ext>
            </a:extLst>
          </p:cNvPr>
          <p:cNvSpPr txBox="1"/>
          <p:nvPr/>
        </p:nvSpPr>
        <p:spPr>
          <a:xfrm>
            <a:off x="6399246" y="1646956"/>
            <a:ext cx="2735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Mathematical induction</a:t>
            </a:r>
            <a:endParaRPr lang="en-PK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E932A-9B8C-124B-3EEE-AA81D309B520}"/>
              </a:ext>
            </a:extLst>
          </p:cNvPr>
          <p:cNvSpPr txBox="1"/>
          <p:nvPr/>
        </p:nvSpPr>
        <p:spPr>
          <a:xfrm>
            <a:off x="502295" y="4287242"/>
            <a:ext cx="2167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Recursive program</a:t>
            </a:r>
            <a:endParaRPr lang="en-P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37A467-9B6E-7F5A-34B3-57F2E12D7759}"/>
              </a:ext>
            </a:extLst>
          </p:cNvPr>
          <p:cNvSpPr txBox="1"/>
          <p:nvPr/>
        </p:nvSpPr>
        <p:spPr>
          <a:xfrm>
            <a:off x="59869" y="4786208"/>
            <a:ext cx="5376793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string convert(int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convert(N/2) + </a:t>
            </a:r>
            <a:r>
              <a:rPr lang="en-US" dirty="0" err="1">
                <a:latin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</a:rPr>
              <a:t>(N%2);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1E9243-061B-0EC0-313A-79099BA5FABA}"/>
                  </a:ext>
                </a:extLst>
              </p:cNvPr>
              <p:cNvSpPr txBox="1"/>
              <p:nvPr/>
            </p:nvSpPr>
            <p:spPr>
              <a:xfrm>
                <a:off x="5529162" y="4597063"/>
                <a:ext cx="6602969" cy="206665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</a:rPr>
                  <a:t>convert() computes the binary representation of N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</a:rPr>
                  <a:t>• Base case. </a:t>
                </a:r>
                <a:r>
                  <a:rPr lang="en-US" sz="2000" dirty="0"/>
                  <a:t>Returns </a:t>
                </a:r>
                <a:r>
                  <a:rPr lang="en-US" sz="2000" dirty="0">
                    <a:latin typeface="Consolas" panose="020B0609020204030204" pitchFamily="49" charset="0"/>
                  </a:rPr>
                  <a:t>"1"</a:t>
                </a:r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</a:rPr>
                  <a:t>• Induction step. </a:t>
                </a:r>
                <a:r>
                  <a:rPr lang="en-US" sz="2000" dirty="0"/>
                  <a:t>Assume that </a:t>
                </a:r>
                <a:r>
                  <a:rPr lang="en-US" sz="2000" dirty="0">
                    <a:latin typeface="Consolas" panose="020B0609020204030204" pitchFamily="49" charset="0"/>
                  </a:rPr>
                  <a:t>convert()</a:t>
                </a:r>
                <a:r>
                  <a:rPr lang="en-US" sz="2000" dirty="0"/>
                  <a:t> works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/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000" dirty="0"/>
                  <a:t>Correct to append </a:t>
                </a:r>
                <a:r>
                  <a:rPr lang="en-US" sz="2000" dirty="0">
                    <a:latin typeface="Consolas" panose="020B0609020204030204" pitchFamily="49" charset="0"/>
                  </a:rPr>
                  <a:t>"0"</a:t>
                </a:r>
                <a:r>
                  <a:rPr lang="en-US" sz="2000" dirty="0"/>
                  <a:t> if N is even, since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=2(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/2)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000" dirty="0"/>
                  <a:t>Correct to append </a:t>
                </a:r>
                <a:r>
                  <a:rPr lang="en-US" sz="2000" dirty="0">
                    <a:latin typeface="Consolas" panose="020B0609020204030204" pitchFamily="49" charset="0"/>
                  </a:rPr>
                  <a:t>"1"</a:t>
                </a:r>
                <a:r>
                  <a:rPr lang="en-US" sz="2000" dirty="0"/>
                  <a:t> if N is odd since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=2(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/2)+1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1E9243-061B-0EC0-313A-79099BA5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162" y="4597063"/>
                <a:ext cx="6602969" cy="2066656"/>
              </a:xfrm>
              <a:prstGeom prst="rect">
                <a:avLst/>
              </a:prstGeom>
              <a:blipFill>
                <a:blip r:embed="rId2"/>
                <a:stretch>
                  <a:fillRect l="-1016" t="-1475" r="-462" b="-472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6AEDD3A-CCDD-3FAF-A3C6-B381A301A3F9}"/>
              </a:ext>
            </a:extLst>
          </p:cNvPr>
          <p:cNvSpPr txBox="1"/>
          <p:nvPr/>
        </p:nvSpPr>
        <p:spPr>
          <a:xfrm>
            <a:off x="5424189" y="4196953"/>
            <a:ext cx="3515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Correctness proof, by induction</a:t>
            </a:r>
            <a:endParaRPr lang="en-PK" sz="2000" b="1" dirty="0"/>
          </a:p>
        </p:txBody>
      </p:sp>
    </p:spTree>
    <p:extLst>
      <p:ext uri="{BB962C8B-B14F-4D97-AF65-F5344CB8AC3E}">
        <p14:creationId xmlns:p14="http://schemas.microsoft.com/office/powerpoint/2010/main" val="2283805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9DC7-DEB3-2E40-3BA3-8A3B6F48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Mechanics of a function call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6C4B4-31C3-F309-48E9-9D0048E4B365}"/>
              </a:ext>
            </a:extLst>
          </p:cNvPr>
          <p:cNvSpPr txBox="1"/>
          <p:nvPr/>
        </p:nvSpPr>
        <p:spPr>
          <a:xfrm>
            <a:off x="765110" y="1448092"/>
            <a:ext cx="6411687" cy="2323713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System actions when </a:t>
            </a:r>
            <a:r>
              <a:rPr lang="en-US" sz="2000" i="1" dirty="0">
                <a:solidFill>
                  <a:schemeClr val="accent1"/>
                </a:solidFill>
              </a:rPr>
              <a:t>any</a:t>
            </a:r>
            <a:r>
              <a:rPr lang="en-US" sz="2000" dirty="0">
                <a:solidFill>
                  <a:schemeClr val="accent1"/>
                </a:solidFill>
              </a:rPr>
              <a:t> function is called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i="1" dirty="0"/>
              <a:t>Save environment </a:t>
            </a:r>
            <a:r>
              <a:rPr lang="en-US" sz="2000" dirty="0"/>
              <a:t>(values of all variables and call location).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i="1" dirty="0"/>
              <a:t>Initialize</a:t>
            </a:r>
            <a:r>
              <a:rPr lang="en-US" sz="2000" dirty="0"/>
              <a:t> argument variables.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i="1" dirty="0"/>
              <a:t>Transfer control </a:t>
            </a:r>
            <a:r>
              <a:rPr lang="en-US" sz="2000" dirty="0"/>
              <a:t>to the function.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i="1" dirty="0"/>
              <a:t>Restore environment </a:t>
            </a:r>
            <a:r>
              <a:rPr lang="en-US" sz="2000" dirty="0"/>
              <a:t>(and assign return value)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i="1" dirty="0"/>
              <a:t>Transfer control </a:t>
            </a:r>
            <a:r>
              <a:rPr lang="en-US" sz="2000" dirty="0"/>
              <a:t>back to the calling code.</a:t>
            </a:r>
            <a:endParaRPr lang="en-PK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36AE6-A6A7-C8F8-D224-F18F7A3346DD}"/>
              </a:ext>
            </a:extLst>
          </p:cNvPr>
          <p:cNvSpPr txBox="1"/>
          <p:nvPr/>
        </p:nvSpPr>
        <p:spPr>
          <a:xfrm>
            <a:off x="765110" y="3893103"/>
            <a:ext cx="5376793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string convert(int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convert(N/2) + </a:t>
            </a:r>
            <a:r>
              <a:rPr lang="en-US" dirty="0" err="1">
                <a:latin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</a:rPr>
              <a:t>(N%2);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convert(N);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4979F-0D21-7B14-BF60-FA7E44219D2C}"/>
              </a:ext>
            </a:extLst>
          </p:cNvPr>
          <p:cNvSpPr txBox="1"/>
          <p:nvPr/>
        </p:nvSpPr>
        <p:spPr>
          <a:xfrm>
            <a:off x="7581978" y="1614660"/>
            <a:ext cx="3730504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convert(26)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"1101" + "0";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A8492-EEDE-D78A-8544-3CA623277F4A}"/>
              </a:ext>
            </a:extLst>
          </p:cNvPr>
          <p:cNvSpPr txBox="1"/>
          <p:nvPr/>
        </p:nvSpPr>
        <p:spPr>
          <a:xfrm>
            <a:off x="7581977" y="2537990"/>
            <a:ext cx="3730505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convert(13)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"110" + "1";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BAB990-5844-55BE-28EA-7B8ACFEA6BC8}"/>
              </a:ext>
            </a:extLst>
          </p:cNvPr>
          <p:cNvSpPr txBox="1"/>
          <p:nvPr/>
        </p:nvSpPr>
        <p:spPr>
          <a:xfrm>
            <a:off x="7581978" y="3470019"/>
            <a:ext cx="3730506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convert(6)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"11" + "0";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9C4F1-22FF-9716-C089-E0D06B5D0FB0}"/>
              </a:ext>
            </a:extLst>
          </p:cNvPr>
          <p:cNvSpPr txBox="1"/>
          <p:nvPr/>
        </p:nvSpPr>
        <p:spPr>
          <a:xfrm>
            <a:off x="7581977" y="4402048"/>
            <a:ext cx="3730507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convert(3)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"1" + "1";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30771-DA09-7402-106A-B5BB4F993DB5}"/>
              </a:ext>
            </a:extLst>
          </p:cNvPr>
          <p:cNvSpPr txBox="1"/>
          <p:nvPr/>
        </p:nvSpPr>
        <p:spPr>
          <a:xfrm>
            <a:off x="7581978" y="5321601"/>
            <a:ext cx="3730508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convert(1)</a:t>
            </a:r>
          </a:p>
          <a:p>
            <a:r>
              <a:rPr lang="en-US" dirty="0">
                <a:latin typeface="Consolas" panose="020B0609020204030204" pitchFamily="49" charset="0"/>
              </a:rPr>
              <a:t>    if(N==1) return "1";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return convert(0) + "0";</a:t>
            </a:r>
          </a:p>
        </p:txBody>
      </p:sp>
    </p:spTree>
    <p:extLst>
      <p:ext uri="{BB962C8B-B14F-4D97-AF65-F5344CB8AC3E}">
        <p14:creationId xmlns:p14="http://schemas.microsoft.com/office/powerpoint/2010/main" val="280166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CED0-65D2-6F5B-DF96-AE778F1C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Programming with recursion: typical bugs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71BDA-156A-2CE9-4996-984D8784DC39}"/>
              </a:ext>
            </a:extLst>
          </p:cNvPr>
          <p:cNvSpPr txBox="1"/>
          <p:nvPr/>
        </p:nvSpPr>
        <p:spPr>
          <a:xfrm>
            <a:off x="2914538" y="1823883"/>
            <a:ext cx="3719806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double bad(int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bad(N-1) + 1.0/N;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9A894-8C4C-43BE-E61A-85589EE520A9}"/>
              </a:ext>
            </a:extLst>
          </p:cNvPr>
          <p:cNvSpPr txBox="1"/>
          <p:nvPr/>
        </p:nvSpPr>
        <p:spPr>
          <a:xfrm>
            <a:off x="838200" y="1973173"/>
            <a:ext cx="207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Missing base case</a:t>
            </a:r>
            <a:endParaRPr lang="en-PK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61529-E21F-35BB-D39F-7BA0348F14DD}"/>
              </a:ext>
            </a:extLst>
          </p:cNvPr>
          <p:cNvSpPr txBox="1"/>
          <p:nvPr/>
        </p:nvSpPr>
        <p:spPr>
          <a:xfrm>
            <a:off x="6360646" y="3429000"/>
            <a:ext cx="4612151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double bad(int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if (N == 1) return 1.0;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bad(1 + N/2) + 1.0/N;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A45AC0-9071-C20B-E06F-F19BC2CC9DB7}"/>
              </a:ext>
            </a:extLst>
          </p:cNvPr>
          <p:cNvSpPr txBox="1"/>
          <p:nvPr/>
        </p:nvSpPr>
        <p:spPr>
          <a:xfrm>
            <a:off x="4284309" y="3578290"/>
            <a:ext cx="1888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No convergence</a:t>
            </a:r>
          </a:p>
          <a:p>
            <a:pPr algn="ctr"/>
            <a:r>
              <a:rPr lang="en-US" sz="2000" b="1" dirty="0"/>
              <a:t>guarantee</a:t>
            </a:r>
            <a:endParaRPr lang="en-PK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E1F2AF-CDBD-1315-F870-3C2E7BF1EE4B}"/>
              </a:ext>
            </a:extLst>
          </p:cNvPr>
          <p:cNvSpPr txBox="1"/>
          <p:nvPr/>
        </p:nvSpPr>
        <p:spPr>
          <a:xfrm>
            <a:off x="829237" y="5393498"/>
            <a:ext cx="5266763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Both lead to </a:t>
            </a:r>
            <a:r>
              <a:rPr lang="en-US" sz="2000" i="1" dirty="0"/>
              <a:t>infinite recursive loops </a:t>
            </a:r>
            <a:r>
              <a:rPr lang="en-US" sz="2000" dirty="0"/>
              <a:t>(bad news).</a:t>
            </a:r>
            <a:endParaRPr lang="en-PK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9F16DB-C8EE-D7F7-B6F2-181EF21CF9E7}"/>
                  </a:ext>
                </a:extLst>
              </p:cNvPr>
              <p:cNvSpPr txBox="1"/>
              <p:nvPr/>
            </p:nvSpPr>
            <p:spPr>
              <a:xfrm>
                <a:off x="7571283" y="4577946"/>
                <a:ext cx="10036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/>
                    </a:solidFill>
                  </a:rPr>
                  <a:t>try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PK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9F16DB-C8EE-D7F7-B6F2-181EF21C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283" y="4577946"/>
                <a:ext cx="1003608" cy="338554"/>
              </a:xfrm>
              <a:prstGeom prst="rect">
                <a:avLst/>
              </a:prstGeom>
              <a:blipFill>
                <a:blip r:embed="rId2"/>
                <a:stretch>
                  <a:fillRect l="-3030" t="-5357" b="-2142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close up of a bug&#10;&#10;Description automatically generated">
            <a:extLst>
              <a:ext uri="{FF2B5EF4-FFF2-40B4-BE49-F238E27FC236}">
                <a16:creationId xmlns:a16="http://schemas.microsoft.com/office/drawing/2014/main" id="{DD6A16A5-2C3F-E705-F921-1A5C8ECEA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462" y="2375388"/>
            <a:ext cx="1073017" cy="766441"/>
          </a:xfrm>
          <a:prstGeom prst="rect">
            <a:avLst/>
          </a:prstGeom>
        </p:spPr>
      </p:pic>
      <p:pic>
        <p:nvPicPr>
          <p:cNvPr id="13" name="Picture 12" descr="A close-up of a ladybug&#10;&#10;Description automatically generated">
            <a:extLst>
              <a:ext uri="{FF2B5EF4-FFF2-40B4-BE49-F238E27FC236}">
                <a16:creationId xmlns:a16="http://schemas.microsoft.com/office/drawing/2014/main" id="{10D5AE90-289A-5904-B82C-6EE415854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860" y="1973173"/>
            <a:ext cx="1073017" cy="794033"/>
          </a:xfrm>
          <a:prstGeom prst="rect">
            <a:avLst/>
          </a:prstGeom>
        </p:spPr>
      </p:pic>
      <p:pic>
        <p:nvPicPr>
          <p:cNvPr id="14" name="Picture 13" descr="A close-up of a red ant&#10;&#10;Description automatically generated">
            <a:extLst>
              <a:ext uri="{FF2B5EF4-FFF2-40B4-BE49-F238E27FC236}">
                <a16:creationId xmlns:a16="http://schemas.microsoft.com/office/drawing/2014/main" id="{D4FC9861-B4EF-2654-85CC-F846930A4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158" y="3535234"/>
            <a:ext cx="1123539" cy="674124"/>
          </a:xfrm>
          <a:prstGeom prst="rect">
            <a:avLst/>
          </a:prstGeom>
        </p:spPr>
      </p:pic>
      <p:pic>
        <p:nvPicPr>
          <p:cNvPr id="15" name="Picture 14" descr="A hand holding a white cord&#10;&#10;Description automatically generated">
            <a:extLst>
              <a:ext uri="{FF2B5EF4-FFF2-40B4-BE49-F238E27FC236}">
                <a16:creationId xmlns:a16="http://schemas.microsoft.com/office/drawing/2014/main" id="{B5A39E3C-8641-3E0C-069F-388FCF4ACD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593" y="5311116"/>
            <a:ext cx="164782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0EBF-E2A8-E50F-AB46-77C6355A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Collatz</a:t>
            </a:r>
            <a:r>
              <a:rPr lang="en-US" sz="3600" dirty="0"/>
              <a:t> Sequence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AE5E7-BB86-9B02-3EA5-3B171CA64278}"/>
              </a:ext>
            </a:extLst>
          </p:cNvPr>
          <p:cNvSpPr txBox="1"/>
          <p:nvPr/>
        </p:nvSpPr>
        <p:spPr>
          <a:xfrm>
            <a:off x="838200" y="1874728"/>
            <a:ext cx="4349620" cy="155427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/>
              <a:t>Collatz</a:t>
            </a:r>
            <a:r>
              <a:rPr lang="en-US" sz="2000" dirty="0"/>
              <a:t> function of N.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N is 1, stop.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N is even, divide by 2.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N is odd, multiply by 3 and add 1.</a:t>
            </a:r>
            <a:endParaRPr lang="en-PK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76714-6E39-AA12-10D2-95C3FD39A6E4}"/>
              </a:ext>
            </a:extLst>
          </p:cNvPr>
          <p:cNvSpPr txBox="1"/>
          <p:nvPr/>
        </p:nvSpPr>
        <p:spPr>
          <a:xfrm>
            <a:off x="5483287" y="2451809"/>
            <a:ext cx="6534541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PK" sz="2000" dirty="0">
                <a:latin typeface="Consolas" panose="020B0609020204030204" pitchFamily="49" charset="0"/>
              </a:rPr>
              <a:t>7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22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11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34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17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52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26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13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PK" sz="2000" dirty="0">
                <a:latin typeface="Consolas" panose="020B0609020204030204" pitchFamily="49" charset="0"/>
              </a:rPr>
              <a:t>4</a:t>
            </a:r>
            <a:r>
              <a:rPr lang="en-US" sz="2000" dirty="0">
                <a:latin typeface="Consolas" panose="020B0609020204030204" pitchFamily="49" charset="0"/>
              </a:rPr>
              <a:t>0 </a:t>
            </a:r>
            <a:r>
              <a:rPr lang="en-PK" sz="2000" dirty="0">
                <a:latin typeface="Consolas" panose="020B0609020204030204" pitchFamily="49" charset="0"/>
              </a:rPr>
              <a:t>20</a:t>
            </a:r>
            <a:r>
              <a:rPr lang="en-US" sz="2000" dirty="0">
                <a:latin typeface="Consolas" panose="020B0609020204030204" pitchFamily="49" charset="0"/>
              </a:rPr>
              <a:t> 10 5 16 8 4 2 1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5F0E5-D663-8501-0375-CD16B8A603A3}"/>
              </a:ext>
            </a:extLst>
          </p:cNvPr>
          <p:cNvSpPr txBox="1"/>
          <p:nvPr/>
        </p:nvSpPr>
        <p:spPr>
          <a:xfrm>
            <a:off x="838200" y="3613040"/>
            <a:ext cx="4191000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collatz</a:t>
            </a:r>
            <a:r>
              <a:rPr lang="en-US" dirty="0">
                <a:latin typeface="Consolas" panose="020B0609020204030204" pitchFamily="49" charset="0"/>
              </a:rPr>
              <a:t>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N &lt;&lt; " ";</a:t>
            </a:r>
          </a:p>
          <a:p>
            <a:r>
              <a:rPr lang="en-US" dirty="0">
                <a:latin typeface="Consolas" panose="020B0609020204030204" pitchFamily="49" charset="0"/>
              </a:rPr>
              <a:t>    if (N == 1) return;</a:t>
            </a:r>
          </a:p>
          <a:p>
            <a:r>
              <a:rPr lang="en-US" dirty="0">
                <a:latin typeface="Consolas" panose="020B0609020204030204" pitchFamily="49" charset="0"/>
              </a:rPr>
              <a:t>    if (N % 2 == 0)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collatz</a:t>
            </a:r>
            <a:r>
              <a:rPr lang="en-US" dirty="0">
                <a:latin typeface="Consolas" panose="020B0609020204030204" pitchFamily="49" charset="0"/>
              </a:rPr>
              <a:t>(N / 2);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collatz</a:t>
            </a:r>
            <a:r>
              <a:rPr lang="en-US" dirty="0">
                <a:latin typeface="Consolas" panose="020B0609020204030204" pitchFamily="49" charset="0"/>
              </a:rPr>
              <a:t>(3*N + 1);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67202-13B6-05BE-0068-706DFD9B31B1}"/>
              </a:ext>
            </a:extLst>
          </p:cNvPr>
          <p:cNvSpPr txBox="1"/>
          <p:nvPr/>
        </p:nvSpPr>
        <p:spPr>
          <a:xfrm>
            <a:off x="5483287" y="3964511"/>
            <a:ext cx="6296609" cy="70788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Amazing fact. No one knows whether or not this function terminates for all N (!)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C5523-18F9-D68E-14B6-727D0469284C}"/>
              </a:ext>
            </a:extLst>
          </p:cNvPr>
          <p:cNvSpPr txBox="1"/>
          <p:nvPr/>
        </p:nvSpPr>
        <p:spPr>
          <a:xfrm>
            <a:off x="838200" y="5784989"/>
            <a:ext cx="8651033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Note.</a:t>
            </a:r>
            <a:r>
              <a:rPr lang="en-US" sz="2000" dirty="0"/>
              <a:t> We usually ensure termination by only making recursive calls for smaller N.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77002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cartoon of a person sitting at a desk&#10;&#10;Description automatically generated">
            <a:extLst>
              <a:ext uri="{FF2B5EF4-FFF2-40B4-BE49-F238E27FC236}">
                <a16:creationId xmlns:a16="http://schemas.microsoft.com/office/drawing/2014/main" id="{C311DEFC-70B8-3119-1AD0-59F0140A8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547" y="692907"/>
            <a:ext cx="3620278" cy="52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12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7779-5700-4BAF-6B89-2179E841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Warmup: subdivisions of a ruler (revisited)</a:t>
            </a:r>
            <a:endParaRPr lang="en-PK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29E8E9-E781-F14B-1BC6-2E6265D137F2}"/>
                  </a:ext>
                </a:extLst>
              </p:cNvPr>
              <p:cNvSpPr txBox="1"/>
              <p:nvPr/>
            </p:nvSpPr>
            <p:spPr>
              <a:xfrm>
                <a:off x="641480" y="1879198"/>
                <a:ext cx="6906986" cy="1169551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dirty="0"/>
                  <a:t>ruler(n): create subdivisions of a ruler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inches.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Return one space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Otherwise, sandwich </a:t>
                </a:r>
                <a:r>
                  <a:rPr lang="en-US" sz="2000" dirty="0">
                    <a:latin typeface="Consolas" panose="020B0609020204030204" pitchFamily="49" charset="0"/>
                  </a:rPr>
                  <a:t>n</a:t>
                </a:r>
                <a:r>
                  <a:rPr lang="en-US" sz="2000" dirty="0"/>
                  <a:t> between two copies of </a:t>
                </a:r>
                <a:r>
                  <a:rPr lang="en-US" sz="2000" dirty="0">
                    <a:latin typeface="Consolas" panose="020B0609020204030204" pitchFamily="49" charset="0"/>
                  </a:rPr>
                  <a:t>ruler(n-1)</a:t>
                </a:r>
                <a:r>
                  <a:rPr lang="en-US" sz="2000" dirty="0"/>
                  <a:t>.</a:t>
                </a:r>
                <a:endParaRPr lang="en-PK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29E8E9-E781-F14B-1BC6-2E6265D1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80" y="1879198"/>
                <a:ext cx="6906986" cy="1169551"/>
              </a:xfrm>
              <a:prstGeom prst="rect">
                <a:avLst/>
              </a:prstGeom>
              <a:blipFill>
                <a:blip r:embed="rId2"/>
                <a:stretch>
                  <a:fillRect l="-883" t="-2604" b="-833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EBA7E0C-4B37-6062-EAF6-A3AEBAC443B2}"/>
              </a:ext>
            </a:extLst>
          </p:cNvPr>
          <p:cNvSpPr txBox="1"/>
          <p:nvPr/>
        </p:nvSpPr>
        <p:spPr>
          <a:xfrm>
            <a:off x="641480" y="3651552"/>
            <a:ext cx="6782815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string ruler(int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if (n == 0) return " 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ruler(n-1) + </a:t>
            </a:r>
            <a:r>
              <a:rPr lang="en-US" dirty="0" err="1">
                <a:latin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</a:rPr>
              <a:t>(n) + ruler(n-1);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ruler(N);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PK" dirty="0">
              <a:latin typeface="Consolas" panose="020B0609020204030204" pitchFamily="49" charset="0"/>
            </a:endParaRPr>
          </a:p>
        </p:txBody>
      </p:sp>
      <p:pic>
        <p:nvPicPr>
          <p:cNvPr id="6" name="Picture 5" descr="A ruler with numbers and numbers">
            <a:extLst>
              <a:ext uri="{FF2B5EF4-FFF2-40B4-BE49-F238E27FC236}">
                <a16:creationId xmlns:a16="http://schemas.microsoft.com/office/drawing/2014/main" id="{8ABE326C-0379-ED8C-8691-902E5A5A1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488" y="1879198"/>
            <a:ext cx="3598154" cy="11821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8E365E-3078-1B77-F8EC-9B762638ABA5}"/>
                  </a:ext>
                </a:extLst>
              </p:cNvPr>
              <p:cNvSpPr txBox="1"/>
              <p:nvPr/>
            </p:nvSpPr>
            <p:spPr>
              <a:xfrm>
                <a:off x="8244420" y="5652099"/>
                <a:ext cx="2156873" cy="310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sz="1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>
                    <a:solidFill>
                      <a:schemeClr val="accent1"/>
                    </a:solidFill>
                  </a:rPr>
                  <a:t> integers in output!</a:t>
                </a:r>
                <a:endParaRPr lang="en-PK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8E365E-3078-1B77-F8EC-9B762638A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420" y="5652099"/>
                <a:ext cx="2156873" cy="310150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FD04E19-9205-D019-472F-C4E724ED18D4}"/>
              </a:ext>
            </a:extLst>
          </p:cNvPr>
          <p:cNvSpPr txBox="1"/>
          <p:nvPr/>
        </p:nvSpPr>
        <p:spPr>
          <a:xfrm>
            <a:off x="7649234" y="3682329"/>
            <a:ext cx="4082408" cy="1969770"/>
          </a:xfrm>
          <a:prstGeom prst="rect">
            <a:avLst/>
          </a:prstGeom>
          <a:solidFill>
            <a:srgbClr val="DAE3F3">
              <a:alpha val="50196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a.exe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</a:t>
            </a:r>
          </a:p>
          <a:p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1 2 1 3 1 2 1 4 1 2 1 3 1 2 1 </a:t>
            </a:r>
          </a:p>
          <a:p>
            <a:endParaRPr lang="en-US" sz="16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onsolas" panose="020B0609020204030204" pitchFamily="49" charset="0"/>
              </a:rPr>
              <a:t>a.exe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50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terminate called after throwing an instance of 'std::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bad_alloc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317219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CC38-8014-4CA3-EE2B-605942C8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Tracing a recursive program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BF090-372D-95FB-30E5-EE7D8E64FBE7}"/>
              </a:ext>
            </a:extLst>
          </p:cNvPr>
          <p:cNvSpPr txBox="1"/>
          <p:nvPr/>
        </p:nvSpPr>
        <p:spPr>
          <a:xfrm>
            <a:off x="408214" y="1837405"/>
            <a:ext cx="6290389" cy="116955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Use a </a:t>
            </a:r>
            <a:r>
              <a:rPr lang="en-US" sz="2000" i="1" dirty="0">
                <a:solidFill>
                  <a:schemeClr val="accent1"/>
                </a:solidFill>
              </a:rPr>
              <a:t>recursive call tree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node for each recursive call.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Label node with return value after children are labeled.</a:t>
            </a:r>
            <a:endParaRPr lang="en-PK" sz="2000" dirty="0"/>
          </a:p>
        </p:txBody>
      </p:sp>
      <p:pic>
        <p:nvPicPr>
          <p:cNvPr id="6" name="Picture 5" descr="A diagram of a number&#10;&#10;Description automatically generated with medium confidence">
            <a:extLst>
              <a:ext uri="{FF2B5EF4-FFF2-40B4-BE49-F238E27FC236}">
                <a16:creationId xmlns:a16="http://schemas.microsoft.com/office/drawing/2014/main" id="{B48D8885-C79D-CB55-8A8A-9123C7F27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14" y="3006956"/>
            <a:ext cx="11375572" cy="309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5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1FAC29-6E30-5D26-BDF1-CF7FCDBD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classic example</a:t>
            </a: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AE1FB-7CCF-28B4-23AF-41416FD94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Tower of Hanoi puzzle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9795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014E-F053-DE25-3B8B-1AB848B1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Tower of Hanoi puzzle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6B0BC-E265-565E-E225-82267A153FB1}"/>
              </a:ext>
            </a:extLst>
          </p:cNvPr>
          <p:cNvSpPr txBox="1"/>
          <p:nvPr/>
        </p:nvSpPr>
        <p:spPr>
          <a:xfrm>
            <a:off x="641481" y="1577703"/>
            <a:ext cx="9621314" cy="155427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A legend of uncertain origin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 = 64 discs of differing size; 3 posts; discs on one of the posts from largest to smallest.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 ancient prophecy has commanded monks to move the discs to another post.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When the task is completed, </a:t>
            </a:r>
            <a:r>
              <a:rPr lang="en-US" sz="2000" i="1" dirty="0">
                <a:solidFill>
                  <a:schemeClr val="accent2">
                    <a:lumMod val="50000"/>
                  </a:schemeClr>
                </a:solidFill>
              </a:rPr>
              <a:t>the world will end</a:t>
            </a:r>
            <a:r>
              <a:rPr lang="en-US" sz="2000" dirty="0"/>
              <a:t>.</a:t>
            </a:r>
            <a:endParaRPr lang="en-PK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A0793-4AB5-72DF-7DE1-CDEBEDB3C455}"/>
              </a:ext>
            </a:extLst>
          </p:cNvPr>
          <p:cNvSpPr txBox="1"/>
          <p:nvPr/>
        </p:nvSpPr>
        <p:spPr>
          <a:xfrm>
            <a:off x="641480" y="4000358"/>
            <a:ext cx="4751614" cy="116955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Rules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Move discs one at a time.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Never put a larger disc on a smaller disc.</a:t>
            </a:r>
            <a:endParaRPr lang="en-PK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BAEF5-B249-E0FE-7A8C-C5901E1C4B2F}"/>
              </a:ext>
            </a:extLst>
          </p:cNvPr>
          <p:cNvSpPr txBox="1"/>
          <p:nvPr/>
        </p:nvSpPr>
        <p:spPr>
          <a:xfrm>
            <a:off x="641480" y="5428886"/>
            <a:ext cx="4751614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Generate list of instruction for monks ?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D347D-E09A-F16E-FFA0-8380BBC0F0FC}"/>
              </a:ext>
            </a:extLst>
          </p:cNvPr>
          <p:cNvSpPr txBox="1"/>
          <p:nvPr/>
        </p:nvSpPr>
        <p:spPr>
          <a:xfrm>
            <a:off x="641480" y="5978348"/>
            <a:ext cx="4751614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When might the world end ?</a:t>
            </a:r>
            <a:endParaRPr lang="en-PK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E194DB-4940-7F8D-B810-2DDE36778C83}"/>
              </a:ext>
            </a:extLst>
          </p:cNvPr>
          <p:cNvSpPr txBox="1"/>
          <p:nvPr/>
        </p:nvSpPr>
        <p:spPr>
          <a:xfrm>
            <a:off x="9017878" y="6433109"/>
            <a:ext cx="10726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n=10 disks</a:t>
            </a:r>
            <a:endParaRPr lang="en-PK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A133FB-1AF1-961C-1C2A-169557B28025}"/>
              </a:ext>
            </a:extLst>
          </p:cNvPr>
          <p:cNvSpPr txBox="1"/>
          <p:nvPr/>
        </p:nvSpPr>
        <p:spPr>
          <a:xfrm>
            <a:off x="7432774" y="4242372"/>
            <a:ext cx="743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/>
              <a:t>before</a:t>
            </a:r>
            <a:endParaRPr lang="en-PK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6925AD-CC58-BF4A-7BD2-E52BD81CE697}"/>
              </a:ext>
            </a:extLst>
          </p:cNvPr>
          <p:cNvSpPr txBox="1"/>
          <p:nvPr/>
        </p:nvSpPr>
        <p:spPr>
          <a:xfrm>
            <a:off x="7581789" y="5454948"/>
            <a:ext cx="594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/>
              <a:t>after</a:t>
            </a:r>
            <a:endParaRPr lang="en-PK" sz="1600" b="1" dirty="0"/>
          </a:p>
        </p:txBody>
      </p:sp>
      <p:pic>
        <p:nvPicPr>
          <p:cNvPr id="22" name="Picture 21" descr="A rainbow colored pyramid shaped toy&#10;&#10;Description automatically generated">
            <a:extLst>
              <a:ext uri="{FF2B5EF4-FFF2-40B4-BE49-F238E27FC236}">
                <a16:creationId xmlns:a16="http://schemas.microsoft.com/office/drawing/2014/main" id="{3BEC45EB-7E66-E087-64D3-C28B2E4FC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440" y="3398108"/>
            <a:ext cx="3130354" cy="1295714"/>
          </a:xfrm>
          <a:prstGeom prst="rect">
            <a:avLst/>
          </a:prstGeom>
        </p:spPr>
      </p:pic>
      <p:pic>
        <p:nvPicPr>
          <p:cNvPr id="24" name="Picture 23" descr="A black line with red dots&#10;&#10;Description automatically generated">
            <a:extLst>
              <a:ext uri="{FF2B5EF4-FFF2-40B4-BE49-F238E27FC236}">
                <a16:creationId xmlns:a16="http://schemas.microsoft.com/office/drawing/2014/main" id="{B6D53060-5B4B-3EBC-A5B5-98FF64D2A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440" y="5036877"/>
            <a:ext cx="3130354" cy="134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8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DC7F-C8C3-8FB1-B1A2-AAC08443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Tower of Hanoi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2A3D8-6251-932B-3475-DC0EDAFFA3B8}"/>
              </a:ext>
            </a:extLst>
          </p:cNvPr>
          <p:cNvSpPr txBox="1"/>
          <p:nvPr/>
        </p:nvSpPr>
        <p:spPr>
          <a:xfrm>
            <a:off x="641481" y="1577703"/>
            <a:ext cx="5454519" cy="116955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For simple instructions, use cyclic wraparound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• Move right means: A to B,  B to C,  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C to A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• Move left means: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 to  C</a:t>
            </a:r>
            <a:r>
              <a:rPr lang="en-US" sz="2000" dirty="0"/>
              <a:t>,  B to A,   B to A,  </a:t>
            </a:r>
          </a:p>
        </p:txBody>
      </p:sp>
      <p:pic>
        <p:nvPicPr>
          <p:cNvPr id="6" name="Picture 5" descr="A black rectangular object on a white background&#10;&#10;Description automatically generated">
            <a:extLst>
              <a:ext uri="{FF2B5EF4-FFF2-40B4-BE49-F238E27FC236}">
                <a16:creationId xmlns:a16="http://schemas.microsoft.com/office/drawing/2014/main" id="{30A86260-5534-0FB7-2772-922746F1F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612" y="2952708"/>
            <a:ext cx="4534293" cy="952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65E0D4-A176-BB5D-895A-323D9EC8028B}"/>
              </a:ext>
            </a:extLst>
          </p:cNvPr>
          <p:cNvSpPr txBox="1"/>
          <p:nvPr/>
        </p:nvSpPr>
        <p:spPr>
          <a:xfrm>
            <a:off x="2013874" y="3812180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</a:t>
            </a:r>
            <a:endParaRPr lang="en-PK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D74D4-D274-CE19-CB9A-2C5F2E2EFEFA}"/>
              </a:ext>
            </a:extLst>
          </p:cNvPr>
          <p:cNvSpPr txBox="1"/>
          <p:nvPr/>
        </p:nvSpPr>
        <p:spPr>
          <a:xfrm>
            <a:off x="3290405" y="3812180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B</a:t>
            </a:r>
            <a:endParaRPr lang="en-P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B1869-8998-D728-0B72-3C4945BF72BE}"/>
              </a:ext>
            </a:extLst>
          </p:cNvPr>
          <p:cNvSpPr txBox="1"/>
          <p:nvPr/>
        </p:nvSpPr>
        <p:spPr>
          <a:xfrm>
            <a:off x="4577694" y="381218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</a:t>
            </a:r>
            <a:endParaRPr lang="en-PK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9779D-FBCF-0FC1-C940-DB328276C5CF}"/>
              </a:ext>
            </a:extLst>
          </p:cNvPr>
          <p:cNvSpPr txBox="1"/>
          <p:nvPr/>
        </p:nvSpPr>
        <p:spPr>
          <a:xfrm>
            <a:off x="641481" y="4486986"/>
            <a:ext cx="4900903" cy="155427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A recursive solution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Move n − 1 discs to the left (recursively).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Move largest disc to the right.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Move n − 1 discs to the left (recursively).</a:t>
            </a:r>
          </a:p>
        </p:txBody>
      </p:sp>
      <p:pic>
        <p:nvPicPr>
          <p:cNvPr id="12" name="Picture 11" descr="A screenshot of a game&#10;&#10;Description automatically generated">
            <a:extLst>
              <a:ext uri="{FF2B5EF4-FFF2-40B4-BE49-F238E27FC236}">
                <a16:creationId xmlns:a16="http://schemas.microsoft.com/office/drawing/2014/main" id="{EDF9FB1B-504C-0FF1-B8BE-17C6540BB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596" y="341074"/>
            <a:ext cx="3892650" cy="624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03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5ECE8DB-642D-0013-0F9A-2685A32CA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69" y="734281"/>
            <a:ext cx="10813262" cy="59257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E21101-01DE-446F-8860-C735C9CE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Tower of Hanoi solution (n=3)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7279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5EF-451D-EC0A-845A-D0A8692B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Towers of Hanoi: recursive solution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35BEF-8E13-95BF-8BB2-0FBAAB32FBDB}"/>
              </a:ext>
            </a:extLst>
          </p:cNvPr>
          <p:cNvSpPr txBox="1"/>
          <p:nvPr/>
        </p:nvSpPr>
        <p:spPr>
          <a:xfrm>
            <a:off x="641480" y="1577703"/>
            <a:ext cx="6664389" cy="155427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>
                <a:latin typeface="Consolas" panose="020B0609020204030204" pitchFamily="49" charset="0"/>
              </a:rPr>
              <a:t>hanoi</a:t>
            </a:r>
            <a:r>
              <a:rPr lang="en-US" sz="2000" dirty="0">
                <a:latin typeface="Consolas" panose="020B0609020204030204" pitchFamily="49" charset="0"/>
              </a:rPr>
              <a:t>(n):</a:t>
            </a:r>
            <a:r>
              <a:rPr lang="en-US" sz="2000" dirty="0"/>
              <a:t> Print moves for </a:t>
            </a:r>
            <a:r>
              <a:rPr lang="en-US" sz="2000" dirty="0">
                <a:latin typeface="Consolas" panose="020B0609020204030204" pitchFamily="49" charset="0"/>
              </a:rPr>
              <a:t>n</a:t>
            </a:r>
            <a:r>
              <a:rPr lang="en-US" sz="2000" dirty="0"/>
              <a:t> discs.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Return one space for </a:t>
            </a:r>
            <a:r>
              <a:rPr lang="en-US" sz="2000" dirty="0">
                <a:latin typeface="Consolas" panose="020B0609020204030204" pitchFamily="49" charset="0"/>
              </a:rPr>
              <a:t>n=0</a:t>
            </a:r>
            <a:r>
              <a:rPr lang="en-US" sz="200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Otherwise, set move to the specified move for disc </a:t>
            </a:r>
            <a:r>
              <a:rPr lang="en-US" sz="2000" dirty="0">
                <a:latin typeface="Consolas" panose="020B0609020204030204" pitchFamily="49" charset="0"/>
              </a:rPr>
              <a:t>n</a:t>
            </a:r>
            <a:r>
              <a:rPr lang="en-US" sz="200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 sandwich move between two copies of </a:t>
            </a:r>
            <a:r>
              <a:rPr lang="en-US" sz="2000" dirty="0" err="1">
                <a:latin typeface="Consolas" panose="020B0609020204030204" pitchFamily="49" charset="0"/>
              </a:rPr>
              <a:t>hanoi</a:t>
            </a:r>
            <a:r>
              <a:rPr lang="en-US" sz="2000" dirty="0">
                <a:latin typeface="Consolas" panose="020B0609020204030204" pitchFamily="49" charset="0"/>
              </a:rPr>
              <a:t>(n-1)</a:t>
            </a:r>
            <a:r>
              <a:rPr lang="en-US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BA19C-138F-54F9-1B82-F8ACEEC79863}"/>
              </a:ext>
            </a:extLst>
          </p:cNvPr>
          <p:cNvSpPr txBox="1"/>
          <p:nvPr/>
        </p:nvSpPr>
        <p:spPr>
          <a:xfrm>
            <a:off x="4271088" y="3353554"/>
            <a:ext cx="7532136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</a:rPr>
              <a:t>hanoi</a:t>
            </a:r>
            <a:r>
              <a:rPr lang="en-US" dirty="0">
                <a:latin typeface="Consolas" panose="020B0609020204030204" pitchFamily="49" charset="0"/>
              </a:rPr>
              <a:t>(int N, bool left) {</a:t>
            </a:r>
          </a:p>
          <a:p>
            <a:r>
              <a:rPr lang="en-US" dirty="0">
                <a:latin typeface="Consolas" panose="020B0609020204030204" pitchFamily="49" charset="0"/>
              </a:rPr>
              <a:t>    if(N==0) return " ";</a:t>
            </a:r>
          </a:p>
          <a:p>
            <a:r>
              <a:rPr lang="en-US" dirty="0">
                <a:latin typeface="Consolas" panose="020B0609020204030204" pitchFamily="49" charset="0"/>
              </a:rPr>
              <a:t>    string </a:t>
            </a:r>
            <a:r>
              <a:rPr lang="en-US" dirty="0" err="1">
                <a:latin typeface="Consolas" panose="020B0609020204030204" pitchFamily="49" charset="0"/>
              </a:rPr>
              <a:t>inst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if(left)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inst</a:t>
            </a:r>
            <a:r>
              <a:rPr lang="en-US" dirty="0">
                <a:latin typeface="Consolas" panose="020B0609020204030204" pitchFamily="49" charset="0"/>
              </a:rPr>
              <a:t> =  </a:t>
            </a:r>
            <a:r>
              <a:rPr lang="en-US" dirty="0" err="1">
                <a:latin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</a:rPr>
              <a:t>(N) + “L";</a:t>
            </a:r>
          </a:p>
          <a:p>
            <a:r>
              <a:rPr lang="en-US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inst</a:t>
            </a:r>
            <a:r>
              <a:rPr lang="en-US" dirty="0">
                <a:latin typeface="Consolas" panose="020B0609020204030204" pitchFamily="49" charset="0"/>
              </a:rPr>
              <a:t> =  </a:t>
            </a:r>
            <a:r>
              <a:rPr lang="en-US" dirty="0" err="1">
                <a:latin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</a:rPr>
              <a:t>(N) + “R";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hanoi</a:t>
            </a:r>
            <a:r>
              <a:rPr lang="en-US" dirty="0">
                <a:latin typeface="Consolas" panose="020B0609020204030204" pitchFamily="49" charset="0"/>
              </a:rPr>
              <a:t>(N-1, !left) + </a:t>
            </a:r>
            <a:r>
              <a:rPr lang="en-US" dirty="0" err="1">
                <a:latin typeface="Consolas" panose="020B0609020204030204" pitchFamily="49" charset="0"/>
              </a:rPr>
              <a:t>inst</a:t>
            </a:r>
            <a:r>
              <a:rPr lang="en-US" dirty="0">
                <a:latin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</a:rPr>
              <a:t>hanoi</a:t>
            </a:r>
            <a:r>
              <a:rPr lang="en-US" dirty="0">
                <a:latin typeface="Consolas" panose="020B0609020204030204" pitchFamily="49" charset="0"/>
              </a:rPr>
              <a:t>(N-1, </a:t>
            </a:r>
            <a:r>
              <a:rPr lang="en-US">
                <a:latin typeface="Consolas" panose="020B0609020204030204" pitchFamily="49" charset="0"/>
              </a:rPr>
              <a:t>!left);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5194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FE88-73A0-2161-288E-0FD4083D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Recursive call tree for towers of Hanoi</a:t>
            </a:r>
            <a:endParaRPr lang="en-PK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D77F2-9D89-B7E4-82A5-9EFD86F9E60C}"/>
                  </a:ext>
                </a:extLst>
              </p:cNvPr>
              <p:cNvSpPr txBox="1"/>
              <p:nvPr/>
            </p:nvSpPr>
            <p:spPr>
              <a:xfrm>
                <a:off x="473529" y="1690688"/>
                <a:ext cx="10014080" cy="155427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</a:rPr>
                  <a:t>Structure is the same as for the ruler function and suggests 3 useful and easy-to-prove facts.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disc always moves in the same direction.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Moving smaller disc always alternates with a unique legal move.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Moving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discs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moves.</a:t>
                </a:r>
                <a:endParaRPr lang="en-PK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D77F2-9D89-B7E4-82A5-9EFD86F9E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9" y="1690688"/>
                <a:ext cx="10014080" cy="1554272"/>
              </a:xfrm>
              <a:prstGeom prst="rect">
                <a:avLst/>
              </a:prstGeom>
              <a:blipFill>
                <a:blip r:embed="rId2"/>
                <a:stretch>
                  <a:fillRect l="-670" t="-1961" b="-627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9698044B-7EFB-D001-06E1-747BB57B9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24" y="3296278"/>
            <a:ext cx="11597951" cy="319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17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B543-6862-5352-F024-391A5216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Answers for towers of Hanoi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A1E63-08AB-33DD-D4F1-FCD9E09947EC}"/>
              </a:ext>
            </a:extLst>
          </p:cNvPr>
          <p:cNvSpPr txBox="1"/>
          <p:nvPr/>
        </p:nvSpPr>
        <p:spPr>
          <a:xfrm>
            <a:off x="473529" y="1569385"/>
            <a:ext cx="5423418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Q.</a:t>
            </a:r>
            <a:r>
              <a:rPr lang="en-US" sz="2000" dirty="0"/>
              <a:t> Generate list of instructions for monks ?</a:t>
            </a:r>
            <a:endParaRPr lang="en-PK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825E0-28FD-E85A-4351-DAB96292DE41}"/>
              </a:ext>
            </a:extLst>
          </p:cNvPr>
          <p:cNvSpPr txBox="1"/>
          <p:nvPr/>
        </p:nvSpPr>
        <p:spPr>
          <a:xfrm>
            <a:off x="473529" y="2198915"/>
            <a:ext cx="10247344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accent1"/>
                </a:solidFill>
              </a:rPr>
              <a:t>A.</a:t>
            </a:r>
            <a:r>
              <a:rPr lang="pt-BR" sz="2000" dirty="0"/>
              <a:t> (Long form). </a:t>
            </a:r>
            <a:r>
              <a:rPr lang="pt-BR" sz="1600" dirty="0">
                <a:latin typeface="Consolas" panose="020B0609020204030204" pitchFamily="49" charset="0"/>
              </a:rPr>
              <a:t>1L 2R 1L 3L 1L 2R 1L 4R 1L 2R 1L 3L 1L 2R 1L 5L 1L 2R 1L 3L 1L 2R 1L 4R ...</a:t>
            </a:r>
            <a:endParaRPr lang="en-PK" sz="16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98C009-C48B-C648-B7C4-AFF1B095B195}"/>
                  </a:ext>
                </a:extLst>
              </p:cNvPr>
              <p:cNvSpPr txBox="1"/>
              <p:nvPr/>
            </p:nvSpPr>
            <p:spPr>
              <a:xfrm>
                <a:off x="473529" y="4511364"/>
                <a:ext cx="3865206" cy="40011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</a:rPr>
                  <a:t>A.</a:t>
                </a:r>
                <a:r>
                  <a:rPr lang="en-US" sz="2000" dirty="0"/>
                  <a:t> Not soon: need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moves.</a:t>
                </a:r>
                <a:endParaRPr lang="en-PK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98C009-C48B-C648-B7C4-AFF1B095B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9" y="4511364"/>
                <a:ext cx="3865206" cy="400110"/>
              </a:xfrm>
              <a:prstGeom prst="rect">
                <a:avLst/>
              </a:prstGeom>
              <a:blipFill>
                <a:blip r:embed="rId2"/>
                <a:stretch>
                  <a:fillRect l="-1735" t="-7576" b="-2575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12A8D4-22BF-F87D-2D2D-F39D8462DAD9}"/>
              </a:ext>
            </a:extLst>
          </p:cNvPr>
          <p:cNvSpPr txBox="1"/>
          <p:nvPr/>
        </p:nvSpPr>
        <p:spPr>
          <a:xfrm>
            <a:off x="473529" y="3812342"/>
            <a:ext cx="38652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Q.</a:t>
            </a:r>
            <a:r>
              <a:rPr lang="en-US" sz="2000" dirty="0"/>
              <a:t> When might the world end ?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68299-C1A3-5299-3A15-7D17CEF7417C}"/>
              </a:ext>
            </a:extLst>
          </p:cNvPr>
          <p:cNvSpPr txBox="1"/>
          <p:nvPr/>
        </p:nvSpPr>
        <p:spPr>
          <a:xfrm>
            <a:off x="473529" y="2828445"/>
            <a:ext cx="9025034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</a:rPr>
              <a:t>A.</a:t>
            </a:r>
            <a:r>
              <a:rPr lang="en-US" sz="2000" dirty="0"/>
              <a:t> (Short form). Alternate "</a:t>
            </a:r>
            <a:r>
              <a:rPr lang="en-US" sz="2000" dirty="0">
                <a:latin typeface="Consolas" panose="020B0609020204030204" pitchFamily="49" charset="0"/>
              </a:rPr>
              <a:t>1L</a:t>
            </a:r>
            <a:r>
              <a:rPr lang="en-US" sz="2000" dirty="0"/>
              <a:t>" with the only legal move not involving the disc 1.</a:t>
            </a:r>
            <a:endParaRPr lang="en-PK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EEB5D-1799-C8C6-0587-233B04D6F5D2}"/>
              </a:ext>
            </a:extLst>
          </p:cNvPr>
          <p:cNvSpPr txBox="1"/>
          <p:nvPr/>
        </p:nvSpPr>
        <p:spPr>
          <a:xfrm>
            <a:off x="3125755" y="4910648"/>
            <a:ext cx="4378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Note: Recursive solution has been proven optimal.</a:t>
            </a:r>
            <a:endParaRPr lang="en-PK" sz="1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87EA1-B953-A133-BD1A-E7E26C8D9F9A}"/>
              </a:ext>
            </a:extLst>
          </p:cNvPr>
          <p:cNvSpPr txBox="1"/>
          <p:nvPr/>
        </p:nvSpPr>
        <p:spPr>
          <a:xfrm>
            <a:off x="3804169" y="3307697"/>
            <a:ext cx="4136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"L" or "R" depends on whether n is odd or even</a:t>
            </a:r>
            <a:endParaRPr lang="en-PK" sz="1600" dirty="0">
              <a:solidFill>
                <a:schemeClr val="accent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6B1246-8C4F-6173-753F-6F4D98EAAE8B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3582955" y="3228555"/>
            <a:ext cx="221214" cy="24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F8E516-8538-95AD-BFF1-E8403102F85D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2879660" y="4910648"/>
            <a:ext cx="246095" cy="1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black line on a white background&#10;&#10;Description automatically generated">
            <a:extLst>
              <a:ext uri="{FF2B5EF4-FFF2-40B4-BE49-F238E27FC236}">
                <a16:creationId xmlns:a16="http://schemas.microsoft.com/office/drawing/2014/main" id="{EB9E6746-E839-CE11-A458-F6DF15E4D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928" y="5486871"/>
            <a:ext cx="3502892" cy="1104999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36FE9A7-C1E5-5433-87C0-0EF2340E5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968853"/>
              </p:ext>
            </p:extLst>
          </p:nvPr>
        </p:nvGraphicFramePr>
        <p:xfrm>
          <a:off x="5821136" y="3710336"/>
          <a:ext cx="4312038" cy="109728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2156019">
                  <a:extLst>
                    <a:ext uri="{9D8B030D-6E8A-4147-A177-3AD203B41FA5}">
                      <a16:colId xmlns:a16="http://schemas.microsoft.com/office/drawing/2014/main" val="39341589"/>
                    </a:ext>
                  </a:extLst>
                </a:gridCol>
                <a:gridCol w="2156019">
                  <a:extLst>
                    <a:ext uri="{9D8B030D-6E8A-4147-A177-3AD203B41FA5}">
                      <a16:colId xmlns:a16="http://schemas.microsoft.com/office/drawing/2014/main" val="3161090269"/>
                    </a:ext>
                  </a:extLst>
                </a:gridCol>
              </a:tblGrid>
              <a:tr h="2832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moves per second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 of world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72685"/>
                  </a:ext>
                </a:extLst>
              </a:tr>
              <a:tr h="2832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5.84 billion centuries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848253"/>
                  </a:ext>
                </a:extLst>
              </a:tr>
              <a:tr h="2832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billion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5.84 centuries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825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77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11160</TotalTime>
  <Words>1490</Words>
  <Application>Microsoft Office PowerPoint</Application>
  <PresentationFormat>Widescreen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Introduction to Programming</vt:lpstr>
      <vt:lpstr>Overview</vt:lpstr>
      <vt:lpstr>Example: Convert an integer to binary</vt:lpstr>
      <vt:lpstr>Proving a recursive program correct</vt:lpstr>
      <vt:lpstr>Mechanics of a function call</vt:lpstr>
      <vt:lpstr>Programming with recursion: typical bugs</vt:lpstr>
      <vt:lpstr>Collatz Sequence</vt:lpstr>
      <vt:lpstr>PowerPoint Presentation</vt:lpstr>
      <vt:lpstr>Warmup: subdivisions of a ruler (revisited)</vt:lpstr>
      <vt:lpstr>Tracing a recursive program</vt:lpstr>
      <vt:lpstr>A classic example</vt:lpstr>
      <vt:lpstr>Tower of Hanoi puzzle</vt:lpstr>
      <vt:lpstr>Tower of Hanoi</vt:lpstr>
      <vt:lpstr>Tower of Hanoi solution (n=3)</vt:lpstr>
      <vt:lpstr>Towers of Hanoi: recursive solution</vt:lpstr>
      <vt:lpstr>Recursive call tree for towers of Hanoi</vt:lpstr>
      <vt:lpstr>Answers for towers of Hanoi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Imran Rauf</dc:creator>
  <cp:lastModifiedBy>Maria Rahim Khowaja / Lecturer</cp:lastModifiedBy>
  <cp:revision>734</cp:revision>
  <dcterms:created xsi:type="dcterms:W3CDTF">2023-08-23T19:46:54Z</dcterms:created>
  <dcterms:modified xsi:type="dcterms:W3CDTF">2024-11-11T17:52:18Z</dcterms:modified>
</cp:coreProperties>
</file>