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16" r:id="rId1"/>
  </p:sldMasterIdLst>
  <p:notesMasterIdLst>
    <p:notesMasterId r:id="rId24"/>
  </p:notesMasterIdLst>
  <p:handoutMasterIdLst>
    <p:handoutMasterId r:id="rId25"/>
  </p:handoutMasterIdLst>
  <p:sldIdLst>
    <p:sldId id="256" r:id="rId2"/>
    <p:sldId id="304" r:id="rId3"/>
    <p:sldId id="317" r:id="rId4"/>
    <p:sldId id="316" r:id="rId5"/>
    <p:sldId id="306" r:id="rId6"/>
    <p:sldId id="312" r:id="rId7"/>
    <p:sldId id="305" r:id="rId8"/>
    <p:sldId id="307" r:id="rId9"/>
    <p:sldId id="281" r:id="rId10"/>
    <p:sldId id="308" r:id="rId11"/>
    <p:sldId id="309" r:id="rId12"/>
    <p:sldId id="278" r:id="rId13"/>
    <p:sldId id="315" r:id="rId14"/>
    <p:sldId id="318" r:id="rId15"/>
    <p:sldId id="258" r:id="rId16"/>
    <p:sldId id="310" r:id="rId17"/>
    <p:sldId id="259" r:id="rId18"/>
    <p:sldId id="260" r:id="rId19"/>
    <p:sldId id="261" r:id="rId20"/>
    <p:sldId id="262" r:id="rId21"/>
    <p:sldId id="263" r:id="rId22"/>
    <p:sldId id="311" r:id="rId23"/>
  </p:sldIdLst>
  <p:sldSz cx="12192000" cy="6858000"/>
  <p:notesSz cx="6858000" cy="9144000"/>
  <p:defaultTextStyle>
    <a:defPPr>
      <a:defRPr lang="en-US"/>
    </a:defPPr>
    <a:lvl1pPr marL="0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1pPr>
    <a:lvl2pPr marL="514026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2pPr>
    <a:lvl3pPr marL="1028053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3pPr>
    <a:lvl4pPr marL="1542079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4pPr>
    <a:lvl5pPr marL="2056105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5pPr>
    <a:lvl6pPr marL="2570132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6pPr>
    <a:lvl7pPr marL="3084158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7pPr>
    <a:lvl8pPr marL="3598184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8pPr>
    <a:lvl9pPr marL="4112210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rse Introduction" id="{E6EDAD25-BDE2-4CC6-8D09-8ED590FB1512}">
          <p14:sldIdLst>
            <p14:sldId id="256"/>
            <p14:sldId id="304"/>
            <p14:sldId id="317"/>
            <p14:sldId id="316"/>
            <p14:sldId id="306"/>
            <p14:sldId id="312"/>
            <p14:sldId id="305"/>
            <p14:sldId id="307"/>
            <p14:sldId id="281"/>
            <p14:sldId id="308"/>
            <p14:sldId id="309"/>
            <p14:sldId id="278"/>
            <p14:sldId id="315"/>
            <p14:sldId id="318"/>
            <p14:sldId id="258"/>
            <p14:sldId id="310"/>
            <p14:sldId id="259"/>
            <p14:sldId id="260"/>
            <p14:sldId id="261"/>
            <p14:sldId id="262"/>
            <p14:sldId id="263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9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48" d="100"/>
          <a:sy n="148" d="100"/>
        </p:scale>
        <p:origin x="1373" y="-34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3B2B34-629B-4729-B306-B1417EF526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AD740A-B125-48ED-9C3A-D274A7C1E7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EEBEA-C87F-407B-B193-90E50A29F43E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F6961-7808-4D1D-B260-7F026EF99E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i-FI"/>
              <a:t>Usman Ali (uali@iba.edu.pk)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F72E4-A5A1-4787-9E2B-2A4F346183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E3FF6-C984-48CF-A679-378BC71E1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051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27803-C5B7-4C54-8A80-3DE60D52E6D4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i-FI"/>
              <a:t>Usman Ali (uali@iba.edu.pk)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C0441-36C0-4045-BAA9-3F0B1BA999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935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i-FI"/>
              <a:t>Usman Ali (uali@iba.edu.pk)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C0441-36C0-4045-BAA9-3F0B1BA9991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041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3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158"/>
            </a:lvl1pPr>
            <a:lvl2pPr marL="411038" indent="0" algn="ctr">
              <a:buNone/>
              <a:defRPr sz="1798"/>
            </a:lvl2pPr>
            <a:lvl3pPr marL="822077" indent="0" algn="ctr">
              <a:buNone/>
              <a:defRPr sz="1618"/>
            </a:lvl3pPr>
            <a:lvl4pPr marL="1233115" indent="0" algn="ctr">
              <a:buNone/>
              <a:defRPr sz="1438"/>
            </a:lvl4pPr>
            <a:lvl5pPr marL="1644154" indent="0" algn="ctr">
              <a:buNone/>
              <a:defRPr sz="1438"/>
            </a:lvl5pPr>
            <a:lvl6pPr marL="2055192" indent="0" algn="ctr">
              <a:buNone/>
              <a:defRPr sz="1438"/>
            </a:lvl6pPr>
            <a:lvl7pPr marL="2466231" indent="0" algn="ctr">
              <a:buNone/>
              <a:defRPr sz="1438"/>
            </a:lvl7pPr>
            <a:lvl8pPr marL="2877269" indent="0" algn="ctr">
              <a:buNone/>
              <a:defRPr sz="1438"/>
            </a:lvl8pPr>
            <a:lvl9pPr marL="3288308" indent="0" algn="ctr">
              <a:buNone/>
              <a:defRPr sz="143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32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30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3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158">
                <a:solidFill>
                  <a:schemeClr val="tx1">
                    <a:tint val="75000"/>
                  </a:schemeClr>
                </a:solidFill>
              </a:defRPr>
            </a:lvl1pPr>
            <a:lvl2pPr marL="411038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2pPr>
            <a:lvl3pPr marL="822077" indent="0">
              <a:buNone/>
              <a:defRPr sz="1618">
                <a:solidFill>
                  <a:schemeClr val="tx1">
                    <a:tint val="75000"/>
                  </a:schemeClr>
                </a:solidFill>
              </a:defRPr>
            </a:lvl3pPr>
            <a:lvl4pPr marL="1233115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4pPr>
            <a:lvl5pPr marL="1644154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5pPr>
            <a:lvl6pPr marL="2055192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6pPr>
            <a:lvl7pPr marL="2466231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7pPr>
            <a:lvl8pPr marL="2877269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8pPr>
            <a:lvl9pPr marL="3288308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98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35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158" b="1"/>
            </a:lvl1pPr>
            <a:lvl2pPr marL="411038" indent="0">
              <a:buNone/>
              <a:defRPr sz="1798" b="1"/>
            </a:lvl2pPr>
            <a:lvl3pPr marL="822077" indent="0">
              <a:buNone/>
              <a:defRPr sz="1618" b="1"/>
            </a:lvl3pPr>
            <a:lvl4pPr marL="1233115" indent="0">
              <a:buNone/>
              <a:defRPr sz="1438" b="1"/>
            </a:lvl4pPr>
            <a:lvl5pPr marL="1644154" indent="0">
              <a:buNone/>
              <a:defRPr sz="1438" b="1"/>
            </a:lvl5pPr>
            <a:lvl6pPr marL="2055192" indent="0">
              <a:buNone/>
              <a:defRPr sz="1438" b="1"/>
            </a:lvl6pPr>
            <a:lvl7pPr marL="2466231" indent="0">
              <a:buNone/>
              <a:defRPr sz="1438" b="1"/>
            </a:lvl7pPr>
            <a:lvl8pPr marL="2877269" indent="0">
              <a:buNone/>
              <a:defRPr sz="1438" b="1"/>
            </a:lvl8pPr>
            <a:lvl9pPr marL="3288308" indent="0">
              <a:buNone/>
              <a:defRPr sz="143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158" b="1"/>
            </a:lvl1pPr>
            <a:lvl2pPr marL="411038" indent="0">
              <a:buNone/>
              <a:defRPr sz="1798" b="1"/>
            </a:lvl2pPr>
            <a:lvl3pPr marL="822077" indent="0">
              <a:buNone/>
              <a:defRPr sz="1618" b="1"/>
            </a:lvl3pPr>
            <a:lvl4pPr marL="1233115" indent="0">
              <a:buNone/>
              <a:defRPr sz="1438" b="1"/>
            </a:lvl4pPr>
            <a:lvl5pPr marL="1644154" indent="0">
              <a:buNone/>
              <a:defRPr sz="1438" b="1"/>
            </a:lvl5pPr>
            <a:lvl6pPr marL="2055192" indent="0">
              <a:buNone/>
              <a:defRPr sz="1438" b="1"/>
            </a:lvl6pPr>
            <a:lvl7pPr marL="2466231" indent="0">
              <a:buNone/>
              <a:defRPr sz="1438" b="1"/>
            </a:lvl7pPr>
            <a:lvl8pPr marL="2877269" indent="0">
              <a:buNone/>
              <a:defRPr sz="1438" b="1"/>
            </a:lvl8pPr>
            <a:lvl9pPr marL="3288308" indent="0">
              <a:buNone/>
              <a:defRPr sz="143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72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18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88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8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877"/>
            </a:lvl1pPr>
            <a:lvl2pPr>
              <a:defRPr sz="2517"/>
            </a:lvl2pPr>
            <a:lvl3pPr>
              <a:defRPr sz="2158"/>
            </a:lvl3pPr>
            <a:lvl4pPr>
              <a:defRPr sz="1798"/>
            </a:lvl4pPr>
            <a:lvl5pPr>
              <a:defRPr sz="1798"/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438"/>
            </a:lvl1pPr>
            <a:lvl2pPr marL="411038" indent="0">
              <a:buNone/>
              <a:defRPr sz="1259"/>
            </a:lvl2pPr>
            <a:lvl3pPr marL="822077" indent="0">
              <a:buNone/>
              <a:defRPr sz="1079"/>
            </a:lvl3pPr>
            <a:lvl4pPr marL="1233115" indent="0">
              <a:buNone/>
              <a:defRPr sz="899"/>
            </a:lvl4pPr>
            <a:lvl5pPr marL="1644154" indent="0">
              <a:buNone/>
              <a:defRPr sz="899"/>
            </a:lvl5pPr>
            <a:lvl6pPr marL="2055192" indent="0">
              <a:buNone/>
              <a:defRPr sz="899"/>
            </a:lvl6pPr>
            <a:lvl7pPr marL="2466231" indent="0">
              <a:buNone/>
              <a:defRPr sz="899"/>
            </a:lvl7pPr>
            <a:lvl8pPr marL="2877269" indent="0">
              <a:buNone/>
              <a:defRPr sz="899"/>
            </a:lvl8pPr>
            <a:lvl9pPr marL="3288308" indent="0">
              <a:buNone/>
              <a:defRPr sz="89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52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8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2877"/>
            </a:lvl1pPr>
            <a:lvl2pPr marL="411038" indent="0">
              <a:buNone/>
              <a:defRPr sz="2517"/>
            </a:lvl2pPr>
            <a:lvl3pPr marL="822077" indent="0">
              <a:buNone/>
              <a:defRPr sz="2158"/>
            </a:lvl3pPr>
            <a:lvl4pPr marL="1233115" indent="0">
              <a:buNone/>
              <a:defRPr sz="1798"/>
            </a:lvl4pPr>
            <a:lvl5pPr marL="1644154" indent="0">
              <a:buNone/>
              <a:defRPr sz="1798"/>
            </a:lvl5pPr>
            <a:lvl6pPr marL="2055192" indent="0">
              <a:buNone/>
              <a:defRPr sz="1798"/>
            </a:lvl6pPr>
            <a:lvl7pPr marL="2466231" indent="0">
              <a:buNone/>
              <a:defRPr sz="1798"/>
            </a:lvl7pPr>
            <a:lvl8pPr marL="2877269" indent="0">
              <a:buNone/>
              <a:defRPr sz="1798"/>
            </a:lvl8pPr>
            <a:lvl9pPr marL="3288308" indent="0">
              <a:buNone/>
              <a:defRPr sz="179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438"/>
            </a:lvl1pPr>
            <a:lvl2pPr marL="411038" indent="0">
              <a:buNone/>
              <a:defRPr sz="1259"/>
            </a:lvl2pPr>
            <a:lvl3pPr marL="822077" indent="0">
              <a:buNone/>
              <a:defRPr sz="1079"/>
            </a:lvl3pPr>
            <a:lvl4pPr marL="1233115" indent="0">
              <a:buNone/>
              <a:defRPr sz="899"/>
            </a:lvl4pPr>
            <a:lvl5pPr marL="1644154" indent="0">
              <a:buNone/>
              <a:defRPr sz="899"/>
            </a:lvl5pPr>
            <a:lvl6pPr marL="2055192" indent="0">
              <a:buNone/>
              <a:defRPr sz="899"/>
            </a:lvl6pPr>
            <a:lvl7pPr marL="2466231" indent="0">
              <a:buNone/>
              <a:defRPr sz="899"/>
            </a:lvl7pPr>
            <a:lvl8pPr marL="2877269" indent="0">
              <a:buNone/>
              <a:defRPr sz="899"/>
            </a:lvl8pPr>
            <a:lvl9pPr marL="3288308" indent="0">
              <a:buNone/>
              <a:defRPr sz="89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65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85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2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126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  <p:txStyles>
    <p:titleStyle>
      <a:lvl1pPr algn="l" defTabSz="822077" rtl="0" eaLnBrk="1" latinLnBrk="0" hangingPunct="1">
        <a:lnSpc>
          <a:spcPct val="90000"/>
        </a:lnSpc>
        <a:spcBef>
          <a:spcPct val="0"/>
        </a:spcBef>
        <a:buNone/>
        <a:defRPr sz="39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519" indent="-205519" algn="l" defTabSz="822077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2517" kern="1200">
          <a:solidFill>
            <a:schemeClr val="tx1"/>
          </a:solidFill>
          <a:latin typeface="+mn-lt"/>
          <a:ea typeface="+mn-ea"/>
          <a:cs typeface="+mn-cs"/>
        </a:defRPr>
      </a:lvl1pPr>
      <a:lvl2pPr marL="616558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2158" kern="1200">
          <a:solidFill>
            <a:schemeClr val="tx1"/>
          </a:solidFill>
          <a:latin typeface="+mn-lt"/>
          <a:ea typeface="+mn-ea"/>
          <a:cs typeface="+mn-cs"/>
        </a:defRPr>
      </a:lvl2pPr>
      <a:lvl3pPr marL="1027596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438635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4pPr>
      <a:lvl5pPr marL="1849673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5pPr>
      <a:lvl6pPr marL="2260712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6pPr>
      <a:lvl7pPr marL="2671750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7pPr>
      <a:lvl8pPr marL="3082788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8pPr>
      <a:lvl9pPr marL="3493827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1pPr>
      <a:lvl2pPr marL="411038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2pPr>
      <a:lvl3pPr marL="822077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3pPr>
      <a:lvl4pPr marL="1233115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4pPr>
      <a:lvl5pPr marL="1644154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5pPr>
      <a:lvl6pPr marL="2055192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6pPr>
      <a:lvl7pPr marL="2466231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7pPr>
      <a:lvl8pPr marL="2877269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8pPr>
      <a:lvl9pPr marL="3288308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264B2-65A5-46BB-B874-C4E0E3A52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626" y="3081167"/>
            <a:ext cx="10906538" cy="1209740"/>
          </a:xfrm>
        </p:spPr>
        <p:txBody>
          <a:bodyPr>
            <a:noAutofit/>
          </a:bodyPr>
          <a:lstStyle/>
          <a:p>
            <a:r>
              <a:rPr lang="en-GB" sz="5400" dirty="0"/>
              <a:t>Introduction to Programming </a:t>
            </a:r>
            <a:br>
              <a:rPr lang="en-GB" sz="5400" dirty="0"/>
            </a:br>
            <a:r>
              <a:rPr lang="en-GB" sz="5400" dirty="0"/>
              <a:t>(CSE-141)</a:t>
            </a:r>
            <a:br>
              <a:rPr lang="en-GB" sz="5400" dirty="0"/>
            </a:b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FF4DCD-1FDE-41A8-AEF2-CB148BA13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373" y="4128556"/>
            <a:ext cx="6831673" cy="774747"/>
          </a:xfrm>
        </p:spPr>
        <p:txBody>
          <a:bodyPr>
            <a:normAutofit/>
          </a:bodyPr>
          <a:lstStyle/>
          <a:p>
            <a:r>
              <a:rPr lang="en-GB" sz="3600" dirty="0"/>
              <a:t>Lecture 3</a:t>
            </a:r>
          </a:p>
        </p:txBody>
      </p:sp>
    </p:spTree>
    <p:extLst>
      <p:ext uri="{BB962C8B-B14F-4D97-AF65-F5344CB8AC3E}">
        <p14:creationId xmlns:p14="http://schemas.microsoft.com/office/powerpoint/2010/main" val="49650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DD3F75F5-4044-C8C0-9D95-0CD34B7A3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5" y="99217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bg1"/>
                </a:solidFill>
              </a:rPr>
              <a:t>Precedence Chart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C9ACBB90-6442-65E9-D68E-01A4877C9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6096000" cy="4525963"/>
          </a:xfrm>
          <a:solidFill>
            <a:srgbClr val="92D050"/>
          </a:solidFill>
        </p:spPr>
        <p:txBody>
          <a:bodyPr/>
          <a:lstStyle/>
          <a:p>
            <a:pPr eaLnBrk="1" hangingPunct="1"/>
            <a:r>
              <a:rPr lang="en-US" altLang="en-US" sz="2800"/>
              <a:t>++, --, !, - (unary minus), + (unary plus)</a:t>
            </a:r>
          </a:p>
          <a:p>
            <a:pPr eaLnBrk="1" hangingPunct="1"/>
            <a:r>
              <a:rPr lang="en-US" altLang="en-US" sz="2800"/>
              <a:t>*, /, %</a:t>
            </a:r>
          </a:p>
          <a:p>
            <a:pPr eaLnBrk="1" hangingPunct="1"/>
            <a:r>
              <a:rPr lang="en-US" altLang="en-US" sz="2800"/>
              <a:t>+ (addition), - (subtraction)</a:t>
            </a:r>
          </a:p>
          <a:p>
            <a:pPr eaLnBrk="1" hangingPunct="1"/>
            <a:r>
              <a:rPr lang="en-US" altLang="en-US" sz="2800"/>
              <a:t>&lt;&lt;, &gt;&gt;</a:t>
            </a:r>
          </a:p>
          <a:p>
            <a:pPr eaLnBrk="1" hangingPunct="1"/>
            <a:r>
              <a:rPr lang="en-US" altLang="en-US" sz="2800"/>
              <a:t>&lt;, &lt;=, &gt;, &gt;=</a:t>
            </a:r>
          </a:p>
          <a:p>
            <a:pPr eaLnBrk="1" hangingPunct="1"/>
            <a:r>
              <a:rPr lang="en-US" altLang="en-US" sz="2800"/>
              <a:t>==, !=</a:t>
            </a:r>
          </a:p>
          <a:p>
            <a:pPr eaLnBrk="1" hangingPunct="1"/>
            <a:r>
              <a:rPr lang="en-US" altLang="en-US" sz="2800"/>
              <a:t>&amp;&amp;</a:t>
            </a:r>
          </a:p>
          <a:p>
            <a:pPr eaLnBrk="1" hangingPunct="1"/>
            <a:r>
              <a:rPr lang="en-US" altLang="en-US" sz="2800"/>
              <a:t>||</a:t>
            </a:r>
          </a:p>
          <a:p>
            <a:pPr eaLnBrk="1" hangingPunct="1"/>
            <a:r>
              <a:rPr lang="en-US" altLang="en-US" sz="2800"/>
              <a:t>=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1BBB53-C38D-E299-4670-DC9E9C4E5B27}"/>
              </a:ext>
            </a:extLst>
          </p:cNvPr>
          <p:cNvCxnSpPr/>
          <p:nvPr/>
        </p:nvCxnSpPr>
        <p:spPr>
          <a:xfrm>
            <a:off x="9067800" y="1981200"/>
            <a:ext cx="0" cy="3733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5061" name="TextBox 5">
            <a:extLst>
              <a:ext uri="{FF2B5EF4-FFF2-40B4-BE49-F238E27FC236}">
                <a16:creationId xmlns:a16="http://schemas.microsoft.com/office/drawing/2014/main" id="{000A2C97-87DE-CD92-F10E-11DF5D67E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1611314"/>
            <a:ext cx="966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Highest</a:t>
            </a:r>
          </a:p>
        </p:txBody>
      </p:sp>
      <p:sp>
        <p:nvSpPr>
          <p:cNvPr id="45062" name="TextBox 9">
            <a:extLst>
              <a:ext uri="{FF2B5EF4-FFF2-40B4-BE49-F238E27FC236}">
                <a16:creationId xmlns:a16="http://schemas.microsoft.com/office/drawing/2014/main" id="{B8C095F5-775F-68EE-5557-EFB0BD9A4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5726114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Lowest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07840-CBE8-4A29-CD7A-7FD4278BE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87" y="2445853"/>
            <a:ext cx="10515600" cy="1325563"/>
          </a:xfrm>
        </p:spPr>
        <p:txBody>
          <a:bodyPr/>
          <a:lstStyle/>
          <a:p>
            <a:r>
              <a:rPr lang="en-US" dirty="0"/>
              <a:t>Codes for unary, bitwise operator and </a:t>
            </a:r>
            <a:br>
              <a:rPr lang="en-US" dirty="0"/>
            </a:br>
            <a:r>
              <a:rPr lang="en-US" dirty="0"/>
              <a:t>1 &amp; 2 Complement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12611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F517F-CAC3-F643-53B7-1AD8A265F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184"/>
            <a:ext cx="9164216" cy="85718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Short Increment</a:t>
            </a:r>
            <a:endParaRPr lang="en-PK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0AB62-F4D7-42EE-CBB1-2E5AA40A0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23527"/>
            <a:ext cx="10685107" cy="486124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count = 5;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// Output the initial value</a:t>
            </a:r>
          </a:p>
          <a:p>
            <a:pPr marL="0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"Initial count: " &lt;&lt; count &lt;&lt; std::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// Increment the count by 3</a:t>
            </a:r>
          </a:p>
          <a:p>
            <a:pPr marL="0" indent="0">
              <a:buNone/>
            </a:pPr>
            <a:r>
              <a:rPr lang="en-US" dirty="0"/>
              <a:t>    count += 3;  // Equivalent to count = count + 3;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// Output the updated value</a:t>
            </a:r>
          </a:p>
          <a:p>
            <a:pPr marL="0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"Updated count: " &lt;&lt; count &lt;&lt; std::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4815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171F-65C9-893B-F6A1-DB7852530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596" y="9453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Casting</a:t>
            </a:r>
            <a:endParaRPr lang="en-PK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49E72-EA88-9ED3-86EC-AFD9A1772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Type casting in programming refers to the conversion of a variable from one data type to another. This is common in languages like C++, where you may need to treat a variable of one type as another type to perform certain operations.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54784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CCD04-5D8D-83C7-D667-E7D16AC20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86" y="8474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Type checking</a:t>
            </a:r>
            <a:endParaRPr lang="en-PK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0CBA6-2482-36C6-F47A-6B6A08069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9601"/>
            <a:ext cx="10515600" cy="7386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Types of variables involved in data-type operations always must match the definitions </a:t>
            </a:r>
          </a:p>
          <a:p>
            <a:pPr marL="0" indent="0">
              <a:buNone/>
            </a:pPr>
            <a:r>
              <a:rPr lang="en-US" sz="2200" dirty="0"/>
              <a:t>The C++ compiler is your friend: it checks for type errors in your code</a:t>
            </a:r>
            <a:endParaRPr lang="en-PK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2E7709-F218-2259-6F69-F1A52F9BD2C5}"/>
              </a:ext>
            </a:extLst>
          </p:cNvPr>
          <p:cNvSpPr txBox="1"/>
          <p:nvPr/>
        </p:nvSpPr>
        <p:spPr>
          <a:xfrm>
            <a:off x="838200" y="5421086"/>
            <a:ext cx="10666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When appropriate, we often </a:t>
            </a:r>
            <a:r>
              <a:rPr lang="en-US" sz="2200" dirty="0">
                <a:solidFill>
                  <a:schemeClr val="accent1"/>
                </a:solidFill>
              </a:rPr>
              <a:t>convert</a:t>
            </a:r>
            <a:r>
              <a:rPr lang="en-US" sz="2200" dirty="0"/>
              <a:t> a value from one type to another to make types match</a:t>
            </a:r>
          </a:p>
          <a:p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3EDC4D-E8B9-81B1-1398-3C309F1B485B}"/>
              </a:ext>
            </a:extLst>
          </p:cNvPr>
          <p:cNvSpPr txBox="1"/>
          <p:nvPr/>
        </p:nvSpPr>
        <p:spPr>
          <a:xfrm>
            <a:off x="1058830" y="2968399"/>
            <a:ext cx="2598770" cy="102682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nsolas" panose="020B0609020204030204" pitchFamily="49" charset="0"/>
              </a:rPr>
              <a:t>int</a:t>
            </a:r>
            <a:r>
              <a:rPr lang="fr-FR" dirty="0">
                <a:latin typeface="Consolas" panose="020B0609020204030204" pitchFamily="49" charset="0"/>
              </a:rPr>
              <a:t> main() {</a:t>
            </a:r>
          </a:p>
          <a:p>
            <a:r>
              <a:rPr lang="fr-FR" dirty="0">
                <a:latin typeface="Consolas" panose="020B0609020204030204" pitchFamily="49" charset="0"/>
              </a:rPr>
              <a:t>    </a:t>
            </a:r>
            <a:r>
              <a:rPr lang="fr-FR" dirty="0" err="1">
                <a:latin typeface="Consolas" panose="020B0609020204030204" pitchFamily="49" charset="0"/>
              </a:rPr>
              <a:t>int</a:t>
            </a:r>
            <a:r>
              <a:rPr lang="fr-FR" dirty="0">
                <a:latin typeface="Consolas" panose="020B0609020204030204" pitchFamily="49" charset="0"/>
              </a:rPr>
              <a:t> x = 3.5;</a:t>
            </a:r>
          </a:p>
          <a:p>
            <a:r>
              <a:rPr lang="fr-FR" dirty="0">
                <a:latin typeface="Consolas" panose="020B0609020204030204" pitchFamily="49" charset="0"/>
              </a:rPr>
              <a:t>}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85771E-DCBE-111C-A44F-EA7B893B8292}"/>
              </a:ext>
            </a:extLst>
          </p:cNvPr>
          <p:cNvSpPr txBox="1"/>
          <p:nvPr/>
        </p:nvSpPr>
        <p:spPr>
          <a:xfrm>
            <a:off x="1343025" y="3983783"/>
            <a:ext cx="10239375" cy="1649811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g++ main.cpp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main.cpp:2:12: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error: </a:t>
            </a:r>
            <a:r>
              <a:rPr lang="en-US" dirty="0">
                <a:latin typeface="Consolas" panose="020B0609020204030204" pitchFamily="49" charset="0"/>
              </a:rPr>
              <a:t>narrowing conversion of '3.5e+0' from 'double' to 'int’</a:t>
            </a:r>
          </a:p>
          <a:p>
            <a:r>
              <a:rPr lang="en-US" dirty="0">
                <a:latin typeface="Consolas" panose="020B0609020204030204" pitchFamily="49" charset="0"/>
              </a:rPr>
              <a:t>     2 |     int x =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3.5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       |            ^~~</a:t>
            </a:r>
            <a:endParaRPr lang="en-PK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182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171F-65C9-893B-F6A1-DB7852530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596" y="9453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Casting</a:t>
            </a:r>
            <a:endParaRPr lang="en-PK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49E72-EA88-9ED3-86EC-AFD9A1772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two main types of type casting:</a:t>
            </a:r>
          </a:p>
          <a:p>
            <a:pPr marL="0" indent="0">
              <a:buNone/>
            </a:pPr>
            <a:r>
              <a:rPr lang="en-US" dirty="0"/>
              <a:t>Implicit Type Casting (Automatic Type Conversion):</a:t>
            </a:r>
          </a:p>
          <a:p>
            <a:r>
              <a:rPr lang="en-US" dirty="0"/>
              <a:t>This is done automatically by the compiler when it is safe to do so.</a:t>
            </a:r>
          </a:p>
          <a:p>
            <a:r>
              <a:rPr lang="en-US" dirty="0"/>
              <a:t>For example, converting an int to a float automatically since a float can hold larger numbers and decimal points.</a:t>
            </a:r>
          </a:p>
          <a:p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31B63-332A-E4DF-E1BB-EC84D65C3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153" y="4348974"/>
            <a:ext cx="4816257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16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171F-65C9-893B-F6A1-DB7852530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596" y="9453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Casting</a:t>
            </a:r>
            <a:endParaRPr lang="en-PK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49E72-EA88-9ED3-86EC-AFD9A1772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Explicit Type Casting (Manual Type Conversion):</a:t>
            </a:r>
          </a:p>
          <a:p>
            <a:r>
              <a:rPr lang="en-US" dirty="0"/>
              <a:t>This is done manually by the programmer using a cast operator.</a:t>
            </a:r>
          </a:p>
          <a:p>
            <a:r>
              <a:rPr lang="en-US" dirty="0"/>
              <a:t>You use explicit casting when you want to force a conversion that might otherwise not happen automatically, or to avoid data loss.</a:t>
            </a:r>
          </a:p>
          <a:p>
            <a:endParaRPr lang="en-US" dirty="0"/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85158E-FE6E-B883-C204-F5E5507DA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605" y="3669796"/>
            <a:ext cx="4747671" cy="6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8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7334B-9046-777C-F6B5-C6F5972AB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119" y="94374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Type conversion with built-in types</a:t>
            </a:r>
            <a:endParaRPr lang="en-PK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855779-5107-27DF-8152-E0BDF2A92D87}"/>
              </a:ext>
            </a:extLst>
          </p:cNvPr>
          <p:cNvSpPr txBox="1"/>
          <p:nvPr/>
        </p:nvSpPr>
        <p:spPr>
          <a:xfrm>
            <a:off x="838200" y="1597384"/>
            <a:ext cx="7143751" cy="46166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Type conversion is an essential aspect of programming.</a:t>
            </a:r>
            <a:endParaRPr lang="en-PK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5C85E-38FF-00E2-707E-2441B9C32B13}"/>
              </a:ext>
            </a:extLst>
          </p:cNvPr>
          <p:cNvSpPr txBox="1"/>
          <p:nvPr/>
        </p:nvSpPr>
        <p:spPr>
          <a:xfrm>
            <a:off x="838200" y="2235559"/>
            <a:ext cx="7000876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Automatic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Convert char to integer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Make numeric types match, try not to lose precision</a:t>
            </a:r>
            <a:endParaRPr lang="en-PK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EA0365-379F-3C69-79B0-7636714BAEEF}"/>
              </a:ext>
            </a:extLst>
          </p:cNvPr>
          <p:cNvSpPr txBox="1"/>
          <p:nvPr/>
        </p:nvSpPr>
        <p:spPr>
          <a:xfrm>
            <a:off x="838200" y="3626686"/>
            <a:ext cx="5438775" cy="46166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Explicitly defined</a:t>
            </a:r>
            <a:r>
              <a:rPr lang="en-US" sz="2400" dirty="0"/>
              <a:t> for function call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98CB51-1437-4EC3-0F2E-3A6BAC960F65}"/>
              </a:ext>
            </a:extLst>
          </p:cNvPr>
          <p:cNvSpPr txBox="1"/>
          <p:nvPr/>
        </p:nvSpPr>
        <p:spPr>
          <a:xfrm>
            <a:off x="838200" y="4350109"/>
            <a:ext cx="6534150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Cast </a:t>
            </a:r>
            <a:r>
              <a:rPr lang="en-US" sz="2400" dirty="0"/>
              <a:t>for values that belong to multiple types.</a:t>
            </a:r>
          </a:p>
          <a:p>
            <a:r>
              <a:rPr lang="en-US" sz="2400" dirty="0"/>
              <a:t>• Ex: small integers can be short, int or long.</a:t>
            </a:r>
          </a:p>
          <a:p>
            <a:r>
              <a:rPr lang="en-US" sz="2400" dirty="0"/>
              <a:t>• Ex: double values can be truncated to int values.</a:t>
            </a:r>
            <a:endParaRPr lang="en-PK" sz="2400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B247D242-DB15-36A4-40A4-01AC8FCD6741}"/>
              </a:ext>
            </a:extLst>
          </p:cNvPr>
          <p:cNvGraphicFramePr>
            <a:graphicFrameLocks noGrp="1"/>
          </p:cNvGraphicFramePr>
          <p:nvPr/>
        </p:nvGraphicFramePr>
        <p:xfrm>
          <a:off x="8162925" y="2246149"/>
          <a:ext cx="372427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508">
                  <a:extLst>
                    <a:ext uri="{9D8B030D-6E8A-4147-A177-3AD203B41FA5}">
                      <a16:colId xmlns:a16="http://schemas.microsoft.com/office/drawing/2014/main" val="1493070760"/>
                    </a:ext>
                  </a:extLst>
                </a:gridCol>
                <a:gridCol w="1017036">
                  <a:extLst>
                    <a:ext uri="{9D8B030D-6E8A-4147-A177-3AD203B41FA5}">
                      <a16:colId xmlns:a16="http://schemas.microsoft.com/office/drawing/2014/main" val="1400602816"/>
                    </a:ext>
                  </a:extLst>
                </a:gridCol>
                <a:gridCol w="923734">
                  <a:extLst>
                    <a:ext uri="{9D8B030D-6E8A-4147-A177-3AD203B41FA5}">
                      <a16:colId xmlns:a16="http://schemas.microsoft.com/office/drawing/2014/main" val="4003084707"/>
                    </a:ext>
                  </a:extLst>
                </a:gridCol>
              </a:tblGrid>
              <a:tr h="33460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expression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type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value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545988"/>
                  </a:ext>
                </a:extLst>
              </a:tr>
              <a:tr h="33460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'A'+1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int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66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161354"/>
                  </a:ext>
                </a:extLst>
              </a:tr>
              <a:tr h="33460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11 * 0.25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double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2.75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88751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C78537A-2B2F-6F83-026A-AD7AB387E5DB}"/>
              </a:ext>
            </a:extLst>
          </p:cNvPr>
          <p:cNvGraphicFramePr>
            <a:graphicFrameLocks noGrp="1"/>
          </p:cNvGraphicFramePr>
          <p:nvPr/>
        </p:nvGraphicFramePr>
        <p:xfrm>
          <a:off x="7445829" y="3592870"/>
          <a:ext cx="4637313" cy="670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24123">
                  <a:extLst>
                    <a:ext uri="{9D8B030D-6E8A-4147-A177-3AD203B41FA5}">
                      <a16:colId xmlns:a16="http://schemas.microsoft.com/office/drawing/2014/main" val="1493070760"/>
                    </a:ext>
                  </a:extLst>
                </a:gridCol>
                <a:gridCol w="1466742">
                  <a:extLst>
                    <a:ext uri="{9D8B030D-6E8A-4147-A177-3AD203B41FA5}">
                      <a16:colId xmlns:a16="http://schemas.microsoft.com/office/drawing/2014/main" val="1400602816"/>
                    </a:ext>
                  </a:extLst>
                </a:gridCol>
                <a:gridCol w="746448">
                  <a:extLst>
                    <a:ext uri="{9D8B030D-6E8A-4147-A177-3AD203B41FA5}">
                      <a16:colId xmlns:a16="http://schemas.microsoft.com/office/drawing/2014/main" val="4003084707"/>
                    </a:ext>
                  </a:extLst>
                </a:gridCol>
              </a:tblGrid>
              <a:tr h="33460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lround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(2.71828)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long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3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161354"/>
                  </a:ext>
                </a:extLst>
              </a:tr>
              <a:tr h="33460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std::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to_string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(123)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std::string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"123"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88751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D42CA73-29DD-7728-5D52-83E9FA723436}"/>
              </a:ext>
            </a:extLst>
          </p:cNvPr>
          <p:cNvGraphicFramePr>
            <a:graphicFrameLocks noGrp="1"/>
          </p:cNvGraphicFramePr>
          <p:nvPr/>
        </p:nvGraphicFramePr>
        <p:xfrm>
          <a:off x="7445829" y="4622349"/>
          <a:ext cx="4447588" cy="1005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24538">
                  <a:extLst>
                    <a:ext uri="{9D8B030D-6E8A-4147-A177-3AD203B41FA5}">
                      <a16:colId xmlns:a16="http://schemas.microsoft.com/office/drawing/2014/main" val="1493070760"/>
                    </a:ext>
                  </a:extLst>
                </a:gridCol>
                <a:gridCol w="877078">
                  <a:extLst>
                    <a:ext uri="{9D8B030D-6E8A-4147-A177-3AD203B41FA5}">
                      <a16:colId xmlns:a16="http://schemas.microsoft.com/office/drawing/2014/main" val="1400602816"/>
                    </a:ext>
                  </a:extLst>
                </a:gridCol>
                <a:gridCol w="845972">
                  <a:extLst>
                    <a:ext uri="{9D8B030D-6E8A-4147-A177-3AD203B41FA5}">
                      <a16:colId xmlns:a16="http://schemas.microsoft.com/office/drawing/2014/main" val="4003084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(int) 2.71828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int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2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742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(int) 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lround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(2.71828)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int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3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161354"/>
                  </a:ext>
                </a:extLst>
              </a:tr>
              <a:tr h="33460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11 * (int) 0.25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int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0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88751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B5EB844-29C1-1716-3AF5-662B33AB3972}"/>
              </a:ext>
            </a:extLst>
          </p:cNvPr>
          <p:cNvSpPr txBox="1"/>
          <p:nvPr/>
        </p:nvSpPr>
        <p:spPr>
          <a:xfrm>
            <a:off x="1864568" y="5877299"/>
            <a:ext cx="3957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Pay attention to the type of your data</a:t>
            </a:r>
            <a:endParaRPr lang="en-PK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7" name="Graphic 16" descr="Warning with solid fill">
            <a:extLst>
              <a:ext uri="{FF2B5EF4-FFF2-40B4-BE49-F238E27FC236}">
                <a16:creationId xmlns:a16="http://schemas.microsoft.com/office/drawing/2014/main" id="{179A91E2-C2C2-BB9C-6436-7E431A54D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5604765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F2F3DEA-6645-261B-D380-8EC8E8D065C0}"/>
              </a:ext>
            </a:extLst>
          </p:cNvPr>
          <p:cNvSpPr txBox="1"/>
          <p:nvPr/>
        </p:nvSpPr>
        <p:spPr>
          <a:xfrm>
            <a:off x="6369699" y="5848318"/>
            <a:ext cx="3815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Type conversion can give counterintuitive results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but gets easier to understand with practice</a:t>
            </a:r>
            <a:endParaRPr lang="en-PK" sz="1400" dirty="0">
              <a:solidFill>
                <a:schemeClr val="accent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00A8E2E-91C5-5605-CF52-D997923F2918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5620140" y="6109928"/>
            <a:ext cx="7495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382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B0C8D-D212-D582-F9B7-837D81A2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74" y="12253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Float vs Double</a:t>
            </a:r>
            <a:endParaRPr lang="en-PK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90A73-3805-96C3-C7A5-13C8FC0F8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float a = 10.5f;  // 'f' indicates that 10.5 is a float</a:t>
            </a:r>
          </a:p>
          <a:p>
            <a:pPr marL="0" indent="0">
              <a:buNone/>
            </a:pPr>
            <a:r>
              <a:rPr lang="en-US" dirty="0"/>
              <a:t>    double b = 10.5;  // No suffix, so it's a double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"Value of a: " &lt;&lt; a &lt;&lt; std::</a:t>
            </a:r>
            <a:r>
              <a:rPr lang="en-US" dirty="0" err="1"/>
              <a:t>endl</a:t>
            </a:r>
            <a:r>
              <a:rPr lang="en-US" dirty="0"/>
              <a:t>;  // Output: 10.5</a:t>
            </a:r>
          </a:p>
          <a:p>
            <a:pPr marL="0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"Value of b: " &lt;&lt; b &lt;&lt; std::</a:t>
            </a:r>
            <a:r>
              <a:rPr lang="en-US" dirty="0" err="1"/>
              <a:t>endl</a:t>
            </a:r>
            <a:r>
              <a:rPr lang="en-US" dirty="0"/>
              <a:t>;  // Output: 10.5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9444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EEDCB-6F4D-5170-987B-D8679601A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42" y="169183"/>
            <a:ext cx="9938658" cy="82919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Why 10.5f</a:t>
            </a:r>
            <a:endParaRPr lang="en-PK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8D9DE-BE74-1394-242C-BD8DBBFE9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2" y="151771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Default Type of Floating-Point Literals: </a:t>
            </a:r>
          </a:p>
          <a:p>
            <a:pPr lvl="1"/>
            <a:r>
              <a:rPr lang="en-US" dirty="0"/>
              <a:t>In C++, floating-point literals like 10.5 are treated as double by default, not float.</a:t>
            </a:r>
          </a:p>
          <a:p>
            <a:pPr lvl="1"/>
            <a:r>
              <a:rPr lang="en-US" dirty="0"/>
              <a:t>If you write 10.5 and assign it to a float, the compiler will first interpret 10.5 as a double and then convert it to a float. This involves an implicit type conversion.</a:t>
            </a:r>
          </a:p>
          <a:p>
            <a:r>
              <a:rPr lang="en-US" dirty="0"/>
              <a:t>Avoiding Unnecessary Conversions:</a:t>
            </a:r>
          </a:p>
          <a:p>
            <a:pPr lvl="1"/>
            <a:r>
              <a:rPr lang="en-US" dirty="0"/>
              <a:t>Writing 10.5f directly indicates that the literal is a float, avoiding the need for the compiler to convert a double to a float.</a:t>
            </a:r>
          </a:p>
          <a:p>
            <a:pPr lvl="1"/>
            <a:r>
              <a:rPr lang="en-US" dirty="0"/>
              <a:t>Avoiding such conversions can be important for performance, especially in situations where this happens frequently or in resource-constrained environments.</a:t>
            </a:r>
          </a:p>
          <a:p>
            <a:r>
              <a:rPr lang="en-US" dirty="0"/>
              <a:t>Memory Efficiency: </a:t>
            </a:r>
          </a:p>
          <a:p>
            <a:pPr lvl="1"/>
            <a:r>
              <a:rPr lang="en-US" dirty="0"/>
              <a:t>A float typically uses 4 bytes, whereas a double uses 8 bytes. If you only need the precision offered by a float, using the f suffix can help save memory.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2945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C357C4-C054-95EB-D827-248F2AE3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Conditionals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87C85B-DE44-7E74-19F0-499A80E87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kern="1200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statement</a:t>
            </a:r>
          </a:p>
        </p:txBody>
      </p:sp>
      <p:pic>
        <p:nvPicPr>
          <p:cNvPr id="7" name="Picture 6" descr="A person standing on a crossroad">
            <a:extLst>
              <a:ext uri="{FF2B5EF4-FFF2-40B4-BE49-F238E27FC236}">
                <a16:creationId xmlns:a16="http://schemas.microsoft.com/office/drawing/2014/main" id="{01B7956C-C780-85A2-B481-C0A4BEC83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023" y="1314061"/>
            <a:ext cx="6557951" cy="422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3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20C2-9838-CCCA-C38B-13BDF52B6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7167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Ternary Operator</a:t>
            </a:r>
            <a:endParaRPr lang="en-PK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44138-70DE-1D54-2AEA-2A65A1FC69E4}"/>
              </a:ext>
            </a:extLst>
          </p:cNvPr>
          <p:cNvSpPr txBox="1"/>
          <p:nvPr/>
        </p:nvSpPr>
        <p:spPr>
          <a:xfrm>
            <a:off x="1661140" y="2136851"/>
            <a:ext cx="7622819" cy="2584297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using namespace std;</a:t>
            </a:r>
          </a:p>
          <a:p>
            <a:r>
              <a:rPr lang="en-US" dirty="0">
                <a:latin typeface="Consolas" panose="020B0609020204030204" pitchFamily="49" charset="0"/>
              </a:rPr>
              <a:t>int main() {    </a:t>
            </a:r>
          </a:p>
          <a:p>
            <a:r>
              <a:rPr lang="en-US" dirty="0">
                <a:latin typeface="Consolas" panose="020B0609020204030204" pitchFamily="49" charset="0"/>
              </a:rPr>
              <a:t>int a = 5, b = 10;    </a:t>
            </a:r>
          </a:p>
          <a:p>
            <a:r>
              <a:rPr lang="en-US" dirty="0">
                <a:latin typeface="Consolas" panose="020B0609020204030204" pitchFamily="49" charset="0"/>
              </a:rPr>
              <a:t>int diff = (a &gt; b) ? a - b : b - a;    </a:t>
            </a:r>
          </a:p>
          <a:p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"The difference is " &lt;&lt; diff &lt;&lt; 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    return 0;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8F824-8F12-2310-3FBC-5F35F8D5D81B}"/>
              </a:ext>
            </a:extLst>
          </p:cNvPr>
          <p:cNvSpPr txBox="1"/>
          <p:nvPr/>
        </p:nvSpPr>
        <p:spPr>
          <a:xfrm>
            <a:off x="1295400" y="1546264"/>
            <a:ext cx="664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Q. </a:t>
            </a:r>
            <a:r>
              <a:rPr lang="en-US" dirty="0"/>
              <a:t>What does this program do?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2393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20C2-9838-CCCA-C38B-13BDF52B6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7167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Ternary Operator</a:t>
            </a:r>
            <a:endParaRPr lang="en-PK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44138-70DE-1D54-2AEA-2A65A1FC69E4}"/>
              </a:ext>
            </a:extLst>
          </p:cNvPr>
          <p:cNvSpPr txBox="1"/>
          <p:nvPr/>
        </p:nvSpPr>
        <p:spPr>
          <a:xfrm>
            <a:off x="1661140" y="2136851"/>
            <a:ext cx="7622819" cy="227280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 &lt;iostream&gt;using namespace std;</a:t>
            </a:r>
          </a:p>
          <a:p>
            <a:r>
              <a:rPr lang="en-US" dirty="0">
                <a:latin typeface="Consolas" panose="020B0609020204030204" pitchFamily="49" charset="0"/>
              </a:rPr>
              <a:t>int main() {    </a:t>
            </a:r>
          </a:p>
          <a:p>
            <a:r>
              <a:rPr lang="en-US" dirty="0">
                <a:latin typeface="Consolas" panose="020B0609020204030204" pitchFamily="49" charset="0"/>
              </a:rPr>
              <a:t>int number = 10;    </a:t>
            </a:r>
          </a:p>
          <a:p>
            <a:r>
              <a:rPr lang="en-US" dirty="0">
                <a:latin typeface="Consolas" panose="020B0609020204030204" pitchFamily="49" charset="0"/>
              </a:rPr>
              <a:t>string result = (number % 2 == 0) ? "Even" : "Odd";    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"The number is " &lt;&lt; result &lt;&lt; 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    return 0;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8F824-8F12-2310-3FBC-5F35F8D5D81B}"/>
              </a:ext>
            </a:extLst>
          </p:cNvPr>
          <p:cNvSpPr txBox="1"/>
          <p:nvPr/>
        </p:nvSpPr>
        <p:spPr>
          <a:xfrm>
            <a:off x="1295400" y="1546264"/>
            <a:ext cx="664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Q. </a:t>
            </a:r>
            <a:r>
              <a:rPr lang="en-US" dirty="0"/>
              <a:t>What does this program do?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5323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E4AA-C7B1-0D75-CD5E-53ED7DDF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01" y="8427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chemeClr val="bg1"/>
                </a:solidFill>
              </a:rPr>
              <a:t> statement</a:t>
            </a:r>
            <a:endParaRPr lang="en-PK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36353-049F-111A-FF47-F4C8D386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401" y="1530350"/>
            <a:ext cx="10515600" cy="15271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Execute certain statements depending on the values of certain variables.</a:t>
            </a:r>
          </a:p>
          <a:p>
            <a:r>
              <a:rPr lang="en-US" dirty="0"/>
              <a:t>Evaluate a </a:t>
            </a:r>
            <a:r>
              <a:rPr lang="en-US" dirty="0" err="1"/>
              <a:t>boolean</a:t>
            </a:r>
            <a:r>
              <a:rPr lang="en-US" dirty="0"/>
              <a:t> expression.</a:t>
            </a:r>
          </a:p>
          <a:p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true</a:t>
            </a:r>
            <a:r>
              <a:rPr lang="en-US" dirty="0"/>
              <a:t>, execute a statement.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chemeClr val="accent1"/>
                </a:solidFill>
              </a:rPr>
              <a:t> option</a:t>
            </a:r>
            <a:r>
              <a:rPr lang="en-US" dirty="0"/>
              <a:t>: If </a:t>
            </a:r>
            <a:r>
              <a:rPr lang="en-US" dirty="0">
                <a:latin typeface="Consolas" panose="020B0609020204030204" pitchFamily="49" charset="0"/>
              </a:rPr>
              <a:t>false</a:t>
            </a:r>
            <a:r>
              <a:rPr lang="en-US" dirty="0"/>
              <a:t>, execute a different statement.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DFB09-67C5-6C56-C9A1-BA40170A0C12}"/>
              </a:ext>
            </a:extLst>
          </p:cNvPr>
          <p:cNvSpPr txBox="1"/>
          <p:nvPr/>
        </p:nvSpPr>
        <p:spPr>
          <a:xfrm>
            <a:off x="490250" y="3409950"/>
            <a:ext cx="3495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Example: </a:t>
            </a:r>
            <a:r>
              <a:rPr lang="en-US" dirty="0">
                <a:latin typeface="Consolas" panose="020B0609020204030204" pitchFamily="49" charset="0"/>
              </a:rPr>
              <a:t>if (x &lt; 0) x = -x;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D41699-6B2E-7055-D433-64486420EED2}"/>
              </a:ext>
            </a:extLst>
          </p:cNvPr>
          <p:cNvSpPr txBox="1"/>
          <p:nvPr/>
        </p:nvSpPr>
        <p:spPr>
          <a:xfrm>
            <a:off x="6129050" y="3228975"/>
            <a:ext cx="3495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Example: </a:t>
            </a:r>
            <a:r>
              <a:rPr lang="en-US" dirty="0">
                <a:latin typeface="Consolas" panose="020B0609020204030204" pitchFamily="49" charset="0"/>
              </a:rPr>
              <a:t>if (x &gt; y) max = x;</a:t>
            </a:r>
          </a:p>
          <a:p>
            <a:r>
              <a:rPr lang="en-US" dirty="0">
                <a:latin typeface="Consolas" panose="020B0609020204030204" pitchFamily="49" charset="0"/>
              </a:rPr>
              <a:t>       else       max = y;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D9256114-6372-817D-7A81-CC6EE12390E4}"/>
              </a:ext>
            </a:extLst>
          </p:cNvPr>
          <p:cNvSpPr/>
          <p:nvPr/>
        </p:nvSpPr>
        <p:spPr>
          <a:xfrm>
            <a:off x="1394638" y="4060359"/>
            <a:ext cx="1152526" cy="76822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x &lt; 0</a:t>
            </a:r>
            <a:endParaRPr lang="en-PK" sz="1400" dirty="0">
              <a:latin typeface="Consolas" panose="020B0609020204030204" pitchFamily="49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5F56EA-1D01-8BF7-856C-88D5DF6F4D5E}"/>
              </a:ext>
            </a:extLst>
          </p:cNvPr>
          <p:cNvSpPr/>
          <p:nvPr/>
        </p:nvSpPr>
        <p:spPr>
          <a:xfrm>
            <a:off x="51031" y="4896627"/>
            <a:ext cx="1343607" cy="3452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x = -x</a:t>
            </a:r>
            <a:endParaRPr lang="en-PK" sz="14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077C46-2C2E-13F3-C3F9-D50ABEB9F714}"/>
              </a:ext>
            </a:extLst>
          </p:cNvPr>
          <p:cNvSpPr txBox="1"/>
          <p:nvPr/>
        </p:nvSpPr>
        <p:spPr>
          <a:xfrm>
            <a:off x="223063" y="6139962"/>
            <a:ext cx="3495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Replaces x with absolute value of x</a:t>
            </a:r>
            <a:endParaRPr lang="en-PK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5DF58C5-CC71-F7BD-0895-11CBD4D03E8E}"/>
              </a:ext>
            </a:extLst>
          </p:cNvPr>
          <p:cNvCxnSpPr>
            <a:stCxn id="8" idx="1"/>
            <a:endCxn id="10" idx="0"/>
          </p:cNvCxnSpPr>
          <p:nvPr/>
        </p:nvCxnSpPr>
        <p:spPr>
          <a:xfrm rot="10800000" flipV="1">
            <a:off x="722836" y="4444469"/>
            <a:ext cx="671803" cy="4521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5BF3CF4-F03D-F26C-B995-AAFCD2E13BD3}"/>
              </a:ext>
            </a:extLst>
          </p:cNvPr>
          <p:cNvSpPr/>
          <p:nvPr/>
        </p:nvSpPr>
        <p:spPr>
          <a:xfrm>
            <a:off x="1970901" y="5884899"/>
            <a:ext cx="76200" cy="9584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78677ED-B4E3-5E31-6AB5-A76BBF0FEC71}"/>
              </a:ext>
            </a:extLst>
          </p:cNvPr>
          <p:cNvSpPr/>
          <p:nvPr/>
        </p:nvSpPr>
        <p:spPr>
          <a:xfrm>
            <a:off x="1970901" y="5541011"/>
            <a:ext cx="0" cy="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D07033C-E061-2B00-E99F-A3903C9C4E05}"/>
              </a:ext>
            </a:extLst>
          </p:cNvPr>
          <p:cNvCxnSpPr>
            <a:stCxn id="10" idx="2"/>
            <a:endCxn id="25" idx="2"/>
          </p:cNvCxnSpPr>
          <p:nvPr/>
        </p:nvCxnSpPr>
        <p:spPr>
          <a:xfrm rot="16200000" flipH="1">
            <a:off x="1197292" y="4767403"/>
            <a:ext cx="299152" cy="1248066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542D9A9-E64B-4F30-123C-F7F045DB43CE}"/>
              </a:ext>
            </a:extLst>
          </p:cNvPr>
          <p:cNvCxnSpPr>
            <a:stCxn id="25" idx="2"/>
            <a:endCxn id="22" idx="1"/>
          </p:cNvCxnSpPr>
          <p:nvPr/>
        </p:nvCxnSpPr>
        <p:spPr>
          <a:xfrm>
            <a:off x="1970901" y="5541012"/>
            <a:ext cx="11159" cy="357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3EAC10D4-1BB7-B180-9713-0742CEC9A746}"/>
              </a:ext>
            </a:extLst>
          </p:cNvPr>
          <p:cNvSpPr/>
          <p:nvPr/>
        </p:nvSpPr>
        <p:spPr>
          <a:xfrm>
            <a:off x="3228201" y="5021322"/>
            <a:ext cx="0" cy="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016D40C7-A918-7775-7C86-455120393AD8}"/>
              </a:ext>
            </a:extLst>
          </p:cNvPr>
          <p:cNvCxnSpPr>
            <a:cxnSpLocks/>
            <a:stCxn id="8" idx="3"/>
            <a:endCxn id="36" idx="0"/>
          </p:cNvCxnSpPr>
          <p:nvPr/>
        </p:nvCxnSpPr>
        <p:spPr>
          <a:xfrm>
            <a:off x="2547164" y="4444470"/>
            <a:ext cx="681038" cy="576852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1C941AE0-3262-4D88-1D6B-939B2D928E1A}"/>
              </a:ext>
            </a:extLst>
          </p:cNvPr>
          <p:cNvCxnSpPr>
            <a:cxnSpLocks/>
            <a:stCxn id="36" idx="4"/>
            <a:endCxn id="25" idx="6"/>
          </p:cNvCxnSpPr>
          <p:nvPr/>
        </p:nvCxnSpPr>
        <p:spPr>
          <a:xfrm rot="5400000">
            <a:off x="2339708" y="4652517"/>
            <a:ext cx="519689" cy="1257300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1AF83A06-4E38-D97C-42A8-91FF0AF82CBE}"/>
              </a:ext>
            </a:extLst>
          </p:cNvPr>
          <p:cNvSpPr/>
          <p:nvPr/>
        </p:nvSpPr>
        <p:spPr>
          <a:xfrm>
            <a:off x="7332066" y="3984593"/>
            <a:ext cx="1152526" cy="76822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x &gt; y</a:t>
            </a:r>
            <a:endParaRPr lang="en-PK" sz="1400" dirty="0">
              <a:latin typeface="Consolas" panose="020B0609020204030204" pitchFamily="49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9E86BFA-5A2F-26C2-2431-C96E1A6E7A3F}"/>
              </a:ext>
            </a:extLst>
          </p:cNvPr>
          <p:cNvSpPr/>
          <p:nvPr/>
        </p:nvSpPr>
        <p:spPr>
          <a:xfrm>
            <a:off x="5988459" y="4935161"/>
            <a:ext cx="1343607" cy="3452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max = x</a:t>
            </a:r>
            <a:endParaRPr lang="en-PK" sz="1400" dirty="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A4E15C-F41F-61C2-4119-261EE1D061CD}"/>
              </a:ext>
            </a:extLst>
          </p:cNvPr>
          <p:cNvSpPr txBox="1"/>
          <p:nvPr/>
        </p:nvSpPr>
        <p:spPr>
          <a:xfrm>
            <a:off x="5793148" y="6107930"/>
            <a:ext cx="3495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Computes the maximum of x and y</a:t>
            </a:r>
            <a:endParaRPr lang="en-PK" dirty="0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37C5E9F6-6448-D568-1FDF-F0A0DA1BA2C7}"/>
              </a:ext>
            </a:extLst>
          </p:cNvPr>
          <p:cNvCxnSpPr>
            <a:stCxn id="43" idx="1"/>
            <a:endCxn id="44" idx="0"/>
          </p:cNvCxnSpPr>
          <p:nvPr/>
        </p:nvCxnSpPr>
        <p:spPr>
          <a:xfrm rot="10800000" flipV="1">
            <a:off x="6660264" y="4368703"/>
            <a:ext cx="671803" cy="5664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493821A-0645-B2D3-6653-72CC30A6D2F2}"/>
              </a:ext>
            </a:extLst>
          </p:cNvPr>
          <p:cNvSpPr/>
          <p:nvPr/>
        </p:nvSpPr>
        <p:spPr>
          <a:xfrm>
            <a:off x="7908329" y="5923433"/>
            <a:ext cx="76200" cy="9584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3BA44F5-E31E-A836-18E6-28782DC88366}"/>
              </a:ext>
            </a:extLst>
          </p:cNvPr>
          <p:cNvSpPr/>
          <p:nvPr/>
        </p:nvSpPr>
        <p:spPr>
          <a:xfrm>
            <a:off x="7908329" y="5579545"/>
            <a:ext cx="0" cy="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1DC00E37-C078-5AC2-E657-7C7E5883414F}"/>
              </a:ext>
            </a:extLst>
          </p:cNvPr>
          <p:cNvCxnSpPr>
            <a:stCxn id="44" idx="2"/>
            <a:endCxn id="48" idx="2"/>
          </p:cNvCxnSpPr>
          <p:nvPr/>
        </p:nvCxnSpPr>
        <p:spPr>
          <a:xfrm rot="16200000" flipH="1">
            <a:off x="7134720" y="4805937"/>
            <a:ext cx="299152" cy="1248066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F193706-7918-BF10-4E70-460650F55AB5}"/>
              </a:ext>
            </a:extLst>
          </p:cNvPr>
          <p:cNvCxnSpPr>
            <a:stCxn id="48" idx="2"/>
            <a:endCxn id="47" idx="1"/>
          </p:cNvCxnSpPr>
          <p:nvPr/>
        </p:nvCxnSpPr>
        <p:spPr>
          <a:xfrm>
            <a:off x="7908329" y="5579546"/>
            <a:ext cx="11159" cy="357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B18748D2-B814-F30D-EB1E-62DA0CAC8AEC}"/>
              </a:ext>
            </a:extLst>
          </p:cNvPr>
          <p:cNvCxnSpPr>
            <a:cxnSpLocks/>
            <a:stCxn id="43" idx="3"/>
            <a:endCxn id="54" idx="0"/>
          </p:cNvCxnSpPr>
          <p:nvPr/>
        </p:nvCxnSpPr>
        <p:spPr>
          <a:xfrm>
            <a:off x="8484592" y="4368704"/>
            <a:ext cx="700380" cy="488163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06EC10C1-6E77-0F0B-C7AC-1F5C7C7C9492}"/>
              </a:ext>
            </a:extLst>
          </p:cNvPr>
          <p:cNvCxnSpPr>
            <a:cxnSpLocks/>
            <a:stCxn id="54" idx="2"/>
            <a:endCxn id="48" idx="6"/>
          </p:cNvCxnSpPr>
          <p:nvPr/>
        </p:nvCxnSpPr>
        <p:spPr>
          <a:xfrm rot="5400000">
            <a:off x="8357928" y="4752502"/>
            <a:ext cx="377446" cy="1276642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97251E5-02F6-F8F9-3211-EBE07D26A839}"/>
              </a:ext>
            </a:extLst>
          </p:cNvPr>
          <p:cNvSpPr/>
          <p:nvPr/>
        </p:nvSpPr>
        <p:spPr>
          <a:xfrm>
            <a:off x="8513168" y="4856867"/>
            <a:ext cx="1343607" cy="3452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max = y</a:t>
            </a:r>
            <a:endParaRPr lang="en-PK" sz="1400" dirty="0">
              <a:latin typeface="Consolas" panose="020B0609020204030204" pitchFamily="49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8555C00-EC86-1747-0CED-95538DCB2371}"/>
              </a:ext>
            </a:extLst>
          </p:cNvPr>
          <p:cNvSpPr txBox="1"/>
          <p:nvPr/>
        </p:nvSpPr>
        <p:spPr>
          <a:xfrm>
            <a:off x="861726" y="4193709"/>
            <a:ext cx="599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true</a:t>
            </a:r>
            <a:endParaRPr lang="en-PK" sz="1400" dirty="0">
              <a:solidFill>
                <a:schemeClr val="accent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585561-CF94-8D08-F32E-E932FB2D523D}"/>
              </a:ext>
            </a:extLst>
          </p:cNvPr>
          <p:cNvSpPr txBox="1"/>
          <p:nvPr/>
        </p:nvSpPr>
        <p:spPr>
          <a:xfrm>
            <a:off x="2677769" y="4193709"/>
            <a:ext cx="599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false</a:t>
            </a:r>
            <a:endParaRPr lang="en-PK" sz="1400" dirty="0">
              <a:solidFill>
                <a:schemeClr val="accent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D80E2C4-7067-2B24-C47C-A25D466823C8}"/>
              </a:ext>
            </a:extLst>
          </p:cNvPr>
          <p:cNvSpPr txBox="1"/>
          <p:nvPr/>
        </p:nvSpPr>
        <p:spPr>
          <a:xfrm>
            <a:off x="6764094" y="4107183"/>
            <a:ext cx="599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true</a:t>
            </a:r>
            <a:endParaRPr lang="en-PK" sz="1400" dirty="0">
              <a:solidFill>
                <a:schemeClr val="accent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DE5B42-3306-F0CC-2BB6-587541CC1F97}"/>
              </a:ext>
            </a:extLst>
          </p:cNvPr>
          <p:cNvSpPr txBox="1"/>
          <p:nvPr/>
        </p:nvSpPr>
        <p:spPr>
          <a:xfrm>
            <a:off x="8580137" y="4107183"/>
            <a:ext cx="599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false</a:t>
            </a:r>
            <a:endParaRPr lang="en-PK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29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20C2-9838-CCCA-C38B-13BDF52B6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7167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 of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sz="3600" b="1" dirty="0">
                <a:solidFill>
                  <a:schemeClr val="bg1"/>
                </a:solidFill>
              </a:rPr>
              <a:t> statement use</a:t>
            </a:r>
            <a:endParaRPr lang="en-PK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44138-70DE-1D54-2AEA-2A65A1FC69E4}"/>
              </a:ext>
            </a:extLst>
          </p:cNvPr>
          <p:cNvSpPr txBox="1"/>
          <p:nvPr/>
        </p:nvSpPr>
        <p:spPr>
          <a:xfrm>
            <a:off x="1614487" y="1994713"/>
            <a:ext cx="6773733" cy="445327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 &lt;iostream&gt;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number;</a:t>
            </a: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"Enter an integer: ";</a:t>
            </a: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number;</a:t>
            </a:r>
          </a:p>
          <a:p>
            <a:r>
              <a:rPr lang="en-US" dirty="0">
                <a:latin typeface="Consolas" panose="020B0609020204030204" pitchFamily="49" charset="0"/>
              </a:rPr>
              <a:t>    if (number % 2 == 0)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number &lt;&lt; " is even.\n";</a:t>
            </a:r>
          </a:p>
          <a:p>
            <a:r>
              <a:rPr lang="en-US" dirty="0">
                <a:latin typeface="Consolas" panose="020B0609020204030204" pitchFamily="49" charset="0"/>
              </a:rPr>
              <a:t>    } else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number &lt;&lt; " is odd.\n";</a:t>
            </a:r>
          </a:p>
          <a:p>
            <a:r>
              <a:rPr lang="en-US" dirty="0">
                <a:latin typeface="Consolas" panose="020B0609020204030204" pitchFamily="49" charset="0"/>
              </a:rPr>
              <a:t>    }   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8F824-8F12-2310-3FBC-5F35F8D5D81B}"/>
              </a:ext>
            </a:extLst>
          </p:cNvPr>
          <p:cNvSpPr txBox="1"/>
          <p:nvPr/>
        </p:nvSpPr>
        <p:spPr>
          <a:xfrm>
            <a:off x="1295400" y="1546264"/>
            <a:ext cx="664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Q. </a:t>
            </a:r>
            <a:r>
              <a:rPr lang="en-US" dirty="0"/>
              <a:t>What does this program do?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72184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20C2-9838-CCCA-C38B-13BDF52B6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24" y="16426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 of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sz="3600" b="1" dirty="0">
                <a:solidFill>
                  <a:schemeClr val="bg1"/>
                </a:solidFill>
              </a:rPr>
              <a:t> statement use: simulate a coin flip</a:t>
            </a:r>
            <a:endParaRPr lang="en-PK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44138-70DE-1D54-2AEA-2A65A1FC69E4}"/>
              </a:ext>
            </a:extLst>
          </p:cNvPr>
          <p:cNvSpPr txBox="1"/>
          <p:nvPr/>
        </p:nvSpPr>
        <p:spPr>
          <a:xfrm>
            <a:off x="1267408" y="1948932"/>
            <a:ext cx="4582885" cy="445327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#include&lt;cstdlib&gt;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r= rand();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if(r%2 == 0){</a:t>
            </a:r>
          </a:p>
          <a:p>
            <a:r>
              <a:rPr lang="en-US" dirty="0">
                <a:latin typeface="Consolas" panose="020B0609020204030204" pitchFamily="49" charset="0"/>
              </a:rPr>
              <a:t>  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 Heads\n";}</a:t>
            </a:r>
          </a:p>
          <a:p>
            <a:r>
              <a:rPr lang="en-US" dirty="0">
                <a:latin typeface="Consolas" panose="020B0609020204030204" pitchFamily="49" charset="0"/>
              </a:rPr>
              <a:t>    else{</a:t>
            </a:r>
          </a:p>
          <a:p>
            <a:r>
              <a:rPr lang="en-US" dirty="0">
                <a:latin typeface="Consolas" panose="020B0609020204030204" pitchFamily="49" charset="0"/>
              </a:rPr>
              <a:t>  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 Tails\n";}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5" name="Picture 4" descr="A hand giving a thumbs up&#10;&#10;Description automatically generated">
            <a:extLst>
              <a:ext uri="{FF2B5EF4-FFF2-40B4-BE49-F238E27FC236}">
                <a16:creationId xmlns:a16="http://schemas.microsoft.com/office/drawing/2014/main" id="{FA5B3A39-7370-B4F0-7D2C-A828AB380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818" y="2228850"/>
            <a:ext cx="2479227" cy="313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20C2-9838-CCCA-C38B-13BDF52B6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7167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 of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sz="3600" b="1" dirty="0">
                <a:solidFill>
                  <a:schemeClr val="bg1"/>
                </a:solidFill>
              </a:rPr>
              <a:t> statement use: 2-sort</a:t>
            </a:r>
            <a:endParaRPr lang="en-PK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44138-70DE-1D54-2AEA-2A65A1FC69E4}"/>
              </a:ext>
            </a:extLst>
          </p:cNvPr>
          <p:cNvSpPr txBox="1"/>
          <p:nvPr/>
        </p:nvSpPr>
        <p:spPr>
          <a:xfrm>
            <a:off x="1614487" y="1994713"/>
            <a:ext cx="6773733" cy="414177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#include&lt;iostream&gt;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a, b;</a:t>
            </a: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a &gt;&gt; b;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if(a &gt; b)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int t = a;</a:t>
            </a:r>
          </a:p>
          <a:p>
            <a:r>
              <a:rPr lang="en-US" dirty="0">
                <a:latin typeface="Consolas" panose="020B0609020204030204" pitchFamily="49" charset="0"/>
              </a:rPr>
              <a:t>        a = b;</a:t>
            </a:r>
          </a:p>
          <a:p>
            <a:r>
              <a:rPr lang="en-US" dirty="0">
                <a:latin typeface="Consolas" panose="020B0609020204030204" pitchFamily="49" charset="0"/>
              </a:rPr>
              <a:t>        b = t;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a &lt;&lt; " " &lt;&lt; b &lt;&lt;std::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8F824-8F12-2310-3FBC-5F35F8D5D81B}"/>
              </a:ext>
            </a:extLst>
          </p:cNvPr>
          <p:cNvSpPr txBox="1"/>
          <p:nvPr/>
        </p:nvSpPr>
        <p:spPr>
          <a:xfrm>
            <a:off x="1295400" y="1546264"/>
            <a:ext cx="664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Q. </a:t>
            </a:r>
            <a:r>
              <a:rPr lang="en-US" dirty="0"/>
              <a:t>What does this program do?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64361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20C2-9838-CCCA-C38B-13BDF52B6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580" y="8323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Pop quiz on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sz="3600" b="1" dirty="0">
                <a:solidFill>
                  <a:schemeClr val="bg1"/>
                </a:solidFill>
              </a:rPr>
              <a:t> statement</a:t>
            </a:r>
            <a:endParaRPr lang="en-PK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44138-70DE-1D54-2AEA-2A65A1FC69E4}"/>
              </a:ext>
            </a:extLst>
          </p:cNvPr>
          <p:cNvSpPr txBox="1"/>
          <p:nvPr/>
        </p:nvSpPr>
        <p:spPr>
          <a:xfrm>
            <a:off x="1309686" y="2023288"/>
            <a:ext cx="6695979" cy="445327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#include&lt;iostream&gt;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a, b, c;</a:t>
            </a: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a &gt;&gt; b &gt;&gt; c;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a &lt;&lt; " " &lt;&lt; b &lt;&lt; " " &lt;&lt; c &lt;&lt; "\n";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8F824-8F12-2310-3FBC-5F35F8D5D81B}"/>
              </a:ext>
            </a:extLst>
          </p:cNvPr>
          <p:cNvSpPr txBox="1"/>
          <p:nvPr/>
        </p:nvSpPr>
        <p:spPr>
          <a:xfrm>
            <a:off x="1281112" y="1506022"/>
            <a:ext cx="771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Q. </a:t>
            </a:r>
            <a:r>
              <a:rPr lang="en-US" dirty="0"/>
              <a:t>Add code to this program that puts a, b, and c in numerical order.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BBAA0-BDF5-0C46-2BBA-8441EE92332A}"/>
              </a:ext>
            </a:extLst>
          </p:cNvPr>
          <p:cNvSpPr txBox="1"/>
          <p:nvPr/>
        </p:nvSpPr>
        <p:spPr>
          <a:xfrm>
            <a:off x="2228849" y="3543300"/>
            <a:ext cx="5343525" cy="1325563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606F4-D03C-A625-0E20-EBC1D1A00CF7}"/>
              </a:ext>
            </a:extLst>
          </p:cNvPr>
          <p:cNvSpPr txBox="1"/>
          <p:nvPr/>
        </p:nvSpPr>
        <p:spPr>
          <a:xfrm>
            <a:off x="8996362" y="2646919"/>
            <a:ext cx="2526944" cy="227280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a</a:t>
            </a:r>
          </a:p>
          <a:p>
            <a:r>
              <a:rPr lang="en-US" dirty="0">
                <a:latin typeface="Consolas" panose="020B0609020204030204" pitchFamily="49" charset="0"/>
              </a:rPr>
              <a:t>  123 99 1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1 99 123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a</a:t>
            </a:r>
          </a:p>
          <a:p>
            <a:r>
              <a:rPr lang="en-US" dirty="0">
                <a:latin typeface="Consolas" panose="020B0609020204030204" pitchFamily="49" charset="0"/>
              </a:rPr>
              <a:t>  99 1 123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1 99 123</a:t>
            </a:r>
          </a:p>
        </p:txBody>
      </p:sp>
    </p:spTree>
    <p:extLst>
      <p:ext uri="{BB962C8B-B14F-4D97-AF65-F5344CB8AC3E}">
        <p14:creationId xmlns:p14="http://schemas.microsoft.com/office/powerpoint/2010/main" val="60267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20C2-9838-CCCA-C38B-13BDF52B6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868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Pop quiz on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sz="3600" b="1" dirty="0">
                <a:solidFill>
                  <a:schemeClr val="bg1"/>
                </a:solidFill>
              </a:rPr>
              <a:t> statement</a:t>
            </a:r>
            <a:endParaRPr lang="en-PK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44138-70DE-1D54-2AEA-2A65A1FC69E4}"/>
              </a:ext>
            </a:extLst>
          </p:cNvPr>
          <p:cNvSpPr txBox="1"/>
          <p:nvPr/>
        </p:nvSpPr>
        <p:spPr>
          <a:xfrm>
            <a:off x="1309686" y="2023288"/>
            <a:ext cx="6824663" cy="476476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a, b, c;</a:t>
            </a: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a &gt;&gt; b &gt;&gt; c;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if (b &lt; a)</a:t>
            </a:r>
          </a:p>
          <a:p>
            <a:r>
              <a:rPr lang="en-US" dirty="0">
                <a:latin typeface="Consolas" panose="020B0609020204030204" pitchFamily="49" charset="0"/>
              </a:rPr>
              <a:t>    { int t = a; a = b; b = t; }</a:t>
            </a:r>
          </a:p>
          <a:p>
            <a:r>
              <a:rPr lang="en-US" dirty="0">
                <a:latin typeface="Consolas" panose="020B0609020204030204" pitchFamily="49" charset="0"/>
              </a:rPr>
              <a:t>    if (c &lt; a)</a:t>
            </a:r>
          </a:p>
          <a:p>
            <a:r>
              <a:rPr lang="en-US" dirty="0">
                <a:latin typeface="Consolas" panose="020B0609020204030204" pitchFamily="49" charset="0"/>
              </a:rPr>
              <a:t>    { int t = a; a = c; c = t; }</a:t>
            </a:r>
          </a:p>
          <a:p>
            <a:r>
              <a:rPr lang="en-US" dirty="0">
                <a:latin typeface="Consolas" panose="020B0609020204030204" pitchFamily="49" charset="0"/>
              </a:rPr>
              <a:t>    if (c &lt; b)</a:t>
            </a:r>
          </a:p>
          <a:p>
            <a:r>
              <a:rPr lang="en-US" dirty="0">
                <a:latin typeface="Consolas" panose="020B0609020204030204" pitchFamily="49" charset="0"/>
              </a:rPr>
              <a:t>    { int t = b; b = c; c = t; 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a &lt;&lt; " " &lt;&lt; b &lt;&lt; " " &lt;&lt; c &lt;&lt; "\n";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8F824-8F12-2310-3FBC-5F35F8D5D81B}"/>
              </a:ext>
            </a:extLst>
          </p:cNvPr>
          <p:cNvSpPr txBox="1"/>
          <p:nvPr/>
        </p:nvSpPr>
        <p:spPr>
          <a:xfrm>
            <a:off x="1281112" y="1506022"/>
            <a:ext cx="771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Q. </a:t>
            </a:r>
            <a:r>
              <a:rPr lang="en-US" dirty="0"/>
              <a:t>Add code to this program that puts a, b, and c in numerical order.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606F4-D03C-A625-0E20-EBC1D1A00CF7}"/>
              </a:ext>
            </a:extLst>
          </p:cNvPr>
          <p:cNvSpPr txBox="1"/>
          <p:nvPr/>
        </p:nvSpPr>
        <p:spPr>
          <a:xfrm>
            <a:off x="8996361" y="2646919"/>
            <a:ext cx="2564267" cy="227280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a</a:t>
            </a:r>
          </a:p>
          <a:p>
            <a:r>
              <a:rPr lang="en-US" dirty="0">
                <a:latin typeface="Consolas" panose="020B0609020204030204" pitchFamily="49" charset="0"/>
              </a:rPr>
              <a:t>  123 99 1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1 99 123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a</a:t>
            </a:r>
          </a:p>
          <a:p>
            <a:r>
              <a:rPr lang="en-US" dirty="0">
                <a:latin typeface="Consolas" panose="020B0609020204030204" pitchFamily="49" charset="0"/>
              </a:rPr>
              <a:t>  99 1 123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1 99 123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4F2E5-4304-63A7-00D6-86E12B172783}"/>
              </a:ext>
            </a:extLst>
          </p:cNvPr>
          <p:cNvSpPr txBox="1"/>
          <p:nvPr/>
        </p:nvSpPr>
        <p:spPr>
          <a:xfrm>
            <a:off x="828675" y="3829050"/>
            <a:ext cx="400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A.</a:t>
            </a:r>
            <a:endParaRPr lang="en-PK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A339A6-CAE9-A4D2-F8C8-876D87F63FD5}"/>
              </a:ext>
            </a:extLst>
          </p:cNvPr>
          <p:cNvSpPr txBox="1"/>
          <p:nvPr/>
        </p:nvSpPr>
        <p:spPr>
          <a:xfrm>
            <a:off x="5958179" y="3993057"/>
            <a:ext cx="1888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makes a smaller than b</a:t>
            </a:r>
            <a:endParaRPr lang="en-PK" sz="1400" dirty="0">
              <a:solidFill>
                <a:schemeClr val="accent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95A200-AC5B-2054-D1F4-4A84DF637384}"/>
              </a:ext>
            </a:extLst>
          </p:cNvPr>
          <p:cNvCxnSpPr/>
          <p:nvPr/>
        </p:nvCxnSpPr>
        <p:spPr>
          <a:xfrm flipH="1">
            <a:off x="5411755" y="4146946"/>
            <a:ext cx="5318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E6E116-BA68-2E03-E8CD-5B01C5D8AB94}"/>
              </a:ext>
            </a:extLst>
          </p:cNvPr>
          <p:cNvSpPr txBox="1"/>
          <p:nvPr/>
        </p:nvSpPr>
        <p:spPr>
          <a:xfrm>
            <a:off x="5979945" y="4546672"/>
            <a:ext cx="1888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makes a smaller than both b and c</a:t>
            </a:r>
            <a:endParaRPr lang="en-PK" sz="1400" dirty="0">
              <a:solidFill>
                <a:schemeClr val="accent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601258-957B-B9F9-AB8C-C4328F7D7A2C}"/>
              </a:ext>
            </a:extLst>
          </p:cNvPr>
          <p:cNvCxnSpPr/>
          <p:nvPr/>
        </p:nvCxnSpPr>
        <p:spPr>
          <a:xfrm flipH="1">
            <a:off x="5433521" y="4700561"/>
            <a:ext cx="5318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D3300B-3E12-E8CE-9348-20B6781425DD}"/>
              </a:ext>
            </a:extLst>
          </p:cNvPr>
          <p:cNvSpPr txBox="1"/>
          <p:nvPr/>
        </p:nvSpPr>
        <p:spPr>
          <a:xfrm>
            <a:off x="5979946" y="5153166"/>
            <a:ext cx="1888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makes b smaller than c</a:t>
            </a:r>
            <a:endParaRPr lang="en-PK" sz="1400" dirty="0">
              <a:solidFill>
                <a:schemeClr val="accent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31C36D-2680-8AB5-452E-839999A72F85}"/>
              </a:ext>
            </a:extLst>
          </p:cNvPr>
          <p:cNvCxnSpPr/>
          <p:nvPr/>
        </p:nvCxnSpPr>
        <p:spPr>
          <a:xfrm flipH="1">
            <a:off x="5445959" y="5310160"/>
            <a:ext cx="5318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24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20C2-9838-CCCA-C38B-13BDF52B6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55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 of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sz="3600" b="1" dirty="0">
                <a:solidFill>
                  <a:schemeClr val="bg1"/>
                </a:solidFill>
              </a:rPr>
              <a:t> statement use error checks</a:t>
            </a:r>
            <a:endParaRPr lang="en-PK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44138-70DE-1D54-2AEA-2A65A1FC69E4}"/>
              </a:ext>
            </a:extLst>
          </p:cNvPr>
          <p:cNvSpPr txBox="1"/>
          <p:nvPr/>
        </p:nvSpPr>
        <p:spPr>
          <a:xfrm>
            <a:off x="1614487" y="1385113"/>
            <a:ext cx="8177212" cy="4247317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#include&lt;iostream&gt;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int main() 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int a, b;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std::</a:t>
            </a:r>
            <a:r>
              <a:rPr lang="en-US" sz="1800" dirty="0" err="1">
                <a:latin typeface="Consolas" panose="020B0609020204030204" pitchFamily="49" charset="0"/>
              </a:rPr>
              <a:t>cin</a:t>
            </a:r>
            <a:r>
              <a:rPr lang="en-US" sz="1800" dirty="0">
                <a:latin typeface="Consolas" panose="020B0609020204030204" pitchFamily="49" charset="0"/>
              </a:rPr>
              <a:t> &gt;&gt; a &gt;&gt; b;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std::</a:t>
            </a:r>
            <a:r>
              <a:rPr lang="en-US" sz="1800" dirty="0" err="1">
                <a:latin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</a:rPr>
              <a:t> &lt;&lt; a &lt;&lt; " + " &lt;&lt; b &lt;&lt; " = " &lt;&lt; a + b &lt;&lt; "\n";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std::</a:t>
            </a:r>
            <a:r>
              <a:rPr lang="en-US" sz="1800" dirty="0" err="1">
                <a:latin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</a:rPr>
              <a:t> &lt;&lt; a &lt;&lt; " * " &lt;&lt; b &lt;&lt; " = " &lt;&lt; a * b &lt;&lt; "\n";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if(b == 0)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 std::</a:t>
            </a:r>
            <a:r>
              <a:rPr lang="en-US" sz="1800" dirty="0" err="1">
                <a:latin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</a:rPr>
              <a:t> &lt;&lt; "Division by zero\n";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else 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 std::</a:t>
            </a:r>
            <a:r>
              <a:rPr lang="en-US" sz="1800" dirty="0" err="1">
                <a:latin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</a:rPr>
              <a:t> &lt;&lt; a &lt;&lt; " / " &lt;&lt; b &lt;&lt; " = " &lt;&lt; a / b &lt;&lt; "\n";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 std::</a:t>
            </a:r>
            <a:r>
              <a:rPr lang="en-US" sz="1800" dirty="0" err="1">
                <a:latin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</a:rPr>
              <a:t> &lt;&lt; a &lt;&lt; " % " &lt;&lt; b &lt;&lt; " = " &lt;&lt; a % b &lt;&lt; "\n";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2528D-E842-8F43-B52F-C8F8E94F3079}"/>
              </a:ext>
            </a:extLst>
          </p:cNvPr>
          <p:cNvSpPr txBox="1"/>
          <p:nvPr/>
        </p:nvSpPr>
        <p:spPr>
          <a:xfrm>
            <a:off x="838200" y="5904189"/>
            <a:ext cx="8496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Good programming practice. </a:t>
            </a:r>
            <a:r>
              <a:rPr lang="en-US" dirty="0"/>
              <a:t>Use conditionals to check for and avoid runtime errors.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4467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84782-6481-BBD4-E004-B7472736E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1" y="169184"/>
            <a:ext cx="8949613" cy="85718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Question</a:t>
            </a:r>
            <a:endParaRPr lang="en-PK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C2595-F5BA-11AD-E46F-F8F54570C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1527046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Take two number and check whether the number is positive, negative or 0</a:t>
            </a:r>
          </a:p>
          <a:p>
            <a:pPr marL="514350" indent="-514350">
              <a:buAutoNum type="arabicPeriod"/>
            </a:pPr>
            <a:r>
              <a:rPr lang="en-US" dirty="0"/>
              <a:t>Write a program to check voting eligibility</a:t>
            </a:r>
          </a:p>
          <a:p>
            <a:pPr marL="514350" indent="-514350">
              <a:buAutoNum type="arabicPeriod"/>
            </a:pPr>
            <a:r>
              <a:rPr lang="en-US" dirty="0"/>
              <a:t>Find the Largest of </a:t>
            </a:r>
            <a:r>
              <a:rPr lang="en-US"/>
              <a:t>Three Numbers</a:t>
            </a:r>
          </a:p>
        </p:txBody>
      </p:sp>
    </p:spTree>
    <p:extLst>
      <p:ext uri="{BB962C8B-B14F-4D97-AF65-F5344CB8AC3E}">
        <p14:creationId xmlns:p14="http://schemas.microsoft.com/office/powerpoint/2010/main" val="315551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IBA Presentation_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A Presentation_Template" id="{98B924F8-68F1-44C3-9B9B-B85D1985B6A8}" vid="{181EC76D-48F6-4716-A60D-DFF8614029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IBA Presentation_Template</Template>
  <TotalTime>17532</TotalTime>
  <Words>1726</Words>
  <Application>Microsoft Office PowerPoint</Application>
  <PresentationFormat>Widescreen</PresentationFormat>
  <Paragraphs>260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Wingdings</vt:lpstr>
      <vt:lpstr>IBA Presentation_Template</vt:lpstr>
      <vt:lpstr>Introduction to Programming  (CSE-141) </vt:lpstr>
      <vt:lpstr>Precedence Chart</vt:lpstr>
      <vt:lpstr>Codes for unary, bitwise operator and  1 &amp; 2 Complement</vt:lpstr>
      <vt:lpstr>Short Increment</vt:lpstr>
      <vt:lpstr>Casting</vt:lpstr>
      <vt:lpstr>Type checking</vt:lpstr>
      <vt:lpstr>Casting</vt:lpstr>
      <vt:lpstr>Casting</vt:lpstr>
      <vt:lpstr>Type conversion with built-in types</vt:lpstr>
      <vt:lpstr>Float vs Double</vt:lpstr>
      <vt:lpstr>Why 10.5f</vt:lpstr>
      <vt:lpstr>Conditionals</vt:lpstr>
      <vt:lpstr>Ternary Operator</vt:lpstr>
      <vt:lpstr>Ternary Operator</vt:lpstr>
      <vt:lpstr>The if statement</vt:lpstr>
      <vt:lpstr>Example of if statement use</vt:lpstr>
      <vt:lpstr>Example of if statement use: simulate a coin flip</vt:lpstr>
      <vt:lpstr>Example of if statement use: 2-sort</vt:lpstr>
      <vt:lpstr>Pop quiz on if statement</vt:lpstr>
      <vt:lpstr>Pop quiz on if statement</vt:lpstr>
      <vt:lpstr>Example of if statement use error checks</vt:lpstr>
      <vt:lpstr>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applications (MIS103)</dc:title>
  <dc:creator>Usman</dc:creator>
  <cp:lastModifiedBy>Maria Rahim Khowaja / Lecturer</cp:lastModifiedBy>
  <cp:revision>536</cp:revision>
  <dcterms:created xsi:type="dcterms:W3CDTF">2017-08-08T08:10:09Z</dcterms:created>
  <dcterms:modified xsi:type="dcterms:W3CDTF">2024-08-29T07:57:20Z</dcterms:modified>
</cp:coreProperties>
</file>