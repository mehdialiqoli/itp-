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16" r:id="rId1"/>
  </p:sldMasterIdLst>
  <p:notesMasterIdLst>
    <p:notesMasterId r:id="rId44"/>
  </p:notesMasterIdLst>
  <p:handoutMasterIdLst>
    <p:handoutMasterId r:id="rId45"/>
  </p:handoutMasterIdLst>
  <p:sldIdLst>
    <p:sldId id="256" r:id="rId2"/>
    <p:sldId id="792" r:id="rId3"/>
    <p:sldId id="272" r:id="rId4"/>
    <p:sldId id="273" r:id="rId5"/>
    <p:sldId id="274" r:id="rId6"/>
    <p:sldId id="298" r:id="rId7"/>
    <p:sldId id="265" r:id="rId8"/>
    <p:sldId id="806" r:id="rId9"/>
    <p:sldId id="257" r:id="rId10"/>
    <p:sldId id="258" r:id="rId11"/>
    <p:sldId id="807" r:id="rId12"/>
    <p:sldId id="789" r:id="rId13"/>
    <p:sldId id="799" r:id="rId14"/>
    <p:sldId id="811" r:id="rId15"/>
    <p:sldId id="260" r:id="rId16"/>
    <p:sldId id="801" r:id="rId17"/>
    <p:sldId id="805" r:id="rId18"/>
    <p:sldId id="787" r:id="rId19"/>
    <p:sldId id="790" r:id="rId20"/>
    <p:sldId id="788" r:id="rId21"/>
    <p:sldId id="287" r:id="rId22"/>
    <p:sldId id="791" r:id="rId23"/>
    <p:sldId id="802" r:id="rId24"/>
    <p:sldId id="803" r:id="rId25"/>
    <p:sldId id="804" r:id="rId26"/>
    <p:sldId id="266" r:id="rId27"/>
    <p:sldId id="284" r:id="rId28"/>
    <p:sldId id="267" r:id="rId29"/>
    <p:sldId id="269" r:id="rId30"/>
    <p:sldId id="810" r:id="rId31"/>
    <p:sldId id="795" r:id="rId32"/>
    <p:sldId id="280" r:id="rId33"/>
    <p:sldId id="808" r:id="rId34"/>
    <p:sldId id="809" r:id="rId35"/>
    <p:sldId id="285" r:id="rId36"/>
    <p:sldId id="293" r:id="rId37"/>
    <p:sldId id="294" r:id="rId38"/>
    <p:sldId id="295" r:id="rId39"/>
    <p:sldId id="796" r:id="rId40"/>
    <p:sldId id="797" r:id="rId41"/>
    <p:sldId id="304" r:id="rId42"/>
    <p:sldId id="798" r:id="rId43"/>
  </p:sldIdLst>
  <p:sldSz cx="12192000" cy="6858000"/>
  <p:notesSz cx="6858000" cy="9144000"/>
  <p:defaultTextStyle>
    <a:defPPr>
      <a:defRPr lang="en-US"/>
    </a:defPPr>
    <a:lvl1pPr marL="0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1pPr>
    <a:lvl2pPr marL="514026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2pPr>
    <a:lvl3pPr marL="1028053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3pPr>
    <a:lvl4pPr marL="1542079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4pPr>
    <a:lvl5pPr marL="2056105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5pPr>
    <a:lvl6pPr marL="2570132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6pPr>
    <a:lvl7pPr marL="3084158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7pPr>
    <a:lvl8pPr marL="3598184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8pPr>
    <a:lvl9pPr marL="4112210" algn="l" defTabSz="1028053" rtl="0" eaLnBrk="1" latinLnBrk="0" hangingPunct="1">
      <a:defRPr sz="202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rse Introduction" id="{E6EDAD25-BDE2-4CC6-8D09-8ED590FB1512}">
          <p14:sldIdLst>
            <p14:sldId id="256"/>
            <p14:sldId id="792"/>
            <p14:sldId id="272"/>
            <p14:sldId id="273"/>
            <p14:sldId id="274"/>
            <p14:sldId id="298"/>
            <p14:sldId id="265"/>
            <p14:sldId id="806"/>
            <p14:sldId id="257"/>
            <p14:sldId id="258"/>
            <p14:sldId id="807"/>
            <p14:sldId id="789"/>
            <p14:sldId id="799"/>
            <p14:sldId id="811"/>
            <p14:sldId id="260"/>
            <p14:sldId id="801"/>
            <p14:sldId id="805"/>
            <p14:sldId id="787"/>
            <p14:sldId id="790"/>
            <p14:sldId id="788"/>
            <p14:sldId id="287"/>
            <p14:sldId id="791"/>
            <p14:sldId id="802"/>
            <p14:sldId id="803"/>
            <p14:sldId id="804"/>
            <p14:sldId id="266"/>
            <p14:sldId id="284"/>
            <p14:sldId id="267"/>
            <p14:sldId id="269"/>
            <p14:sldId id="810"/>
            <p14:sldId id="795"/>
            <p14:sldId id="280"/>
            <p14:sldId id="808"/>
            <p14:sldId id="809"/>
            <p14:sldId id="285"/>
            <p14:sldId id="293"/>
            <p14:sldId id="294"/>
            <p14:sldId id="295"/>
            <p14:sldId id="796"/>
            <p14:sldId id="797"/>
            <p14:sldId id="304"/>
            <p14:sldId id="7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9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48" d="100"/>
          <a:sy n="148" d="100"/>
        </p:scale>
        <p:origin x="1373" y="-34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3B2B34-629B-4729-B306-B1417EF526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D740A-B125-48ED-9C3A-D274A7C1E7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EEBEA-C87F-407B-B193-90E50A29F43E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F6961-7808-4D1D-B260-7F026EF99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Usman Ali (uali@iba.edu.pk)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F72E4-A5A1-4787-9E2B-2A4F346183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E3FF6-C984-48CF-A679-378BC71E1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051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27803-C5B7-4C54-8A80-3DE60D52E6D4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Usman Ali (uali@iba.edu.pk)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C0441-36C0-4045-BAA9-3F0B1BA999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935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Usman Ali (uali@iba.edu.pk)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C0441-36C0-4045-BAA9-3F0B1BA9991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04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58"/>
            </a:lvl1pPr>
            <a:lvl2pPr marL="411038" indent="0" algn="ctr">
              <a:buNone/>
              <a:defRPr sz="1798"/>
            </a:lvl2pPr>
            <a:lvl3pPr marL="822077" indent="0" algn="ctr">
              <a:buNone/>
              <a:defRPr sz="1618"/>
            </a:lvl3pPr>
            <a:lvl4pPr marL="1233115" indent="0" algn="ctr">
              <a:buNone/>
              <a:defRPr sz="1438"/>
            </a:lvl4pPr>
            <a:lvl5pPr marL="1644154" indent="0" algn="ctr">
              <a:buNone/>
              <a:defRPr sz="1438"/>
            </a:lvl5pPr>
            <a:lvl6pPr marL="2055192" indent="0" algn="ctr">
              <a:buNone/>
              <a:defRPr sz="1438"/>
            </a:lvl6pPr>
            <a:lvl7pPr marL="2466231" indent="0" algn="ctr">
              <a:buNone/>
              <a:defRPr sz="1438"/>
            </a:lvl7pPr>
            <a:lvl8pPr marL="2877269" indent="0" algn="ctr">
              <a:buNone/>
              <a:defRPr sz="1438"/>
            </a:lvl8pPr>
            <a:lvl9pPr marL="3288308" indent="0" algn="ctr">
              <a:buNone/>
              <a:defRPr sz="143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32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0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158">
                <a:solidFill>
                  <a:schemeClr val="tx1">
                    <a:tint val="75000"/>
                  </a:schemeClr>
                </a:solidFill>
              </a:defRPr>
            </a:lvl1pPr>
            <a:lvl2pPr marL="411038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2pPr>
            <a:lvl3pPr marL="822077" indent="0">
              <a:buNone/>
              <a:defRPr sz="1618">
                <a:solidFill>
                  <a:schemeClr val="tx1">
                    <a:tint val="75000"/>
                  </a:schemeClr>
                </a:solidFill>
              </a:defRPr>
            </a:lvl3pPr>
            <a:lvl4pPr marL="1233115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4pPr>
            <a:lvl5pPr marL="1644154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5pPr>
            <a:lvl6pPr marL="2055192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6pPr>
            <a:lvl7pPr marL="2466231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7pPr>
            <a:lvl8pPr marL="2877269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8pPr>
            <a:lvl9pPr marL="3288308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98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5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58" b="1"/>
            </a:lvl1pPr>
            <a:lvl2pPr marL="411038" indent="0">
              <a:buNone/>
              <a:defRPr sz="1798" b="1"/>
            </a:lvl2pPr>
            <a:lvl3pPr marL="822077" indent="0">
              <a:buNone/>
              <a:defRPr sz="1618" b="1"/>
            </a:lvl3pPr>
            <a:lvl4pPr marL="1233115" indent="0">
              <a:buNone/>
              <a:defRPr sz="1438" b="1"/>
            </a:lvl4pPr>
            <a:lvl5pPr marL="1644154" indent="0">
              <a:buNone/>
              <a:defRPr sz="1438" b="1"/>
            </a:lvl5pPr>
            <a:lvl6pPr marL="2055192" indent="0">
              <a:buNone/>
              <a:defRPr sz="1438" b="1"/>
            </a:lvl6pPr>
            <a:lvl7pPr marL="2466231" indent="0">
              <a:buNone/>
              <a:defRPr sz="1438" b="1"/>
            </a:lvl7pPr>
            <a:lvl8pPr marL="2877269" indent="0">
              <a:buNone/>
              <a:defRPr sz="1438" b="1"/>
            </a:lvl8pPr>
            <a:lvl9pPr marL="3288308" indent="0">
              <a:buNone/>
              <a:defRPr sz="143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158" b="1"/>
            </a:lvl1pPr>
            <a:lvl2pPr marL="411038" indent="0">
              <a:buNone/>
              <a:defRPr sz="1798" b="1"/>
            </a:lvl2pPr>
            <a:lvl3pPr marL="822077" indent="0">
              <a:buNone/>
              <a:defRPr sz="1618" b="1"/>
            </a:lvl3pPr>
            <a:lvl4pPr marL="1233115" indent="0">
              <a:buNone/>
              <a:defRPr sz="1438" b="1"/>
            </a:lvl4pPr>
            <a:lvl5pPr marL="1644154" indent="0">
              <a:buNone/>
              <a:defRPr sz="1438" b="1"/>
            </a:lvl5pPr>
            <a:lvl6pPr marL="2055192" indent="0">
              <a:buNone/>
              <a:defRPr sz="1438" b="1"/>
            </a:lvl6pPr>
            <a:lvl7pPr marL="2466231" indent="0">
              <a:buNone/>
              <a:defRPr sz="1438" b="1"/>
            </a:lvl7pPr>
            <a:lvl8pPr marL="2877269" indent="0">
              <a:buNone/>
              <a:defRPr sz="1438" b="1"/>
            </a:lvl8pPr>
            <a:lvl9pPr marL="3288308" indent="0">
              <a:buNone/>
              <a:defRPr sz="143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72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8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88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877"/>
            </a:lvl1pPr>
            <a:lvl2pPr>
              <a:defRPr sz="2517"/>
            </a:lvl2pPr>
            <a:lvl3pPr>
              <a:defRPr sz="215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438"/>
            </a:lvl1pPr>
            <a:lvl2pPr marL="411038" indent="0">
              <a:buNone/>
              <a:defRPr sz="1259"/>
            </a:lvl2pPr>
            <a:lvl3pPr marL="822077" indent="0">
              <a:buNone/>
              <a:defRPr sz="1079"/>
            </a:lvl3pPr>
            <a:lvl4pPr marL="1233115" indent="0">
              <a:buNone/>
              <a:defRPr sz="899"/>
            </a:lvl4pPr>
            <a:lvl5pPr marL="1644154" indent="0">
              <a:buNone/>
              <a:defRPr sz="899"/>
            </a:lvl5pPr>
            <a:lvl6pPr marL="2055192" indent="0">
              <a:buNone/>
              <a:defRPr sz="899"/>
            </a:lvl6pPr>
            <a:lvl7pPr marL="2466231" indent="0">
              <a:buNone/>
              <a:defRPr sz="899"/>
            </a:lvl7pPr>
            <a:lvl8pPr marL="2877269" indent="0">
              <a:buNone/>
              <a:defRPr sz="899"/>
            </a:lvl8pPr>
            <a:lvl9pPr marL="3288308" indent="0">
              <a:buNone/>
              <a:defRPr sz="89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52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2877"/>
            </a:lvl1pPr>
            <a:lvl2pPr marL="411038" indent="0">
              <a:buNone/>
              <a:defRPr sz="2517"/>
            </a:lvl2pPr>
            <a:lvl3pPr marL="822077" indent="0">
              <a:buNone/>
              <a:defRPr sz="2158"/>
            </a:lvl3pPr>
            <a:lvl4pPr marL="1233115" indent="0">
              <a:buNone/>
              <a:defRPr sz="1798"/>
            </a:lvl4pPr>
            <a:lvl5pPr marL="1644154" indent="0">
              <a:buNone/>
              <a:defRPr sz="1798"/>
            </a:lvl5pPr>
            <a:lvl6pPr marL="2055192" indent="0">
              <a:buNone/>
              <a:defRPr sz="1798"/>
            </a:lvl6pPr>
            <a:lvl7pPr marL="2466231" indent="0">
              <a:buNone/>
              <a:defRPr sz="1798"/>
            </a:lvl7pPr>
            <a:lvl8pPr marL="2877269" indent="0">
              <a:buNone/>
              <a:defRPr sz="1798"/>
            </a:lvl8pPr>
            <a:lvl9pPr marL="3288308" indent="0">
              <a:buNone/>
              <a:defRPr sz="17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438"/>
            </a:lvl1pPr>
            <a:lvl2pPr marL="411038" indent="0">
              <a:buNone/>
              <a:defRPr sz="1259"/>
            </a:lvl2pPr>
            <a:lvl3pPr marL="822077" indent="0">
              <a:buNone/>
              <a:defRPr sz="1079"/>
            </a:lvl3pPr>
            <a:lvl4pPr marL="1233115" indent="0">
              <a:buNone/>
              <a:defRPr sz="899"/>
            </a:lvl4pPr>
            <a:lvl5pPr marL="1644154" indent="0">
              <a:buNone/>
              <a:defRPr sz="899"/>
            </a:lvl5pPr>
            <a:lvl6pPr marL="2055192" indent="0">
              <a:buNone/>
              <a:defRPr sz="899"/>
            </a:lvl6pPr>
            <a:lvl7pPr marL="2466231" indent="0">
              <a:buNone/>
              <a:defRPr sz="899"/>
            </a:lvl7pPr>
            <a:lvl8pPr marL="2877269" indent="0">
              <a:buNone/>
              <a:defRPr sz="899"/>
            </a:lvl8pPr>
            <a:lvl9pPr marL="3288308" indent="0">
              <a:buNone/>
              <a:defRPr sz="89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5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85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2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8042CAF-F633-7F29-E585-60D6F5E8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3DA24-2440-426A-9AD1-96310E9F49D5}" type="datetimeFigureOut">
              <a:rPr lang="en-US"/>
              <a:pPr>
                <a:defRPr/>
              </a:pPr>
              <a:t>8/27/2024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0529F2-19EF-7A12-574D-92548DE87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E7E68EC-EADF-01E3-C6CF-51076175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5E6366-349D-41D0-BCB9-27DB3BFD60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5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PK"/>
              <a:t>Lecture 1: Introduction to C++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Fall 2024 – Introduction to Programming Language mrkhowaja@iba.edu.pk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2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  <p:txStyles>
    <p:titleStyle>
      <a:lvl1pPr algn="l" defTabSz="822077" rtl="0" eaLnBrk="1" latinLnBrk="0" hangingPunct="1">
        <a:lnSpc>
          <a:spcPct val="90000"/>
        </a:lnSpc>
        <a:spcBef>
          <a:spcPct val="0"/>
        </a:spcBef>
        <a:buNone/>
        <a:defRPr sz="39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519" indent="-205519" algn="l" defTabSz="822077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2517" kern="1200">
          <a:solidFill>
            <a:schemeClr val="tx1"/>
          </a:solidFill>
          <a:latin typeface="+mn-lt"/>
          <a:ea typeface="+mn-ea"/>
          <a:cs typeface="+mn-cs"/>
        </a:defRPr>
      </a:lvl1pPr>
      <a:lvl2pPr marL="616558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2158" kern="1200">
          <a:solidFill>
            <a:schemeClr val="tx1"/>
          </a:solidFill>
          <a:latin typeface="+mn-lt"/>
          <a:ea typeface="+mn-ea"/>
          <a:cs typeface="+mn-cs"/>
        </a:defRPr>
      </a:lvl2pPr>
      <a:lvl3pPr marL="1027596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438635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4pPr>
      <a:lvl5pPr marL="1849673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5pPr>
      <a:lvl6pPr marL="2260712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6pPr>
      <a:lvl7pPr marL="2671750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7pPr>
      <a:lvl8pPr marL="3082788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8pPr>
      <a:lvl9pPr marL="3493827" indent="-205519" algn="l" defTabSz="822077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1pPr>
      <a:lvl2pPr marL="411038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2pPr>
      <a:lvl3pPr marL="822077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3pPr>
      <a:lvl4pPr marL="1233115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4pPr>
      <a:lvl5pPr marL="1644154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5pPr>
      <a:lvl6pPr marL="2055192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6pPr>
      <a:lvl7pPr marL="2466231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7pPr>
      <a:lvl8pPr marL="2877269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8pPr>
      <a:lvl9pPr marL="3288308" algn="l" defTabSz="822077" rtl="0" eaLnBrk="1" latinLnBrk="0" hangingPunct="1">
        <a:defRPr sz="16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64B2-65A5-46BB-B874-C4E0E3A52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626" y="3081167"/>
            <a:ext cx="10906538" cy="1209740"/>
          </a:xfrm>
        </p:spPr>
        <p:txBody>
          <a:bodyPr>
            <a:noAutofit/>
          </a:bodyPr>
          <a:lstStyle/>
          <a:p>
            <a:r>
              <a:rPr lang="en-GB" sz="5400" dirty="0"/>
              <a:t>Introduction to Programming </a:t>
            </a:r>
            <a:br>
              <a:rPr lang="en-GB" sz="5400" dirty="0"/>
            </a:br>
            <a:r>
              <a:rPr lang="en-GB" sz="5400" dirty="0"/>
              <a:t>(CSE-141)</a:t>
            </a:r>
            <a:br>
              <a:rPr lang="en-GB" sz="5400" dirty="0"/>
            </a:b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F4DCD-1FDE-41A8-AEF2-CB148BA13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373" y="4128556"/>
            <a:ext cx="6831673" cy="774747"/>
          </a:xfrm>
        </p:spPr>
        <p:txBody>
          <a:bodyPr>
            <a:normAutofit/>
          </a:bodyPr>
          <a:lstStyle/>
          <a:p>
            <a:r>
              <a:rPr lang="en-GB" sz="3600" dirty="0"/>
              <a:t>Lecture 2: Variable and Datatypes</a:t>
            </a:r>
          </a:p>
        </p:txBody>
      </p:sp>
    </p:spTree>
    <p:extLst>
      <p:ext uri="{BB962C8B-B14F-4D97-AF65-F5344CB8AC3E}">
        <p14:creationId xmlns:p14="http://schemas.microsoft.com/office/powerpoint/2010/main" val="49650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9616BB8-CFBF-33B2-5212-B9399C72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Insertion Operator ( &lt;&lt;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8EAD-2B5A-FBCD-5204-608C0338B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Variable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b="1" dirty="0">
                <a:solidFill>
                  <a:srgbClr val="0000CC"/>
                </a:solidFill>
              </a:rPr>
              <a:t>cout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/>
              <a:t>is predefined to denote an </a:t>
            </a:r>
            <a:r>
              <a:rPr lang="en-US" dirty="0">
                <a:solidFill>
                  <a:srgbClr val="0000CC"/>
                </a:solidFill>
              </a:rPr>
              <a:t>output stream that goes to the standard output device</a:t>
            </a:r>
            <a:r>
              <a:rPr lang="en-US" dirty="0"/>
              <a:t> (display screen).</a:t>
            </a:r>
            <a:endParaRPr lang="en-US" sz="3600" dirty="0"/>
          </a:p>
          <a:p>
            <a:pPr>
              <a:buNone/>
              <a:defRPr/>
            </a:pPr>
            <a:endParaRPr lang="en-US" sz="1800" b="1" dirty="0"/>
          </a:p>
          <a:p>
            <a:pPr>
              <a:defRPr/>
            </a:pPr>
            <a:r>
              <a:rPr lang="en-US" dirty="0"/>
              <a:t>The insertion operator  </a:t>
            </a:r>
            <a:r>
              <a:rPr lang="en-US" b="1" dirty="0">
                <a:solidFill>
                  <a:srgbClr val="0000CC"/>
                </a:solidFill>
              </a:rPr>
              <a:t>&lt;&lt;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/>
              <a:t> called </a:t>
            </a:r>
            <a:r>
              <a:rPr lang="en-US" dirty="0">
                <a:solidFill>
                  <a:srgbClr val="0000CC"/>
                </a:solidFill>
              </a:rPr>
              <a:t>“put to”</a:t>
            </a:r>
            <a:r>
              <a:rPr lang="en-US" dirty="0"/>
              <a:t> takes 2 operands.</a:t>
            </a:r>
            <a:endParaRPr lang="en-US" sz="3600" dirty="0"/>
          </a:p>
          <a:p>
            <a:pPr>
              <a:buNone/>
              <a:defRPr/>
            </a:pPr>
            <a:r>
              <a:rPr lang="en-US" sz="1800" b="1" dirty="0"/>
              <a:t> </a:t>
            </a:r>
          </a:p>
          <a:p>
            <a:pPr>
              <a:defRPr/>
            </a:pPr>
            <a:r>
              <a:rPr lang="en-US" dirty="0"/>
              <a:t>The left operand is a stream expression, such as </a:t>
            </a:r>
            <a:r>
              <a:rPr lang="en-US" b="1" dirty="0">
                <a:solidFill>
                  <a:srgbClr val="0000CC"/>
                </a:solidFill>
              </a:rPr>
              <a:t>cout</a:t>
            </a:r>
            <a:r>
              <a:rPr lang="en-US" dirty="0"/>
              <a:t>.  The right operand is an </a:t>
            </a:r>
            <a:r>
              <a:rPr lang="en-US" b="1" dirty="0">
                <a:solidFill>
                  <a:srgbClr val="00B0F0"/>
                </a:solidFill>
              </a:rPr>
              <a:t>expression</a:t>
            </a:r>
            <a:r>
              <a:rPr lang="en-US" dirty="0"/>
              <a:t> of simple type or a </a:t>
            </a:r>
            <a:r>
              <a:rPr lang="en-US" b="1" dirty="0">
                <a:solidFill>
                  <a:srgbClr val="00B0F0"/>
                </a:solidFill>
              </a:rPr>
              <a:t>string constant</a:t>
            </a:r>
            <a:r>
              <a:rPr lang="en-US" sz="3600" dirty="0"/>
              <a:t>.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42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7F078D2-ABE9-167C-14B0-726F18CCF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24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Output Statements</a:t>
            </a:r>
          </a:p>
        </p:txBody>
      </p:sp>
      <p:grpSp>
        <p:nvGrpSpPr>
          <p:cNvPr id="20483" name="Group 2">
            <a:extLst>
              <a:ext uri="{FF2B5EF4-FFF2-40B4-BE49-F238E27FC236}">
                <a16:creationId xmlns:a16="http://schemas.microsoft.com/office/drawing/2014/main" id="{415FEB79-DCA2-3AF6-64B2-D3A358EA7D9E}"/>
              </a:ext>
            </a:extLst>
          </p:cNvPr>
          <p:cNvGrpSpPr>
            <a:grpSpLocks/>
          </p:cNvGrpSpPr>
          <p:nvPr/>
        </p:nvGrpSpPr>
        <p:grpSpPr bwMode="auto">
          <a:xfrm>
            <a:off x="2444750" y="4197350"/>
            <a:ext cx="7378700" cy="2044700"/>
            <a:chOff x="580" y="2644"/>
            <a:chExt cx="4648" cy="1288"/>
          </a:xfrm>
        </p:grpSpPr>
        <p:sp>
          <p:nvSpPr>
            <p:cNvPr id="20488" name="Rectangle 3">
              <a:extLst>
                <a:ext uri="{FF2B5EF4-FFF2-40B4-BE49-F238E27FC236}">
                  <a16:creationId xmlns:a16="http://schemas.microsoft.com/office/drawing/2014/main" id="{626C7E7A-6060-F4C4-FCE2-B3264F7C9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" y="2644"/>
              <a:ext cx="4648" cy="618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89" name="Rectangle 4">
              <a:extLst>
                <a:ext uri="{FF2B5EF4-FFF2-40B4-BE49-F238E27FC236}">
                  <a16:creationId xmlns:a16="http://schemas.microsoft.com/office/drawing/2014/main" id="{F5144B5E-1E53-3B84-31AF-D030E534D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" y="3404"/>
              <a:ext cx="4648" cy="528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0484" name="Rectangle 6">
            <a:extLst>
              <a:ext uri="{FF2B5EF4-FFF2-40B4-BE49-F238E27FC236}">
                <a16:creationId xmlns:a16="http://schemas.microsoft.com/office/drawing/2014/main" id="{B2815682-8294-55CB-7869-2AD6F61E9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600200"/>
            <a:ext cx="7848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en-US" altLang="en-US" sz="2800" b="1">
                <a:solidFill>
                  <a:srgbClr val="A50021"/>
                </a:solidFill>
              </a:rPr>
              <a:t>SYNTAX</a:t>
            </a:r>
            <a:endParaRPr lang="en-US" altLang="en-US"/>
          </a:p>
          <a:p>
            <a:pPr eaLnBrk="1" hangingPunct="1">
              <a:buFont typeface="Monotype Sorts" pitchFamily="2" charset="2"/>
              <a:buNone/>
            </a:pPr>
            <a:endParaRPr lang="en-US" altLang="en-US"/>
          </a:p>
          <a:p>
            <a:pPr eaLnBrk="1" hangingPunct="1">
              <a:buFont typeface="Monotype Sorts" pitchFamily="2" charset="2"/>
              <a:buNone/>
            </a:pPr>
            <a:endParaRPr lang="en-US" altLang="en-US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400"/>
              <a:t>   </a:t>
            </a:r>
            <a:r>
              <a:rPr lang="en-US" altLang="en-US" sz="2400"/>
              <a:t>cout statements can be linked together using </a:t>
            </a:r>
            <a:r>
              <a:rPr lang="en-US" altLang="en-US" sz="2400" b="1"/>
              <a:t>&lt;&lt;</a:t>
            </a:r>
            <a:r>
              <a:rPr lang="en-US" altLang="en-US" sz="2400"/>
              <a:t> operator.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b="1">
                <a:solidFill>
                  <a:srgbClr val="A50021"/>
                </a:solidFill>
              </a:rPr>
              <a:t>  </a:t>
            </a:r>
            <a:r>
              <a:rPr lang="en-US" altLang="en-US" sz="2400"/>
              <a:t>These examples yield the same output: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1200" b="1">
              <a:solidFill>
                <a:schemeClr val="accent2"/>
              </a:solidFill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b="1">
                <a:solidFill>
                  <a:schemeClr val="bg2"/>
                </a:solidFill>
              </a:rPr>
              <a:t>	</a:t>
            </a:r>
            <a:r>
              <a:rPr lang="en-US" altLang="en-US" sz="2400" b="1"/>
              <a:t>cout  &lt;&lt;  “The answer is “ 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b="1"/>
              <a:t>	cout  &lt;&lt;  3 * 4 ;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400" b="1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b="1"/>
              <a:t>	cout  &lt;&lt;  “The answer is “  &lt;&lt;  3 * 4 ;</a:t>
            </a:r>
          </a:p>
        </p:txBody>
      </p:sp>
      <p:sp>
        <p:nvSpPr>
          <p:cNvPr id="20485" name="Rectangle 7">
            <a:extLst>
              <a:ext uri="{FF2B5EF4-FFF2-40B4-BE49-F238E27FC236}">
                <a16:creationId xmlns:a16="http://schemas.microsoft.com/office/drawing/2014/main" id="{B211D9EC-4099-3130-DE64-3FD916EE1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292350"/>
            <a:ext cx="7378700" cy="9017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86" name="Rectangle 8">
            <a:extLst>
              <a:ext uri="{FF2B5EF4-FFF2-40B4-BE49-F238E27FC236}">
                <a16:creationId xmlns:a16="http://schemas.microsoft.com/office/drawing/2014/main" id="{8F785C63-BA29-2854-9661-746A0E9FE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501900"/>
            <a:ext cx="1752600" cy="520700"/>
          </a:xfrm>
          <a:prstGeom prst="rect">
            <a:avLst/>
          </a:prstGeom>
          <a:solidFill>
            <a:srgbClr val="FFCC6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87" name="Rectangle 9">
            <a:extLst>
              <a:ext uri="{FF2B5EF4-FFF2-40B4-BE49-F238E27FC236}">
                <a16:creationId xmlns:a16="http://schemas.microsoft.com/office/drawing/2014/main" id="{5B76E1D4-4CC4-EFAB-EC2E-967692CAC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726" y="2498725"/>
            <a:ext cx="4092915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cout  &lt;&lt;  </a:t>
            </a:r>
            <a:r>
              <a:rPr lang="en-US" altLang="en-US" sz="1800" b="1" i="1"/>
              <a:t>Expression</a:t>
            </a:r>
            <a:r>
              <a:rPr lang="en-US" altLang="en-US" sz="1800" b="1"/>
              <a:t>    &lt;&lt; </a:t>
            </a:r>
            <a:r>
              <a:rPr lang="en-US" altLang="en-US" sz="1800" b="1" i="1"/>
              <a:t>Expression</a:t>
            </a:r>
            <a:r>
              <a:rPr lang="en-US" altLang="en-US" sz="1800" b="1"/>
              <a:t>  . . . ;</a:t>
            </a:r>
          </a:p>
        </p:txBody>
      </p:sp>
    </p:spTree>
    <p:extLst>
      <p:ext uri="{BB962C8B-B14F-4D97-AF65-F5344CB8AC3E}">
        <p14:creationId xmlns:p14="http://schemas.microsoft.com/office/powerpoint/2010/main" val="256628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D15D-41EC-5B02-88EB-91767C96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2097"/>
            <a:ext cx="10515600" cy="132556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Output Statements (String constant)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81A4E25D-357B-D488-478C-6DA016ABD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700"/>
              <a:t>String constants (in double quotes) are to be printed as is, without the quotes.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b="1"/>
              <a:t>cout&lt;&lt;“Enter the number of candy bars </a:t>
            </a:r>
            <a:r>
              <a:rPr lang="en-US" altLang="en-US" sz="2400"/>
              <a:t>”;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b="1"/>
              <a:t>OUTPUT:   </a:t>
            </a:r>
            <a:r>
              <a:rPr lang="en-US" altLang="en-US" sz="2400">
                <a:solidFill>
                  <a:schemeClr val="accent2"/>
                </a:solidFill>
              </a:rPr>
              <a:t>Enter the number of candy bars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 b="1"/>
              <a:t>“Enter the number of candy bars ” </a:t>
            </a:r>
            <a:r>
              <a:rPr lang="en-US" altLang="en-US" sz="2700"/>
              <a:t>is called a </a:t>
            </a:r>
            <a:r>
              <a:rPr lang="en-US" altLang="en-US" sz="2700" b="1">
                <a:solidFill>
                  <a:schemeClr val="accent1"/>
                </a:solidFill>
              </a:rPr>
              <a:t>prompt</a:t>
            </a:r>
            <a:r>
              <a:rPr lang="en-US" altLang="en-US" sz="27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All user inputs must be preceded by a </a:t>
            </a:r>
            <a:r>
              <a:rPr lang="en-US" altLang="en-US" sz="2700" b="1">
                <a:solidFill>
                  <a:schemeClr val="accent1"/>
                </a:solidFill>
              </a:rPr>
              <a:t>prompt</a:t>
            </a:r>
            <a:r>
              <a:rPr lang="en-US" altLang="en-US" sz="2700"/>
              <a:t> to tell the user what is expected.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You must insert </a:t>
            </a:r>
            <a:r>
              <a:rPr lang="en-US" altLang="en-US" sz="2700" b="1"/>
              <a:t>spaces</a:t>
            </a:r>
            <a:r>
              <a:rPr lang="en-US" altLang="en-US" sz="2700"/>
              <a:t> inside the quotes if you want them in the output.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/>
              <a:t>Do not put a string in quotes on multiple lines.</a:t>
            </a:r>
          </a:p>
        </p:txBody>
      </p:sp>
    </p:spTree>
    <p:extLst>
      <p:ext uri="{BB962C8B-B14F-4D97-AF65-F5344CB8AC3E}">
        <p14:creationId xmlns:p14="http://schemas.microsoft.com/office/powerpoint/2010/main" val="152688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B98D582-FE52-562A-D482-97B48E81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5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Output Statements (Expression)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AAB825C-7E5F-A754-3490-404A43F37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All expressions are computed and then outputted.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b="1"/>
              <a:t>cout  &lt;&lt;  “The answer is ”  &lt;&lt;  3 * 4 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b="1"/>
              <a:t>OUTPUT:   </a:t>
            </a:r>
            <a:r>
              <a:rPr lang="en-US" altLang="en-US">
                <a:solidFill>
                  <a:schemeClr val="accent2"/>
                </a:solidFill>
              </a:rPr>
              <a:t>The answer is 12</a:t>
            </a:r>
            <a:endParaRPr lang="en-US" altLang="en-US" b="1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26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>
            <a:extLst>
              <a:ext uri="{FF2B5EF4-FFF2-40B4-BE49-F238E27FC236}">
                <a16:creationId xmlns:a16="http://schemas.microsoft.com/office/drawing/2014/main" id="{816B1296-3A6F-7281-7E2E-173C4F5CAE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73224" y="1231641"/>
            <a:ext cx="8151845" cy="3278157"/>
          </a:xfrm>
        </p:spPr>
        <p:txBody>
          <a:bodyPr>
            <a:noAutofit/>
          </a:bodyPr>
          <a:lstStyle/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1      </a:t>
            </a:r>
            <a:r>
              <a:rPr lang="en-US" altLang="en-PK" sz="1600" dirty="0">
                <a:solidFill>
                  <a:srgbClr val="008000"/>
                </a:solidFill>
                <a:cs typeface="Courier New" panose="02070309020205020404" pitchFamily="49" charset="0"/>
              </a:rPr>
              <a:t>// FirstProgram.cpp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2      </a:t>
            </a:r>
            <a:r>
              <a:rPr lang="en-US" altLang="en-PK" sz="1600" dirty="0">
                <a:solidFill>
                  <a:srgbClr val="008000"/>
                </a:solidFill>
                <a:cs typeface="Courier New" panose="02070309020205020404" pitchFamily="49" charset="0"/>
              </a:rPr>
              <a:t>// Printing multiple lines with a single statement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3      </a:t>
            </a:r>
            <a:r>
              <a:rPr lang="en-US" altLang="en-PK" sz="1600" dirty="0">
                <a:solidFill>
                  <a:srgbClr val="0000FF"/>
                </a:solidFill>
                <a:cs typeface="Courier New" panose="02070309020205020404" pitchFamily="49" charset="0"/>
              </a:rPr>
              <a:t>#include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 &lt;iostream&gt;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4      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5      </a:t>
            </a:r>
            <a:r>
              <a:rPr lang="en-US" altLang="en-PK" sz="1600" dirty="0">
                <a:solidFill>
                  <a:srgbClr val="008000"/>
                </a:solidFill>
                <a:cs typeface="Courier New" panose="02070309020205020404" pitchFamily="49" charset="0"/>
              </a:rPr>
              <a:t>// function main begins program execution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6      </a:t>
            </a:r>
            <a:r>
              <a:rPr lang="en-US" altLang="en-PK" sz="1600" dirty="0">
                <a:solidFill>
                  <a:srgbClr val="0000FF"/>
                </a:solidFill>
                <a:cs typeface="Courier New" panose="02070309020205020404" pitchFamily="49" charset="0"/>
              </a:rPr>
              <a:t>int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 main()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7      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{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8      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   std::</a:t>
            </a:r>
            <a:r>
              <a:rPr lang="en-US" altLang="en-PK" sz="1600" dirty="0" err="1">
                <a:solidFill>
                  <a:srgbClr val="000000"/>
                </a:solidFill>
                <a:cs typeface="Courier New" panose="02070309020205020404" pitchFamily="49" charset="0"/>
              </a:rPr>
              <a:t>cout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 &lt;&lt; </a:t>
            </a:r>
            <a:r>
              <a:rPr lang="en-US" altLang="en-PK" sz="1600" dirty="0">
                <a:solidFill>
                  <a:srgbClr val="0099FF"/>
                </a:solidFill>
                <a:cs typeface="Courier New" panose="02070309020205020404" pitchFamily="49" charset="0"/>
              </a:rPr>
              <a:t>"Welcome\</a:t>
            </a:r>
            <a:r>
              <a:rPr lang="en-US" altLang="en-PK" sz="1600" dirty="0" err="1">
                <a:solidFill>
                  <a:srgbClr val="0099FF"/>
                </a:solidFill>
                <a:cs typeface="Courier New" panose="02070309020205020404" pitchFamily="49" charset="0"/>
              </a:rPr>
              <a:t>nto</a:t>
            </a:r>
            <a:r>
              <a:rPr lang="en-US" altLang="en-PK" sz="1600" dirty="0">
                <a:solidFill>
                  <a:srgbClr val="0099FF"/>
                </a:solidFill>
                <a:cs typeface="Courier New" panose="02070309020205020404" pitchFamily="49" charset="0"/>
              </a:rPr>
              <a:t>\n\</a:t>
            </a:r>
            <a:r>
              <a:rPr lang="en-US" altLang="en-PK" sz="1600" dirty="0" err="1">
                <a:solidFill>
                  <a:srgbClr val="0099FF"/>
                </a:solidFill>
                <a:cs typeface="Courier New" panose="02070309020205020404" pitchFamily="49" charset="0"/>
              </a:rPr>
              <a:t>nC</a:t>
            </a:r>
            <a:r>
              <a:rPr lang="en-US" altLang="en-PK" sz="1600" dirty="0">
                <a:solidFill>
                  <a:srgbClr val="0099FF"/>
                </a:solidFill>
                <a:cs typeface="Courier New" panose="02070309020205020404" pitchFamily="49" charset="0"/>
              </a:rPr>
              <a:t>++!\n"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9      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10    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   </a:t>
            </a:r>
            <a:r>
              <a:rPr lang="en-US" altLang="en-PK" sz="1600" dirty="0">
                <a:solidFill>
                  <a:srgbClr val="0000FF"/>
                </a:solidFill>
                <a:cs typeface="Courier New" panose="02070309020205020404" pitchFamily="49" charset="0"/>
              </a:rPr>
              <a:t>return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en-PK" sz="1600" dirty="0">
                <a:solidFill>
                  <a:srgbClr val="0099FF"/>
                </a:solidFill>
                <a:cs typeface="Courier New" panose="02070309020205020404" pitchFamily="49" charset="0"/>
              </a:rPr>
              <a:t>0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;   </a:t>
            </a:r>
            <a:r>
              <a:rPr lang="en-US" altLang="en-PK" sz="1600" dirty="0">
                <a:solidFill>
                  <a:srgbClr val="008000"/>
                </a:solidFill>
                <a:cs typeface="Courier New" panose="02070309020205020404" pitchFamily="49" charset="0"/>
              </a:rPr>
              <a:t>// indicate that program ended successfully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11    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r>
              <a:rPr lang="en-US" altLang="en-PK" sz="1600" dirty="0">
                <a:solidFill>
                  <a:srgbClr val="5F5F5F"/>
                </a:solidFill>
                <a:latin typeface="AvantGarde" pitchFamily="34" charset="0"/>
                <a:cs typeface="Times New Roman" panose="02020603050405020304" pitchFamily="18" charset="0"/>
              </a:rPr>
              <a:t>12    </a:t>
            </a:r>
            <a:r>
              <a:rPr lang="en-US" altLang="en-PK" sz="16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  <a:r>
              <a:rPr lang="en-US" altLang="en-PK" sz="1600" dirty="0">
                <a:solidFill>
                  <a:srgbClr val="008000"/>
                </a:solidFill>
                <a:cs typeface="Courier New" panose="02070309020205020404" pitchFamily="49" charset="0"/>
              </a:rPr>
              <a:t> // end function main</a:t>
            </a:r>
            <a:endParaRPr lang="en-US" altLang="en-PK" sz="1600" dirty="0">
              <a:solidFill>
                <a:srgbClr val="000000"/>
              </a:solidFill>
              <a:latin typeface="Courier" pitchFamily="49" charset="0"/>
              <a:cs typeface="Times New Roman" panose="02020603050405020304" pitchFamily="18" charset="0"/>
            </a:endParaRPr>
          </a:p>
          <a:p>
            <a:pPr algn="l"/>
            <a:endParaRPr lang="en-US" altLang="en-PK" sz="1600" dirty="0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6CB8BC89-C88D-39AB-A3A3-B25D8A576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669" y="5431972"/>
            <a:ext cx="7010400" cy="11430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2880" bIns="182880"/>
          <a:lstStyle/>
          <a:p>
            <a:pPr algn="l">
              <a:spcBef>
                <a:spcPct val="20000"/>
              </a:spcBef>
            </a:pPr>
            <a:r>
              <a:rPr lang="en-US" altLang="en-PK" sz="12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Welcome</a:t>
            </a:r>
            <a:endParaRPr lang="en-US" altLang="en-PK" sz="1200">
              <a:solidFill>
                <a:srgbClr val="000000"/>
              </a:solidFill>
              <a:latin typeface="Courier" pitchFamily="49" charset="0"/>
            </a:endParaRPr>
          </a:p>
          <a:p>
            <a:pPr algn="l">
              <a:spcBef>
                <a:spcPct val="20000"/>
              </a:spcBef>
            </a:pPr>
            <a:r>
              <a:rPr lang="en-US" altLang="en-PK" sz="12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endParaRPr lang="en-US" altLang="en-PK" sz="1200">
              <a:solidFill>
                <a:srgbClr val="000000"/>
              </a:solidFill>
              <a:latin typeface="Courier" pitchFamily="49" charset="0"/>
            </a:endParaRPr>
          </a:p>
          <a:p>
            <a:pPr algn="l">
              <a:spcBef>
                <a:spcPct val="20000"/>
              </a:spcBef>
            </a:pPr>
            <a:r>
              <a:rPr lang="en-US" altLang="en-PK" sz="1200">
                <a:latin typeface="Times New Roman" panose="02020603050405020304" pitchFamily="18" charset="0"/>
              </a:rPr>
              <a:t> </a:t>
            </a:r>
            <a:endParaRPr lang="en-US" altLang="en-PK" sz="1200">
              <a:solidFill>
                <a:srgbClr val="000000"/>
              </a:solidFill>
              <a:latin typeface="Courier" pitchFamily="49" charset="0"/>
            </a:endParaRPr>
          </a:p>
          <a:p>
            <a:pPr algn="l">
              <a:spcBef>
                <a:spcPct val="20000"/>
              </a:spcBef>
            </a:pPr>
            <a:r>
              <a:rPr lang="en-US" altLang="en-PK" sz="1200">
                <a:latin typeface="Courier New" panose="02070309020205020404" pitchFamily="49" charset="0"/>
              </a:rPr>
              <a:t>C++!</a:t>
            </a:r>
            <a:r>
              <a:rPr lang="en-US" altLang="en-PK" sz="12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F93617C7-C89C-94C6-E703-1FCCDCDC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K"/>
              <a:t>C++ Programming: From Problem Analysis to Program Design, Fourth Edition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FD7C2380-A509-D40B-0605-1B703D07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32B45B0-5776-411E-907F-6941F3BAAB5C}" type="slidenum">
              <a:rPr lang="en-US" altLang="en-PK"/>
              <a:pPr eaLnBrk="1" hangingPunct="1"/>
              <a:t>7</a:t>
            </a:fld>
            <a:endParaRPr lang="en-US" altLang="en-PK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F91C40CB-95DF-254A-4B85-8F42D1BEF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8323" y="18254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PK" dirty="0" err="1">
                <a:solidFill>
                  <a:schemeClr val="bg1"/>
                </a:solidFill>
                <a:latin typeface="Courier New" panose="02070309020205020404" pitchFamily="49" charset="0"/>
              </a:rPr>
              <a:t>cin</a:t>
            </a:r>
            <a:r>
              <a:rPr lang="en-US" altLang="en-PK" dirty="0">
                <a:solidFill>
                  <a:schemeClr val="bg1"/>
                </a:solidFill>
              </a:rPr>
              <a:t> and the Extraction Operator &gt;&gt;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96060A9-B93A-4ABE-E4FE-76C7308BE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K" dirty="0"/>
              <a:t>Cin is used for user input</a:t>
            </a:r>
          </a:p>
          <a:p>
            <a:pPr eaLnBrk="1" hangingPunct="1"/>
            <a:r>
              <a:rPr lang="en-US" altLang="en-PK" dirty="0"/>
              <a:t>The syntax of an input statement using </a:t>
            </a:r>
            <a:r>
              <a:rPr lang="en-US" altLang="en-PK" dirty="0" err="1">
                <a:latin typeface="Courier New" panose="02070309020205020404" pitchFamily="49" charset="0"/>
              </a:rPr>
              <a:t>cin</a:t>
            </a:r>
            <a:r>
              <a:rPr lang="en-US" altLang="en-PK" dirty="0"/>
              <a:t> and the extraction operator </a:t>
            </a:r>
            <a:r>
              <a:rPr lang="en-US" altLang="en-PK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altLang="en-PK" dirty="0"/>
              <a:t> is: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PK" dirty="0"/>
              <a:t>		</a:t>
            </a:r>
            <a:endParaRPr lang="en-US" altLang="en-PK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PK" dirty="0"/>
              <a:t>The extraction operator </a:t>
            </a:r>
            <a:r>
              <a:rPr lang="en-US" altLang="en-PK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altLang="en-PK" dirty="0"/>
              <a:t> is binary</a:t>
            </a:r>
          </a:p>
          <a:p>
            <a:pPr lvl="1" eaLnBrk="1" hangingPunct="1"/>
            <a:r>
              <a:rPr lang="en-US" altLang="en-PK" dirty="0"/>
              <a:t>Left-side operand is an input stream variable</a:t>
            </a:r>
          </a:p>
          <a:p>
            <a:pPr lvl="2" eaLnBrk="1" hangingPunct="1"/>
            <a:r>
              <a:rPr lang="en-US" altLang="en-PK" dirty="0"/>
              <a:t>Example: </a:t>
            </a:r>
            <a:r>
              <a:rPr lang="en-US" altLang="en-PK" dirty="0" err="1">
                <a:latin typeface="Courier New" panose="02070309020205020404" pitchFamily="49" charset="0"/>
              </a:rPr>
              <a:t>cin</a:t>
            </a:r>
            <a:endParaRPr lang="en-US" altLang="en-PK" dirty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PK" dirty="0"/>
              <a:t>Right-side operand is a variable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EB804284-384B-652E-3DC1-47953FD89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895600"/>
            <a:ext cx="472598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BD03-BF2F-0205-EA2D-BFC6EA16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90" y="94539"/>
            <a:ext cx="9668069" cy="97848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Input using Cin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75F7-1808-A1B0-5813-C0E792424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94" y="1545708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int num;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"Enter a number: 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// take integer input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cin</a:t>
            </a:r>
            <a:r>
              <a:rPr lang="en-US" dirty="0"/>
              <a:t> &gt;&gt; num;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"You entered: " &lt;&lt; num;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4421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6B4CFD3F-2D87-FF37-4A8D-8609D3A2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70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What is an Identifier?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14E48-AA3B-7B40-FF5E-82CF21209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b="1" dirty="0">
                <a:latin typeface="+mj-lt"/>
              </a:rPr>
              <a:t>An </a:t>
            </a:r>
            <a:r>
              <a:rPr lang="en-US" b="1" dirty="0">
                <a:solidFill>
                  <a:srgbClr val="990000"/>
                </a:solidFill>
                <a:latin typeface="+mj-lt"/>
              </a:rPr>
              <a:t>identifier</a:t>
            </a:r>
            <a:r>
              <a:rPr lang="en-US" b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is the </a:t>
            </a:r>
            <a:r>
              <a:rPr lang="en-US" b="1" dirty="0">
                <a:solidFill>
                  <a:srgbClr val="990000"/>
                </a:solidFill>
                <a:latin typeface="+mj-lt"/>
              </a:rPr>
              <a:t>name </a:t>
            </a:r>
            <a:r>
              <a:rPr lang="en-US" dirty="0">
                <a:latin typeface="+mj-lt"/>
              </a:rPr>
              <a:t>to denote </a:t>
            </a:r>
            <a:r>
              <a:rPr lang="en-US" b="1" dirty="0">
                <a:solidFill>
                  <a:srgbClr val="0070C0"/>
                </a:solidFill>
                <a:latin typeface="+mj-lt"/>
              </a:rPr>
              <a:t>labels, types, variables, constants</a:t>
            </a:r>
            <a:r>
              <a:rPr lang="en-US" b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or </a:t>
            </a:r>
            <a:r>
              <a:rPr lang="en-US" b="1" dirty="0">
                <a:solidFill>
                  <a:srgbClr val="0070C0"/>
                </a:solidFill>
                <a:latin typeface="+mj-lt"/>
              </a:rPr>
              <a:t>functions</a:t>
            </a:r>
            <a:r>
              <a:rPr lang="en-US" b="1" dirty="0">
                <a:latin typeface="+mj-lt"/>
              </a:rPr>
              <a:t>,  </a:t>
            </a:r>
            <a:r>
              <a:rPr lang="en-US" dirty="0">
                <a:latin typeface="+mj-lt"/>
              </a:rPr>
              <a:t>in a C++ program.</a:t>
            </a:r>
            <a:r>
              <a:rPr lang="en-US" sz="1400" dirty="0">
                <a:latin typeface="+mj-lt"/>
              </a:rPr>
              <a:t>	</a:t>
            </a:r>
          </a:p>
          <a:p>
            <a:pPr>
              <a:defRPr/>
            </a:pPr>
            <a:r>
              <a:rPr lang="en-US" dirty="0">
                <a:latin typeface="+mj-lt"/>
              </a:rPr>
              <a:t>C++ is a </a:t>
            </a:r>
            <a:r>
              <a:rPr lang="en-US" b="1" dirty="0">
                <a:latin typeface="+mj-lt"/>
              </a:rPr>
              <a:t>case-sensitive</a:t>
            </a:r>
            <a:r>
              <a:rPr lang="en-US" dirty="0">
                <a:latin typeface="+mj-lt"/>
              </a:rPr>
              <a:t> language.</a:t>
            </a:r>
          </a:p>
          <a:p>
            <a:pPr lvl="1">
              <a:defRPr/>
            </a:pPr>
            <a:r>
              <a:rPr lang="en-US" b="1" dirty="0">
                <a:latin typeface="+mj-lt"/>
              </a:rPr>
              <a:t>Work</a:t>
            </a:r>
            <a:r>
              <a:rPr lang="en-US" dirty="0">
                <a:latin typeface="+mj-lt"/>
              </a:rPr>
              <a:t> is not</a:t>
            </a:r>
            <a:r>
              <a:rPr lang="en-US" b="1" dirty="0">
                <a:latin typeface="+mj-lt"/>
              </a:rPr>
              <a:t> work</a:t>
            </a:r>
          </a:p>
          <a:p>
            <a:pPr>
              <a:buNone/>
              <a:defRPr/>
            </a:pPr>
            <a:r>
              <a:rPr lang="en-US" sz="1400" dirty="0">
                <a:latin typeface="+mj-lt"/>
              </a:rPr>
              <a:t>	</a:t>
            </a:r>
          </a:p>
          <a:p>
            <a:pPr>
              <a:defRPr/>
            </a:pPr>
            <a:r>
              <a:rPr lang="en-US" b="1" dirty="0">
                <a:latin typeface="+mj-lt"/>
              </a:rPr>
              <a:t>Identifiers should be descriptive 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Using meaningful identifiers is a good programming practice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3B245EEC-A678-9065-35D9-C953A01B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6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Identifier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43CD3-ACFC-F3AF-9EA2-F78CF9BC0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>
              <a:defRPr/>
            </a:pPr>
            <a:r>
              <a:rPr lang="en-US" dirty="0"/>
              <a:t>Identifiers must be unique</a:t>
            </a:r>
          </a:p>
          <a:p>
            <a:pPr>
              <a:defRPr/>
            </a:pPr>
            <a:r>
              <a:rPr lang="en-US" dirty="0"/>
              <a:t>Identifiers cannot be reserved words (keywords)</a:t>
            </a:r>
          </a:p>
          <a:p>
            <a:pPr lvl="1">
              <a:defRPr/>
            </a:pPr>
            <a:r>
              <a:rPr lang="en-US" b="1" dirty="0"/>
              <a:t>double	main	return</a:t>
            </a:r>
          </a:p>
          <a:p>
            <a:pPr>
              <a:defRPr/>
            </a:pPr>
            <a:r>
              <a:rPr lang="en-US" dirty="0"/>
              <a:t>Identifier must start with a letter or underscore, and be followed by zero or more letters (A-Z, a-z), digits (0-9), or underscores</a:t>
            </a:r>
            <a:r>
              <a:rPr lang="en-US" sz="650" dirty="0"/>
              <a:t> 							</a:t>
            </a:r>
          </a:p>
          <a:p>
            <a:pPr>
              <a:defRPr/>
            </a:pPr>
            <a:r>
              <a:rPr lang="en-US" b="1" dirty="0">
                <a:solidFill>
                  <a:srgbClr val="006633"/>
                </a:solidFill>
              </a:rPr>
              <a:t>VALID</a:t>
            </a:r>
            <a:r>
              <a:rPr lang="en-US" b="1" dirty="0">
                <a:solidFill>
                  <a:srgbClr val="CC0000"/>
                </a:solidFill>
              </a:rPr>
              <a:t> </a:t>
            </a:r>
            <a:endParaRPr lang="en-US" dirty="0"/>
          </a:p>
          <a:p>
            <a:pPr>
              <a:buNone/>
              <a:defRPr/>
            </a:pPr>
            <a:r>
              <a:rPr lang="en-US" b="1" dirty="0"/>
              <a:t>	</a:t>
            </a:r>
            <a:r>
              <a:rPr lang="en-US" sz="2800" b="1" dirty="0" err="1"/>
              <a:t>age_of_dog</a:t>
            </a:r>
            <a:r>
              <a:rPr lang="en-US" sz="2800" b="1" dirty="0"/>
              <a:t>		_taxRateY2K</a:t>
            </a:r>
          </a:p>
          <a:p>
            <a:pPr>
              <a:buNone/>
              <a:defRPr/>
            </a:pPr>
            <a:r>
              <a:rPr lang="en-US" sz="2800" b="1" dirty="0"/>
              <a:t>	</a:t>
            </a:r>
            <a:r>
              <a:rPr lang="en-US" sz="2800" b="1" dirty="0" err="1"/>
              <a:t>PrintHeading</a:t>
            </a:r>
            <a:r>
              <a:rPr lang="en-US" sz="2800" b="1" dirty="0"/>
              <a:t>	  </a:t>
            </a:r>
            <a:r>
              <a:rPr lang="en-US" sz="2800" b="1" dirty="0" err="1"/>
              <a:t>ageOfHorse</a:t>
            </a:r>
            <a:r>
              <a:rPr lang="en-US" sz="1050" dirty="0"/>
              <a:t>				</a:t>
            </a:r>
          </a:p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NOT VALID  </a:t>
            </a:r>
            <a:r>
              <a:rPr lang="en-US" b="1" dirty="0"/>
              <a:t>	</a:t>
            </a:r>
            <a:r>
              <a:rPr lang="en-US" dirty="0"/>
              <a:t>			</a:t>
            </a:r>
            <a:endParaRPr lang="en-US" dirty="0">
              <a:latin typeface="Courier New" pitchFamily="49" charset="0"/>
            </a:endParaRPr>
          </a:p>
          <a:p>
            <a:pPr>
              <a:buNone/>
              <a:defRPr/>
            </a:pPr>
            <a:r>
              <a:rPr lang="en-US" sz="2800" b="1" dirty="0">
                <a:latin typeface="Monaco" charset="0"/>
              </a:rPr>
              <a:t>	</a:t>
            </a:r>
            <a:r>
              <a:rPr lang="en-US" sz="2800" b="1" dirty="0"/>
              <a:t>age#                2000TaxRate	        Age-Of-Dog	main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74318-26D4-CFEC-C229-C138122DF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08" y="10263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C++ keywords and reserved words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32422-55EA-CC7E-EEDF-4D14F3324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9592"/>
            <a:ext cx="1681065" cy="535577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alignas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and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and_eq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asm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atomic_cancel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atomic_commit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atomic_noexcept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auto 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bitand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bitor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bool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break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case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catch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char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char8_t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char16_t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char32_t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class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FD882C-41DB-BBB8-B961-65AD76BC163E}"/>
              </a:ext>
            </a:extLst>
          </p:cNvPr>
          <p:cNvSpPr txBox="1">
            <a:spLocks/>
          </p:cNvSpPr>
          <p:nvPr/>
        </p:nvSpPr>
        <p:spPr>
          <a:xfrm>
            <a:off x="3006012" y="1393371"/>
            <a:ext cx="1681065" cy="5355771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compl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concept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const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consteval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constexpr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constinit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const_cast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continue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co_await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co_return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co_yield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decltype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default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delete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double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dynamic_cast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enum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explicit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11E31F-C53B-E41E-1D22-5B6F0D1223E8}"/>
              </a:ext>
            </a:extLst>
          </p:cNvPr>
          <p:cNvSpPr txBox="1">
            <a:spLocks/>
          </p:cNvSpPr>
          <p:nvPr/>
        </p:nvSpPr>
        <p:spPr>
          <a:xfrm>
            <a:off x="5217360" y="1393369"/>
            <a:ext cx="1681065" cy="5355771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export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extern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false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float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for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friend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goto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if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inline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long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mutable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namespace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new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noexcept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not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not_eq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operator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44363E-FEF5-1C86-A5B5-741141137638}"/>
              </a:ext>
            </a:extLst>
          </p:cNvPr>
          <p:cNvSpPr txBox="1">
            <a:spLocks/>
          </p:cNvSpPr>
          <p:nvPr/>
        </p:nvSpPr>
        <p:spPr>
          <a:xfrm>
            <a:off x="7456708" y="1393370"/>
            <a:ext cx="1681065" cy="5355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or_eq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private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protected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public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reflexpr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register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reinterpret_cast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requires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short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signed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static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static_assert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static_cast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struct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switch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synchronized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8F78705-7A45-9492-4667-52AA225C3C38}"/>
              </a:ext>
            </a:extLst>
          </p:cNvPr>
          <p:cNvSpPr txBox="1">
            <a:spLocks/>
          </p:cNvSpPr>
          <p:nvPr/>
        </p:nvSpPr>
        <p:spPr>
          <a:xfrm>
            <a:off x="9198423" y="1048134"/>
            <a:ext cx="1681065" cy="5355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template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this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 err="1">
                <a:solidFill>
                  <a:srgbClr val="3B3B3B"/>
                </a:solidFill>
                <a:latin typeface="Consolas" panose="020B0609020204030204" pitchFamily="49" charset="0"/>
              </a:rPr>
              <a:t>thread_local</a:t>
            </a: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throw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true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try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typedef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 err="1">
                <a:solidFill>
                  <a:srgbClr val="3B3B3B"/>
                </a:solidFill>
                <a:latin typeface="Consolas" panose="020B0609020204030204" pitchFamily="49" charset="0"/>
              </a:rPr>
              <a:t>typeid</a:t>
            </a:r>
            <a:endParaRPr lang="en-US" sz="13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 err="1">
                <a:solidFill>
                  <a:srgbClr val="3B3B3B"/>
                </a:solidFill>
                <a:latin typeface="Consolas" panose="020B0609020204030204" pitchFamily="49" charset="0"/>
              </a:rPr>
              <a:t>typename</a:t>
            </a:r>
            <a:endParaRPr lang="en-US" sz="13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union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unsigned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using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virtual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void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volatile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300" dirty="0" err="1">
                <a:solidFill>
                  <a:srgbClr val="3B3B3B"/>
                </a:solidFill>
                <a:latin typeface="Consolas" panose="020B0609020204030204" pitchFamily="49" charset="0"/>
              </a:rPr>
              <a:t>wchar_t</a:t>
            </a:r>
            <a:endParaRPr lang="en-US" sz="13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3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4322E-BC56-395F-C3C6-B23A2E9AA6E8}"/>
              </a:ext>
            </a:extLst>
          </p:cNvPr>
          <p:cNvSpPr txBox="1"/>
          <p:nvPr/>
        </p:nvSpPr>
        <p:spPr>
          <a:xfrm>
            <a:off x="10702212" y="1520890"/>
            <a:ext cx="1060565" cy="11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70000"/>
              </a:lnSpc>
              <a:spcBef>
                <a:spcPts val="1000"/>
              </a:spcBef>
            </a:pPr>
            <a:r>
              <a:rPr lang="en-US" sz="1300" dirty="0">
                <a:solidFill>
                  <a:srgbClr val="3B3B3B"/>
                </a:solidFill>
                <a:latin typeface="Consolas" panose="020B0609020204030204" pitchFamily="49" charset="0"/>
              </a:rPr>
              <a:t>while</a:t>
            </a:r>
          </a:p>
          <a:p>
            <a:pPr defTabSz="914400">
              <a:lnSpc>
                <a:spcPct val="70000"/>
              </a:lnSpc>
              <a:spcBef>
                <a:spcPts val="1000"/>
              </a:spcBef>
            </a:pPr>
            <a:r>
              <a:rPr lang="en-US" sz="1300" dirty="0" err="1">
                <a:solidFill>
                  <a:srgbClr val="3B3B3B"/>
                </a:solidFill>
                <a:latin typeface="Consolas" panose="020B0609020204030204" pitchFamily="49" charset="0"/>
              </a:rPr>
              <a:t>xor</a:t>
            </a:r>
            <a:endParaRPr lang="en-US" sz="13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0000"/>
              </a:lnSpc>
              <a:spcBef>
                <a:spcPts val="1000"/>
              </a:spcBef>
            </a:pPr>
            <a:r>
              <a:rPr lang="en-US" sz="1300" dirty="0" err="1">
                <a:solidFill>
                  <a:srgbClr val="3B3B3B"/>
                </a:solidFill>
                <a:latin typeface="Consolas" panose="020B0609020204030204" pitchFamily="49" charset="0"/>
              </a:rPr>
              <a:t>Xor_eq</a:t>
            </a:r>
            <a:r>
              <a:rPr lang="en-US" dirty="0"/>
              <a:t>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5827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EB42C1B5-1E7C-6F5F-0201-41ADB955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24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What is a Variable?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2A9EF02-3EBB-ED3E-E7B5-6D801075C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</a:t>
            </a:r>
            <a:r>
              <a:rPr lang="en-US" altLang="en-US">
                <a:solidFill>
                  <a:srgbClr val="0000CC"/>
                </a:solidFill>
              </a:rPr>
              <a:t>variable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/>
              <a:t>is a memory address where data can be </a:t>
            </a:r>
            <a:r>
              <a:rPr lang="en-US" altLang="en-US">
                <a:solidFill>
                  <a:srgbClr val="FF0000"/>
                </a:solidFill>
              </a:rPr>
              <a:t>stored</a:t>
            </a:r>
            <a:r>
              <a:rPr lang="en-US" altLang="en-US"/>
              <a:t> and </a:t>
            </a:r>
            <a:r>
              <a:rPr lang="en-US" altLang="en-US">
                <a:solidFill>
                  <a:schemeClr val="accent1"/>
                </a:solidFill>
              </a:rPr>
              <a:t>changed</a:t>
            </a:r>
            <a:r>
              <a:rPr lang="en-US" altLang="en-US"/>
              <a:t>. 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1800"/>
          </a:p>
          <a:p>
            <a:pPr eaLnBrk="1" hangingPunct="1"/>
            <a:r>
              <a:rPr lang="en-US" altLang="en-US"/>
              <a:t>Declaring a variable means specifying both its </a:t>
            </a:r>
            <a:r>
              <a:rPr lang="en-US" altLang="en-US">
                <a:solidFill>
                  <a:srgbClr val="FF0000"/>
                </a:solidFill>
              </a:rPr>
              <a:t>name</a:t>
            </a:r>
            <a:r>
              <a:rPr lang="en-US" altLang="en-US"/>
              <a:t> and its </a:t>
            </a:r>
            <a:r>
              <a:rPr lang="en-US" altLang="en-US">
                <a:solidFill>
                  <a:srgbClr val="0070C0"/>
                </a:solidFill>
              </a:rPr>
              <a:t>data type</a:t>
            </a:r>
            <a:r>
              <a:rPr lang="en-US" altLang="en-US"/>
              <a:t>.</a:t>
            </a:r>
          </a:p>
          <a:p>
            <a:pPr eaLnBrk="1" hangingPunct="1"/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8E147A-3D26-DAC2-45F4-90188E3F9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969" y="3429000"/>
            <a:ext cx="6953250" cy="3457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3441-19B7-1379-8FB9-59EFCB4D7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22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Variables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D79F5-D797-BC3D-35BB-123C21931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computer’s RAM (Read Access Memory) consists of millions of successive memory cells that are used to store data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variable</a:t>
            </a:r>
            <a:r>
              <a:rPr lang="en-US" dirty="0"/>
              <a:t> is a memory location with a given name</a:t>
            </a:r>
          </a:p>
          <a:p>
            <a:r>
              <a:rPr lang="en-US" dirty="0"/>
              <a:t>Naming variables:</a:t>
            </a:r>
          </a:p>
          <a:p>
            <a:pPr lvl="1"/>
            <a:r>
              <a:rPr lang="en-US" dirty="0"/>
              <a:t>can contain letters, digits, and underscore characters _</a:t>
            </a:r>
          </a:p>
          <a:p>
            <a:pPr lvl="1"/>
            <a:r>
              <a:rPr lang="en-US" dirty="0"/>
              <a:t>must begin with either a letter or the underscore character</a:t>
            </a:r>
          </a:p>
          <a:p>
            <a:pPr lvl="1"/>
            <a:r>
              <a:rPr lang="en-US" dirty="0"/>
              <a:t>must not be a C++ keyword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count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sum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_x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sum_2</a:t>
            </a:r>
          </a:p>
          <a:p>
            <a:r>
              <a:rPr lang="en-US" dirty="0"/>
              <a:t>The value of a variable is the content of its memory location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0301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526D2-DDF4-4F13-121F-2C2BB6C78B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48" b="7363"/>
          <a:stretch/>
        </p:blipFill>
        <p:spPr>
          <a:xfrm>
            <a:off x="457200" y="1253331"/>
            <a:ext cx="10515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548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CFB9-807C-AD1E-CA28-BECA47FB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275"/>
            <a:ext cx="10515600" cy="132556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C++ Primitive Data Types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A diagram of different types of types&#10;&#10;Description automatically generated">
            <a:extLst>
              <a:ext uri="{FF2B5EF4-FFF2-40B4-BE49-F238E27FC236}">
                <a16:creationId xmlns:a16="http://schemas.microsoft.com/office/drawing/2014/main" id="{0E31D686-5DF5-597F-76A1-B8D4BC5C4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1136"/>
            <a:ext cx="12192000" cy="30784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07D4-0475-86E5-E876-72EBBE410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81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types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A9B32-8ECB-9436-4719-0600FECC7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4351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A </a:t>
            </a:r>
            <a:r>
              <a:rPr lang="en-US" i="1" dirty="0">
                <a:solidFill>
                  <a:schemeClr val="accent1"/>
                </a:solidFill>
              </a:rPr>
              <a:t>data type </a:t>
            </a:r>
            <a:r>
              <a:rPr lang="en-US" i="1" dirty="0"/>
              <a:t>is set of values and set of operations on those values.</a:t>
            </a:r>
          </a:p>
          <a:p>
            <a:pPr marL="0" indent="0">
              <a:buNone/>
            </a:pPr>
            <a:endParaRPr lang="en-PK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6F4026F-7E75-F86B-6BB0-7B4ADCB84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991625"/>
              </p:ext>
            </p:extLst>
          </p:nvPr>
        </p:nvGraphicFramePr>
        <p:xfrm>
          <a:off x="567089" y="2369976"/>
          <a:ext cx="9547292" cy="3400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951">
                  <a:extLst>
                    <a:ext uri="{9D8B030D-6E8A-4147-A177-3AD203B41FA5}">
                      <a16:colId xmlns:a16="http://schemas.microsoft.com/office/drawing/2014/main" val="4157164430"/>
                    </a:ext>
                  </a:extLst>
                </a:gridCol>
                <a:gridCol w="2388637">
                  <a:extLst>
                    <a:ext uri="{9D8B030D-6E8A-4147-A177-3AD203B41FA5}">
                      <a16:colId xmlns:a16="http://schemas.microsoft.com/office/drawing/2014/main" val="2041747315"/>
                    </a:ext>
                  </a:extLst>
                </a:gridCol>
                <a:gridCol w="2537927">
                  <a:extLst>
                    <a:ext uri="{9D8B030D-6E8A-4147-A177-3AD203B41FA5}">
                      <a16:colId xmlns:a16="http://schemas.microsoft.com/office/drawing/2014/main" val="2306003469"/>
                    </a:ext>
                  </a:extLst>
                </a:gridCol>
                <a:gridCol w="3041777">
                  <a:extLst>
                    <a:ext uri="{9D8B030D-6E8A-4147-A177-3AD203B41FA5}">
                      <a16:colId xmlns:a16="http://schemas.microsoft.com/office/drawing/2014/main" val="4278298354"/>
                    </a:ext>
                  </a:extLst>
                </a:gridCol>
              </a:tblGrid>
              <a:tr h="4777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 of values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examples of values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examples of operations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982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endParaRPr lang="en-PK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integers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17</a:t>
                      </a:r>
                    </a:p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12345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add, subtract, divide, multiply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613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endParaRPr lang="en-PK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floating-point numbers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3.14159</a:t>
                      </a:r>
                    </a:p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7.034e23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add, subtract, divide, multiply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132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endParaRPr lang="en-PK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characters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'a'</a:t>
                      </a:r>
                    </a:p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'$'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compare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6154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std::string</a:t>
                      </a:r>
                      <a:endParaRPr lang="en-PK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sequence of characters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"Hello World!"</a:t>
                      </a:r>
                    </a:p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"C++ is fun"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concatenate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800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bool</a:t>
                      </a:r>
                      <a:endParaRPr lang="en-PK" b="1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truth values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true</a:t>
                      </a:r>
                    </a:p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false</a:t>
                      </a:r>
                      <a:endParaRPr lang="en-PK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and, or, not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347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35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B240-B9B3-0939-2D8F-3E63A783E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290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Why different numeric types?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9BF6-F848-0830-AF08-CD357D5E8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232"/>
            <a:ext cx="10515600" cy="1058977"/>
          </a:xfrm>
        </p:spPr>
        <p:txBody>
          <a:bodyPr/>
          <a:lstStyle/>
          <a:p>
            <a:r>
              <a:rPr lang="en-US" dirty="0"/>
              <a:t>Tradeoff between memory use and range for integers.</a:t>
            </a:r>
          </a:p>
          <a:p>
            <a:r>
              <a:rPr lang="en-US" dirty="0"/>
              <a:t>Tradeoff between memory use and precision for real numbers.</a:t>
            </a:r>
            <a:endParaRPr lang="en-PK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76D4E75-FB15-12A6-7EF4-EC18463A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93"/>
              </p:ext>
            </p:extLst>
          </p:nvPr>
        </p:nvGraphicFramePr>
        <p:xfrm>
          <a:off x="313753" y="3048653"/>
          <a:ext cx="1350000" cy="144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168750">
                  <a:extLst>
                    <a:ext uri="{9D8B030D-6E8A-4147-A177-3AD203B41FA5}">
                      <a16:colId xmlns:a16="http://schemas.microsoft.com/office/drawing/2014/main" val="299496554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77475761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56451147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09324902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44913787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50039585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1086725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157517170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9323383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E429C05-69DB-6AE1-2DD0-AB03EF6EF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977446"/>
              </p:ext>
            </p:extLst>
          </p:nvPr>
        </p:nvGraphicFramePr>
        <p:xfrm>
          <a:off x="313753" y="3710499"/>
          <a:ext cx="2700000" cy="144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168750">
                  <a:extLst>
                    <a:ext uri="{9D8B030D-6E8A-4147-A177-3AD203B41FA5}">
                      <a16:colId xmlns:a16="http://schemas.microsoft.com/office/drawing/2014/main" val="103173198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09840134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05077914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46206266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26695632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20319841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96949244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50685658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25595366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04063241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23177097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398123756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75056764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12327435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50600057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875860147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00039832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F4D5188-382B-9A17-97BA-BD82D6CC5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624773"/>
              </p:ext>
            </p:extLst>
          </p:nvPr>
        </p:nvGraphicFramePr>
        <p:xfrm>
          <a:off x="313755" y="4448120"/>
          <a:ext cx="5400000" cy="144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168750">
                  <a:extLst>
                    <a:ext uri="{9D8B030D-6E8A-4147-A177-3AD203B41FA5}">
                      <a16:colId xmlns:a16="http://schemas.microsoft.com/office/drawing/2014/main" val="393821226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35035289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852737605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885237216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98184856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08205339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68063748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59960247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51415470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18696045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95079263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42974026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78111751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4674633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24512103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42509648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64378359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98336074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45420164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82976354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14446380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99460662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04568074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51223507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30930582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27399455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91150033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628491746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6774794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5421669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05668365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11886065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4998061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EFE3514-27F8-9459-6E53-3223E08F2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978236"/>
              </p:ext>
            </p:extLst>
          </p:nvPr>
        </p:nvGraphicFramePr>
        <p:xfrm>
          <a:off x="313754" y="4983797"/>
          <a:ext cx="10800000" cy="400126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168750">
                  <a:extLst>
                    <a:ext uri="{9D8B030D-6E8A-4147-A177-3AD203B41FA5}">
                      <a16:colId xmlns:a16="http://schemas.microsoft.com/office/drawing/2014/main" val="408664680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2583153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57118881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24343485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75589348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861207726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29210992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02033279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74532304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64797854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048985516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45679729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805007596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04135686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671412836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50210063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22646807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84116178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18042592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58095296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55842850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72731241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82030818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00422859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63753388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887920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89700487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35966446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13537686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19247310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61293913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6642478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84164273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23149498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78579255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412504365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98129672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96631917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77780577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744341225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37906994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987250415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226345756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59654560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01727719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5390721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25561677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627976630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18915008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820012412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56609473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95732687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31923942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419541766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377136729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336075592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902791817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070475194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705771613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80646624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657435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2417625301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882893778"/>
                    </a:ext>
                  </a:extLst>
                </a:gridCol>
                <a:gridCol w="168750">
                  <a:extLst>
                    <a:ext uri="{9D8B030D-6E8A-4147-A177-3AD203B41FA5}">
                      <a16:colId xmlns:a16="http://schemas.microsoft.com/office/drawing/2014/main" val="1823260535"/>
                    </a:ext>
                  </a:extLst>
                </a:gridCol>
              </a:tblGrid>
              <a:tr h="400126"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PK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5365366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85C7662-5816-44EB-0818-1236CDE18029}"/>
              </a:ext>
            </a:extLst>
          </p:cNvPr>
          <p:cNvSpPr txBox="1"/>
          <p:nvPr/>
        </p:nvSpPr>
        <p:spPr>
          <a:xfrm>
            <a:off x="1687399" y="2926103"/>
            <a:ext cx="756811" cy="403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char</a:t>
            </a:r>
            <a:endParaRPr lang="en-PK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52710-438E-D5A2-EE78-28FFD006F733}"/>
              </a:ext>
            </a:extLst>
          </p:cNvPr>
          <p:cNvSpPr txBox="1"/>
          <p:nvPr/>
        </p:nvSpPr>
        <p:spPr>
          <a:xfrm>
            <a:off x="3186258" y="3578127"/>
            <a:ext cx="1352791" cy="403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short</a:t>
            </a:r>
            <a:endParaRPr lang="en-PK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728D32-9DF1-A58C-8B75-E5BD99D3CEE3}"/>
              </a:ext>
            </a:extLst>
          </p:cNvPr>
          <p:cNvSpPr txBox="1"/>
          <p:nvPr/>
        </p:nvSpPr>
        <p:spPr>
          <a:xfrm>
            <a:off x="5912175" y="4060467"/>
            <a:ext cx="1827232" cy="1338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chemeClr val="accent1"/>
                </a:solidFill>
              </a:rPr>
              <a:t> (windows)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float</a:t>
            </a:r>
            <a:endParaRPr lang="en-PK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ED4B8C-48F6-ACB0-AF60-215C43AC9283}"/>
              </a:ext>
            </a:extLst>
          </p:cNvPr>
          <p:cNvSpPr txBox="1"/>
          <p:nvPr/>
        </p:nvSpPr>
        <p:spPr>
          <a:xfrm>
            <a:off x="9956273" y="4550657"/>
            <a:ext cx="1827232" cy="715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long</a:t>
            </a:r>
            <a:r>
              <a:rPr lang="en-US" dirty="0">
                <a:solidFill>
                  <a:schemeClr val="accent1"/>
                </a:solidFill>
              </a:rPr>
              <a:t> (</a:t>
            </a:r>
            <a:r>
              <a:rPr lang="en-US" dirty="0" err="1">
                <a:solidFill>
                  <a:schemeClr val="accent1"/>
                </a:solidFill>
              </a:rPr>
              <a:t>linux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long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long</a:t>
            </a:r>
            <a:endParaRPr lang="en-PK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5F377-F154-2B5B-34F6-EEF4B44A1363}"/>
              </a:ext>
            </a:extLst>
          </p:cNvPr>
          <p:cNvSpPr txBox="1"/>
          <p:nvPr/>
        </p:nvSpPr>
        <p:spPr>
          <a:xfrm>
            <a:off x="9976689" y="5400640"/>
            <a:ext cx="1377111" cy="403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double</a:t>
            </a:r>
            <a:endParaRPr lang="en-PK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5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07E256-D379-27A7-2D69-D4B66C496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Premitive Data Types in C++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83A532AC-0ECB-8461-61AC-63FE88A7D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200" b="1"/>
              <a:t>Integral Types	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/>
              <a:t>represent whole numbers and their negatives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/>
              <a:t>declared as </a:t>
            </a:r>
            <a:r>
              <a:rPr lang="en-US" altLang="en-US" sz="1700">
                <a:solidFill>
                  <a:srgbClr val="990000"/>
                </a:solidFill>
              </a:rPr>
              <a:t>int</a:t>
            </a:r>
            <a:r>
              <a:rPr lang="en-US" altLang="en-US" sz="1700"/>
              <a:t>, </a:t>
            </a:r>
            <a:r>
              <a:rPr lang="en-US" altLang="en-US" sz="1700">
                <a:solidFill>
                  <a:schemeClr val="accent2"/>
                </a:solidFill>
              </a:rPr>
              <a:t> </a:t>
            </a:r>
            <a:r>
              <a:rPr lang="en-US" altLang="en-US" sz="1700">
                <a:solidFill>
                  <a:srgbClr val="990000"/>
                </a:solidFill>
              </a:rPr>
              <a:t>short</a:t>
            </a:r>
            <a:r>
              <a:rPr lang="en-US" altLang="en-US" sz="1700"/>
              <a:t>, or</a:t>
            </a:r>
            <a:r>
              <a:rPr lang="en-US" altLang="en-US" sz="1700">
                <a:solidFill>
                  <a:schemeClr val="accent2"/>
                </a:solidFill>
              </a:rPr>
              <a:t> </a:t>
            </a:r>
            <a:r>
              <a:rPr lang="en-US" altLang="en-US" sz="1700">
                <a:solidFill>
                  <a:srgbClr val="990000"/>
                </a:solidFill>
              </a:rPr>
              <a:t>long</a:t>
            </a:r>
            <a:endParaRPr lang="en-US" altLang="en-US" sz="1400"/>
          </a:p>
          <a:p>
            <a:pPr eaLnBrk="1" hangingPunct="1">
              <a:lnSpc>
                <a:spcPct val="80000"/>
              </a:lnSpc>
            </a:pPr>
            <a:r>
              <a:rPr lang="en-US" altLang="en-US" sz="2200" b="1"/>
              <a:t>Character Types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/>
              <a:t>represent single characters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/>
              <a:t>declared as </a:t>
            </a:r>
            <a:r>
              <a:rPr lang="en-US" altLang="en-US" sz="1700">
                <a:solidFill>
                  <a:srgbClr val="990000"/>
                </a:solidFill>
              </a:rPr>
              <a:t>char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/>
              <a:t>Stored by ASCII values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200" b="1"/>
              <a:t>Boolean Type</a:t>
            </a:r>
          </a:p>
          <a:p>
            <a:pPr marL="742950" lvl="2" indent="-342900">
              <a:lnSpc>
                <a:spcPct val="80000"/>
              </a:lnSpc>
            </a:pPr>
            <a:r>
              <a:rPr lang="en-US" altLang="en-US" sz="1700"/>
              <a:t>declared as </a:t>
            </a:r>
            <a:r>
              <a:rPr lang="en-US" altLang="en-US" sz="1700">
                <a:solidFill>
                  <a:srgbClr val="990000"/>
                </a:solidFill>
              </a:rPr>
              <a:t>bool </a:t>
            </a:r>
            <a:endParaRPr lang="en-US" altLang="en-US" sz="1700"/>
          </a:p>
          <a:p>
            <a:pPr marL="742950" lvl="2" indent="-342900">
              <a:lnSpc>
                <a:spcPct val="80000"/>
              </a:lnSpc>
            </a:pPr>
            <a:r>
              <a:rPr lang="en-US" altLang="en-US" sz="1700"/>
              <a:t>has only 2 values </a:t>
            </a:r>
            <a:r>
              <a:rPr lang="en-US" altLang="en-US" sz="1700">
                <a:solidFill>
                  <a:srgbClr val="00B0F0"/>
                </a:solidFill>
              </a:rPr>
              <a:t>true/false</a:t>
            </a:r>
            <a:endParaRPr lang="en-US" altLang="en-US" sz="1700"/>
          </a:p>
          <a:p>
            <a:pPr marL="742950" lvl="2" indent="-342900">
              <a:lnSpc>
                <a:spcPct val="80000"/>
              </a:lnSpc>
            </a:pPr>
            <a:r>
              <a:rPr lang="en-US" altLang="en-US" sz="1700"/>
              <a:t>will not print out directly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200" b="1"/>
              <a:t>Floating Types	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/>
              <a:t>represent real numbers with a decimal point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/>
              <a:t>declared as </a:t>
            </a:r>
            <a:r>
              <a:rPr lang="en-US" altLang="en-US" sz="1700">
                <a:solidFill>
                  <a:srgbClr val="990000"/>
                </a:solidFill>
              </a:rPr>
              <a:t>float</a:t>
            </a:r>
            <a:r>
              <a:rPr lang="en-US" altLang="en-US" sz="1700"/>
              <a:t>, or </a:t>
            </a:r>
            <a:r>
              <a:rPr lang="en-US" altLang="en-US" sz="1700">
                <a:solidFill>
                  <a:srgbClr val="990000"/>
                </a:solidFill>
              </a:rPr>
              <a:t>double</a:t>
            </a:r>
            <a:endParaRPr lang="en-US" altLang="en-US" sz="1700">
              <a:solidFill>
                <a:schemeClr val="accent2"/>
              </a:solidFill>
            </a:endParaRP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/>
              <a:t>Scientific notation where e (or E) stand for “times 10 to the ” (.55-e6)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A4756-C507-2246-939A-FF4D9800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71"/>
            <a:ext cx="10515600" cy="132556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What Does </a:t>
            </a:r>
            <a:r>
              <a:rPr lang="en-US">
                <a:solidFill>
                  <a:schemeClr val="bg1"/>
                </a:solidFill>
              </a:rPr>
              <a:t>a Variable </a:t>
            </a:r>
            <a:r>
              <a:rPr lang="en-US" dirty="0">
                <a:solidFill>
                  <a:schemeClr val="bg1"/>
                </a:solidFill>
              </a:rPr>
              <a:t>Declaration Do?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E86B3BE0-74FE-6AB0-DE23-E7F2F89BE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A declaration tells the compiler to </a:t>
            </a:r>
            <a:r>
              <a:rPr lang="en-US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allocate enough memory </a:t>
            </a:r>
            <a:r>
              <a:rPr lang="en-US" altLang="en-US" b="1">
                <a:latin typeface="Times New Roman" panose="02020603050405020304" pitchFamily="18" charset="0"/>
              </a:rPr>
              <a:t>to hold a value of this data type,  and to </a:t>
            </a:r>
            <a:r>
              <a:rPr lang="en-US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associate the identifier </a:t>
            </a:r>
            <a:r>
              <a:rPr lang="en-US" altLang="en-US" b="1">
                <a:latin typeface="Times New Roman" panose="02020603050405020304" pitchFamily="18" charset="0"/>
              </a:rPr>
              <a:t>with this location.</a:t>
            </a:r>
          </a:p>
          <a:p>
            <a:pPr eaLnBrk="1" hangingPunct="1"/>
            <a:r>
              <a:rPr lang="en-US" altLang="en-US" b="1">
                <a:latin typeface="Courier New" panose="02070309020205020404" pitchFamily="49" charset="0"/>
              </a:rPr>
              <a:t>int ageOfDog;</a:t>
            </a:r>
            <a:r>
              <a:rPr lang="en-US" altLang="en-US" b="1">
                <a:latin typeface="Courier New" panose="02070309020205020404" pitchFamily="49" charset="0"/>
                <a:sym typeface="Wingdings" panose="05000000000000000000" pitchFamily="2" charset="2"/>
              </a:rPr>
              <a:t></a:t>
            </a:r>
          </a:p>
          <a:p>
            <a:pPr eaLnBrk="1" hangingPunct="1"/>
            <a:r>
              <a:rPr lang="en-US" altLang="en-US" b="1">
                <a:latin typeface="Courier New" panose="02070309020205020404" pitchFamily="49" charset="0"/>
                <a:sym typeface="Wingdings" panose="05000000000000000000" pitchFamily="2" charset="2"/>
              </a:rPr>
              <a:t>char middleInitial; </a:t>
            </a:r>
          </a:p>
          <a:p>
            <a:pPr eaLnBrk="1" hangingPunct="1"/>
            <a:r>
              <a:rPr lang="en-US" altLang="en-US" b="1">
                <a:latin typeface="Courier New" panose="02070309020205020404" pitchFamily="49" charset="0"/>
                <a:sym typeface="Wingdings" panose="05000000000000000000" pitchFamily="2" charset="2"/>
              </a:rPr>
              <a:t>float taxRate;  </a:t>
            </a:r>
            <a:endParaRPr lang="en-US" altLang="en-US" b="1">
              <a:latin typeface="Courier New" panose="02070309020205020404" pitchFamily="49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10244" name="Rectangle 8">
            <a:extLst>
              <a:ext uri="{FF2B5EF4-FFF2-40B4-BE49-F238E27FC236}">
                <a16:creationId xmlns:a16="http://schemas.microsoft.com/office/drawing/2014/main" id="{C2268D41-AF42-0F2F-029B-77AF47C01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657600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45" name="Rectangle 9">
            <a:extLst>
              <a:ext uri="{FF2B5EF4-FFF2-40B4-BE49-F238E27FC236}">
                <a16:creationId xmlns:a16="http://schemas.microsoft.com/office/drawing/2014/main" id="{E42D80E0-6DA9-124A-6F3D-024F63F6E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700" y="3657600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46" name="Rectangle 10">
            <a:extLst>
              <a:ext uri="{FF2B5EF4-FFF2-40B4-BE49-F238E27FC236}">
                <a16:creationId xmlns:a16="http://schemas.microsoft.com/office/drawing/2014/main" id="{653FE8C5-90B7-B6B7-D147-84AB91291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657600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47" name="Rectangle 11">
            <a:extLst>
              <a:ext uri="{FF2B5EF4-FFF2-40B4-BE49-F238E27FC236}">
                <a16:creationId xmlns:a16="http://schemas.microsoft.com/office/drawing/2014/main" id="{91D1C21E-B75B-9971-6373-6ACD975D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2100" y="3657600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1137785F-68B8-1E4B-0878-3B584D4F6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7800" y="4292600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49" name="Rectangle 8">
            <a:extLst>
              <a:ext uri="{FF2B5EF4-FFF2-40B4-BE49-F238E27FC236}">
                <a16:creationId xmlns:a16="http://schemas.microsoft.com/office/drawing/2014/main" id="{BE5CF341-61D6-F274-7FA6-FEC0FEAC0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953000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50" name="Rectangle 9">
            <a:extLst>
              <a:ext uri="{FF2B5EF4-FFF2-40B4-BE49-F238E27FC236}">
                <a16:creationId xmlns:a16="http://schemas.microsoft.com/office/drawing/2014/main" id="{1C349717-01D6-38F5-18C0-8D129F638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4953000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51" name="Rectangle 10">
            <a:extLst>
              <a:ext uri="{FF2B5EF4-FFF2-40B4-BE49-F238E27FC236}">
                <a16:creationId xmlns:a16="http://schemas.microsoft.com/office/drawing/2014/main" id="{3E1AEF6E-2399-F0D9-7961-1CA737316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953000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52" name="Rectangle 11">
            <a:extLst>
              <a:ext uri="{FF2B5EF4-FFF2-40B4-BE49-F238E27FC236}">
                <a16:creationId xmlns:a16="http://schemas.microsoft.com/office/drawing/2014/main" id="{4723909E-9CCE-C98D-09E3-AE2EDA42B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0" y="4953000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737D8127-8E5F-EBC9-F5B6-82F59537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70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Samples of C++ Data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3D257-ED7D-F37A-D378-2608B9A0C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buNone/>
              <a:defRPr/>
            </a:pPr>
            <a:r>
              <a:rPr lang="en-US" dirty="0">
                <a:solidFill>
                  <a:srgbClr val="990000"/>
                </a:solidFill>
              </a:rPr>
              <a:t>int </a:t>
            </a:r>
            <a:r>
              <a:rPr lang="en-US" dirty="0"/>
              <a:t> sample values 	</a:t>
            </a:r>
          </a:p>
          <a:p>
            <a:pPr lvl="1">
              <a:buNone/>
              <a:defRPr/>
            </a:pPr>
            <a:r>
              <a:rPr lang="en-US" b="1" dirty="0"/>
              <a:t>4578 		 -4578		    0</a:t>
            </a:r>
            <a:endParaRPr lang="en-US" dirty="0"/>
          </a:p>
          <a:p>
            <a:pPr lvl="1">
              <a:buNone/>
              <a:defRPr/>
            </a:pPr>
            <a:endParaRPr lang="en-US" sz="1800" dirty="0"/>
          </a:p>
          <a:p>
            <a:pPr>
              <a:buNone/>
              <a:defRPr/>
            </a:pPr>
            <a:r>
              <a:rPr lang="en-US" dirty="0" err="1">
                <a:solidFill>
                  <a:srgbClr val="990000"/>
                </a:solidFill>
              </a:rPr>
              <a:t>bool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/>
              <a:t>values 	</a:t>
            </a:r>
          </a:p>
          <a:p>
            <a:pPr lvl="1">
              <a:buNone/>
              <a:defRPr/>
            </a:pPr>
            <a:r>
              <a:rPr lang="en-US" b="1" dirty="0"/>
              <a:t>true 		 false</a:t>
            </a:r>
            <a:endParaRPr lang="en-US" dirty="0"/>
          </a:p>
          <a:p>
            <a:pPr lvl="1">
              <a:buNone/>
              <a:defRPr/>
            </a:pPr>
            <a:endParaRPr lang="en-US" sz="1800" dirty="0"/>
          </a:p>
          <a:p>
            <a:pPr>
              <a:buNone/>
              <a:defRPr/>
            </a:pPr>
            <a:r>
              <a:rPr lang="en-US" dirty="0">
                <a:solidFill>
                  <a:srgbClr val="990000"/>
                </a:solidFill>
              </a:rPr>
              <a:t>float</a:t>
            </a:r>
            <a:r>
              <a:rPr lang="en-US" dirty="0">
                <a:solidFill>
                  <a:schemeClr val="hlink"/>
                </a:solidFill>
              </a:rPr>
              <a:t>  </a:t>
            </a:r>
            <a:r>
              <a:rPr lang="en-US" dirty="0"/>
              <a:t>sample values</a:t>
            </a:r>
          </a:p>
          <a:p>
            <a:pPr lvl="1">
              <a:buNone/>
              <a:defRPr/>
            </a:pPr>
            <a:r>
              <a:rPr lang="en-US" b="1" dirty="0"/>
              <a:t>95.274		   95.0	 	          .265</a:t>
            </a:r>
            <a:endParaRPr lang="en-US" dirty="0"/>
          </a:p>
          <a:p>
            <a:pPr lvl="1">
              <a:buNone/>
              <a:defRPr/>
            </a:pPr>
            <a:endParaRPr lang="en-US" sz="1800" dirty="0"/>
          </a:p>
          <a:p>
            <a:pPr>
              <a:buNone/>
              <a:defRPr/>
            </a:pPr>
            <a:r>
              <a:rPr lang="en-US" dirty="0">
                <a:solidFill>
                  <a:srgbClr val="990000"/>
                </a:solidFill>
              </a:rPr>
              <a:t>char </a:t>
            </a:r>
            <a:r>
              <a:rPr lang="en-US" dirty="0"/>
              <a:t> sample values </a:t>
            </a:r>
          </a:p>
          <a:p>
            <a:pPr>
              <a:buNone/>
              <a:defRPr/>
            </a:pPr>
            <a:r>
              <a:rPr lang="en-US" dirty="0"/>
              <a:t>   </a:t>
            </a:r>
            <a:r>
              <a:rPr lang="en-US" b="1" dirty="0">
                <a:latin typeface="Courier New" pitchFamily="49" charset="0"/>
              </a:rPr>
              <a:t>‘</a:t>
            </a:r>
            <a:r>
              <a:rPr lang="en-US" b="1" dirty="0"/>
              <a:t>B</a:t>
            </a:r>
            <a:r>
              <a:rPr lang="en-US" b="1" dirty="0">
                <a:latin typeface="Courier New" pitchFamily="49" charset="0"/>
              </a:rPr>
              <a:t>’ 	‘</a:t>
            </a:r>
            <a:r>
              <a:rPr lang="en-US" b="1" dirty="0"/>
              <a:t>d</a:t>
            </a:r>
            <a:r>
              <a:rPr lang="en-US" b="1" dirty="0">
                <a:latin typeface="Courier New" pitchFamily="49" charset="0"/>
              </a:rPr>
              <a:t>’   ‘</a:t>
            </a:r>
            <a:r>
              <a:rPr lang="en-US" b="1" dirty="0"/>
              <a:t>4</a:t>
            </a:r>
            <a:r>
              <a:rPr lang="en-US" b="1" dirty="0">
                <a:latin typeface="Courier New" pitchFamily="49" charset="0"/>
              </a:rPr>
              <a:t>’	 ‘</a:t>
            </a:r>
            <a:r>
              <a:rPr lang="en-US" b="1" dirty="0"/>
              <a:t>?</a:t>
            </a:r>
            <a:r>
              <a:rPr lang="en-US" b="1" dirty="0">
                <a:latin typeface="Courier New" pitchFamily="49" charset="0"/>
              </a:rPr>
              <a:t>’		‘</a:t>
            </a:r>
            <a:r>
              <a:rPr lang="en-US" b="1" dirty="0"/>
              <a:t>*</a:t>
            </a:r>
            <a:r>
              <a:rPr lang="en-US" b="1" dirty="0">
                <a:latin typeface="Courier New" pitchFamily="49" charset="0"/>
              </a:rPr>
              <a:t>’</a:t>
            </a:r>
            <a:endParaRPr lang="en-US" dirty="0">
              <a:latin typeface="Courier New" pitchFamily="49" charset="0"/>
            </a:endParaRPr>
          </a:p>
          <a:p>
            <a:pPr>
              <a:buNone/>
              <a:defRPr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AB3F0AA-D7CE-20D4-DE37-24CAED4D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3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bg1"/>
                </a:solidFill>
                <a:latin typeface="Courier New" panose="02070309020205020404" pitchFamily="49" charset="0"/>
              </a:rPr>
              <a:t>bool</a:t>
            </a:r>
            <a:r>
              <a:rPr lang="en-US" altLang="en-US" b="1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Data Type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E703FEB-B3D4-6A1D-FB69-3B1DF3CA9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Type </a:t>
            </a:r>
            <a:r>
              <a:rPr lang="en-US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bool</a:t>
            </a:r>
            <a:r>
              <a:rPr lang="en-US" altLang="en-US" dirty="0"/>
              <a:t> is a built-in type consisting of just 2 values, the constants </a:t>
            </a:r>
            <a:r>
              <a:rPr lang="en-US" altLang="en-US" dirty="0">
                <a:solidFill>
                  <a:srgbClr val="FF0000"/>
                </a:solidFill>
              </a:rPr>
              <a:t>true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false</a:t>
            </a:r>
            <a:r>
              <a:rPr lang="en-US" altLang="en-US" dirty="0"/>
              <a:t> </a:t>
            </a:r>
            <a:endParaRPr lang="en-US" altLang="en-US" sz="1800" dirty="0"/>
          </a:p>
          <a:p>
            <a:pPr eaLnBrk="1" hangingPunct="1"/>
            <a:r>
              <a:rPr lang="en-US" altLang="en-US" dirty="0"/>
              <a:t>We can declare variables of type </a:t>
            </a:r>
            <a:r>
              <a:rPr lang="en-US" altLang="en-US" b="1" dirty="0">
                <a:solidFill>
                  <a:srgbClr val="00B050"/>
                </a:solidFill>
              </a:rPr>
              <a:t>bool</a:t>
            </a:r>
            <a:r>
              <a:rPr lang="en-US" altLang="en-US" dirty="0"/>
              <a:t> 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2400" b="1" dirty="0"/>
              <a:t>bool   </a:t>
            </a:r>
            <a:r>
              <a:rPr lang="en-US" altLang="en-US" sz="2400" b="1" dirty="0" err="1"/>
              <a:t>hasFever</a:t>
            </a:r>
            <a:r>
              <a:rPr lang="en-US" altLang="en-US" sz="2400" b="1" dirty="0"/>
              <a:t>; 	</a:t>
            </a:r>
            <a:r>
              <a:rPr lang="en-US" altLang="en-US" sz="2400" b="1" i="1" dirty="0">
                <a:solidFill>
                  <a:schemeClr val="accent1"/>
                </a:solidFill>
              </a:rPr>
              <a:t>// true if has high temperature</a:t>
            </a:r>
            <a:endParaRPr lang="en-US" altLang="en-US" sz="2400" b="1" dirty="0"/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2400" b="1" dirty="0"/>
              <a:t>bool   </a:t>
            </a:r>
            <a:r>
              <a:rPr lang="en-US" altLang="en-US" sz="2400" b="1" dirty="0" err="1"/>
              <a:t>isSenior</a:t>
            </a:r>
            <a:r>
              <a:rPr lang="en-US" altLang="en-US" sz="2400" b="1" dirty="0"/>
              <a:t>;</a:t>
            </a:r>
            <a:r>
              <a:rPr lang="en-US" altLang="en-US" sz="2400" dirty="0"/>
              <a:t>       </a:t>
            </a:r>
            <a:r>
              <a:rPr lang="en-US" altLang="en-US" sz="2400" b="1" i="1" dirty="0">
                <a:solidFill>
                  <a:schemeClr val="accent1"/>
                </a:solidFill>
              </a:rPr>
              <a:t>// true if age is at least 55</a:t>
            </a:r>
            <a:r>
              <a:rPr lang="en-US" altLang="en-US" sz="2400" b="1" dirty="0"/>
              <a:t> </a:t>
            </a:r>
          </a:p>
          <a:p>
            <a:pPr eaLnBrk="1" hangingPunct="1"/>
            <a:r>
              <a:rPr lang="en-US" altLang="en-US" dirty="0"/>
              <a:t>The value 0 represents </a:t>
            </a:r>
            <a:r>
              <a:rPr lang="en-US" altLang="en-US" dirty="0">
                <a:solidFill>
                  <a:srgbClr val="FF0000"/>
                </a:solidFill>
              </a:rPr>
              <a:t>false</a:t>
            </a:r>
            <a:endParaRPr lang="en-US" altLang="en-US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dirty="0"/>
              <a:t>ANY non-zero value represents </a:t>
            </a:r>
            <a:r>
              <a:rPr lang="en-US" altLang="en-US" dirty="0">
                <a:solidFill>
                  <a:srgbClr val="FF0000"/>
                </a:solidFill>
              </a:rPr>
              <a:t>true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434F0AE-F0C0-A414-ADA0-D1BE9E4B6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81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Variable Declaration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330705ED-9084-F6D8-9A8E-284B550D8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/>
              <a:t>All </a:t>
            </a:r>
            <a:r>
              <a:rPr lang="en-US" altLang="en-US">
                <a:solidFill>
                  <a:srgbClr val="0000CC"/>
                </a:solidFill>
              </a:rPr>
              <a:t>variables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  <a:r>
              <a:rPr lang="en-US" altLang="en-US"/>
              <a:t>must declared </a:t>
            </a:r>
            <a:r>
              <a:rPr lang="en-US" altLang="en-US" b="1"/>
              <a:t>before</a:t>
            </a:r>
            <a:r>
              <a:rPr lang="en-US" altLang="en-US"/>
              <a:t> use.</a:t>
            </a:r>
          </a:p>
          <a:p>
            <a:pPr lvl="1" eaLnBrk="1" hangingPunct="1"/>
            <a:r>
              <a:rPr lang="en-US" altLang="en-US"/>
              <a:t>At the top of the program</a:t>
            </a:r>
          </a:p>
          <a:p>
            <a:pPr lvl="1" eaLnBrk="1" hangingPunct="1"/>
            <a:r>
              <a:rPr lang="en-US" altLang="en-US"/>
              <a:t>Just before use. </a:t>
            </a:r>
          </a:p>
          <a:p>
            <a:pPr eaLnBrk="1" hangingPunct="1"/>
            <a:r>
              <a:rPr lang="en-US" altLang="en-US"/>
              <a:t>Commas are used to separate identifiers of the same type.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int count, age;</a:t>
            </a:r>
            <a:endParaRPr lang="en-US" altLang="en-US" sz="2000"/>
          </a:p>
          <a:p>
            <a:pPr eaLnBrk="1" hangingPunct="1"/>
            <a:r>
              <a:rPr lang="en-US" altLang="en-US"/>
              <a:t>Variables can be initialized to a starting value when they are declared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int count = 0;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int age, count = 0;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1AF6-2FF6-FD2D-709A-EE78B646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15954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Variable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Declaration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514FD-5B94-0360-3314-18CAD873A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0925"/>
          </a:xfrm>
        </p:spPr>
        <p:txBody>
          <a:bodyPr>
            <a:normAutofit/>
          </a:bodyPr>
          <a:lstStyle/>
          <a:p>
            <a:r>
              <a:rPr lang="en-US" dirty="0"/>
              <a:t>Data types define the kind of data a variable can hold</a:t>
            </a:r>
          </a:p>
          <a:p>
            <a:r>
              <a:rPr lang="en-US" dirty="0"/>
              <a:t>To use a variable, you need to </a:t>
            </a:r>
            <a:r>
              <a:rPr lang="en-US" b="1" dirty="0">
                <a:solidFill>
                  <a:schemeClr val="accent1"/>
                </a:solidFill>
              </a:rPr>
              <a:t>declare</a:t>
            </a:r>
            <a:r>
              <a:rPr lang="en-US" dirty="0"/>
              <a:t> its data type and name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8B89FE-5C24-5BDA-678E-FB519F5507F4}"/>
              </a:ext>
            </a:extLst>
          </p:cNvPr>
          <p:cNvSpPr txBox="1">
            <a:spLocks/>
          </p:cNvSpPr>
          <p:nvPr/>
        </p:nvSpPr>
        <p:spPr>
          <a:xfrm>
            <a:off x="1295400" y="2911475"/>
            <a:ext cx="9572625" cy="17081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int age;          // Declares an integer variable named 'age’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double price;     // Declares a double variable named 'price’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char initial;     // Declares a character variable named 'initial’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bool </a:t>
            </a:r>
            <a:r>
              <a:rPr lang="en-US" sz="2000" dirty="0" err="1">
                <a:latin typeface="Consolas" panose="020B0609020204030204" pitchFamily="49" charset="0"/>
              </a:rPr>
              <a:t>isReady</a:t>
            </a:r>
            <a:r>
              <a:rPr lang="en-US" sz="2000" dirty="0">
                <a:latin typeface="Consolas" panose="020B0609020204030204" pitchFamily="49" charset="0"/>
              </a:rPr>
              <a:t>;     // Declares a </a:t>
            </a:r>
            <a:r>
              <a:rPr lang="en-US" sz="2000" dirty="0" err="1">
                <a:latin typeface="Consolas" panose="020B0609020204030204" pitchFamily="49" charset="0"/>
              </a:rPr>
              <a:t>boolean</a:t>
            </a:r>
            <a:r>
              <a:rPr lang="en-US" sz="2000" dirty="0">
                <a:latin typeface="Consolas" panose="020B0609020204030204" pitchFamily="49" charset="0"/>
              </a:rPr>
              <a:t> variable named '</a:t>
            </a:r>
            <a:r>
              <a:rPr lang="en-US" sz="2000" dirty="0" err="1">
                <a:latin typeface="Consolas" panose="020B0609020204030204" pitchFamily="49" charset="0"/>
              </a:rPr>
              <a:t>isReady</a:t>
            </a:r>
            <a:r>
              <a:rPr lang="en-US" sz="2000" dirty="0">
                <a:latin typeface="Consolas" panose="020B0609020204030204" pitchFamily="49" charset="0"/>
              </a:rPr>
              <a:t>'</a:t>
            </a:r>
            <a:endParaRPr lang="en-PK" sz="2000" dirty="0">
              <a:latin typeface="Consolas" panose="020B060902020403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1FBBB6C-DF92-D8B9-4BEE-EB6E3307F30B}"/>
              </a:ext>
            </a:extLst>
          </p:cNvPr>
          <p:cNvSpPr txBox="1">
            <a:spLocks/>
          </p:cNvSpPr>
          <p:nvPr/>
        </p:nvSpPr>
        <p:spPr>
          <a:xfrm>
            <a:off x="838200" y="4883151"/>
            <a:ext cx="10515600" cy="4508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can declare multiple names on the same line:</a:t>
            </a:r>
            <a:endParaRPr lang="en-P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778BAA-E5B2-06F1-0A98-FCE9DB1248B7}"/>
              </a:ext>
            </a:extLst>
          </p:cNvPr>
          <p:cNvSpPr txBox="1">
            <a:spLocks/>
          </p:cNvSpPr>
          <p:nvPr/>
        </p:nvSpPr>
        <p:spPr>
          <a:xfrm>
            <a:off x="1209675" y="5435600"/>
            <a:ext cx="9886950" cy="38417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int a, b, c;       // Declares three variable of type int</a:t>
            </a:r>
          </a:p>
        </p:txBody>
      </p:sp>
    </p:spTree>
    <p:extLst>
      <p:ext uri="{BB962C8B-B14F-4D97-AF65-F5344CB8AC3E}">
        <p14:creationId xmlns:p14="http://schemas.microsoft.com/office/powerpoint/2010/main" val="288395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1AF6-2FF6-FD2D-709A-EE78B646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55" y="15081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Assignment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514FD-5B94-0360-3314-18CAD873A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3775"/>
          </a:xfrm>
        </p:spPr>
        <p:txBody>
          <a:bodyPr>
            <a:normAutofit/>
          </a:bodyPr>
          <a:lstStyle/>
          <a:p>
            <a:r>
              <a:rPr lang="en-US" dirty="0"/>
              <a:t>After declaring a variable, you can </a:t>
            </a:r>
            <a:r>
              <a:rPr lang="en-US" b="1" dirty="0">
                <a:solidFill>
                  <a:schemeClr val="accent1"/>
                </a:solidFill>
              </a:rPr>
              <a:t>assign</a:t>
            </a:r>
            <a:r>
              <a:rPr lang="en-US" dirty="0"/>
              <a:t> a value to it.</a:t>
            </a:r>
          </a:p>
          <a:p>
            <a:r>
              <a:rPr lang="en-US" dirty="0"/>
              <a:t>Use assignment operator </a:t>
            </a:r>
            <a:r>
              <a:rPr lang="en-US" dirty="0">
                <a:latin typeface="Consolas" panose="020B0609020204030204" pitchFamily="49" charset="0"/>
              </a:rPr>
              <a:t>'='</a:t>
            </a:r>
            <a:r>
              <a:rPr lang="en-US" dirty="0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8B89FE-5C24-5BDA-678E-FB519F5507F4}"/>
              </a:ext>
            </a:extLst>
          </p:cNvPr>
          <p:cNvSpPr txBox="1">
            <a:spLocks/>
          </p:cNvSpPr>
          <p:nvPr/>
        </p:nvSpPr>
        <p:spPr>
          <a:xfrm>
            <a:off x="1209675" y="2825750"/>
            <a:ext cx="9886950" cy="17081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age = 25;         // Assigns the value 25 to the 'age' variable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price = 9.5;      // Assigns the value 9.99 to the 'price' variable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initial = 'J';    // Assigns the character 'J' to the 'initial' variable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isReady</a:t>
            </a:r>
            <a:r>
              <a:rPr lang="en-US" sz="2000" dirty="0">
                <a:latin typeface="Consolas" panose="020B0609020204030204" pitchFamily="49" charset="0"/>
              </a:rPr>
              <a:t> = true;   // Assigns the value 'true' to the '</a:t>
            </a:r>
            <a:r>
              <a:rPr lang="en-US" sz="2000" dirty="0" err="1">
                <a:latin typeface="Consolas" panose="020B0609020204030204" pitchFamily="49" charset="0"/>
              </a:rPr>
              <a:t>isReady</a:t>
            </a:r>
            <a:r>
              <a:rPr lang="en-US" sz="2000" dirty="0">
                <a:latin typeface="Consolas" panose="020B0609020204030204" pitchFamily="49" charset="0"/>
              </a:rPr>
              <a:t>' variable</a:t>
            </a:r>
            <a:endParaRPr lang="en-PK" sz="2000" dirty="0">
              <a:latin typeface="Consolas" panose="020B060902020403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FB55A6-FFE9-7D35-C5CC-0CDAC98E2EF7}"/>
              </a:ext>
            </a:extLst>
          </p:cNvPr>
          <p:cNvSpPr txBox="1">
            <a:spLocks/>
          </p:cNvSpPr>
          <p:nvPr/>
        </p:nvSpPr>
        <p:spPr>
          <a:xfrm>
            <a:off x="838200" y="4883151"/>
            <a:ext cx="10515600" cy="4508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Right-hand side could be an expression</a:t>
            </a:r>
            <a:endParaRPr lang="en-PK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959228-4974-8C8D-91D9-60B3006B78E2}"/>
              </a:ext>
            </a:extLst>
          </p:cNvPr>
          <p:cNvSpPr txBox="1">
            <a:spLocks/>
          </p:cNvSpPr>
          <p:nvPr/>
        </p:nvSpPr>
        <p:spPr>
          <a:xfrm>
            <a:off x="1209675" y="5435600"/>
            <a:ext cx="9886950" cy="38417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>
                <a:latin typeface="Consolas" panose="020B0609020204030204" pitchFamily="49" charset="0"/>
              </a:rPr>
              <a:t>double </a:t>
            </a:r>
            <a:r>
              <a:rPr lang="en-US" sz="1900" dirty="0" err="1">
                <a:latin typeface="Consolas" panose="020B0609020204030204" pitchFamily="49" charset="0"/>
              </a:rPr>
              <a:t>dp</a:t>
            </a:r>
            <a:r>
              <a:rPr lang="en-US" sz="1900" dirty="0">
                <a:latin typeface="Consolas" panose="020B0609020204030204" pitchFamily="49" charset="0"/>
              </a:rPr>
              <a:t> = 0.75*price; </a:t>
            </a:r>
            <a:r>
              <a:rPr lang="en-US" sz="1800" dirty="0">
                <a:latin typeface="Consolas" panose="020B0609020204030204" pitchFamily="49" charset="0"/>
              </a:rPr>
              <a:t>// initialize '</a:t>
            </a:r>
            <a:r>
              <a:rPr lang="en-US" sz="1800" dirty="0" err="1">
                <a:latin typeface="Consolas" panose="020B0609020204030204" pitchFamily="49" charset="0"/>
              </a:rPr>
              <a:t>dp</a:t>
            </a:r>
            <a:r>
              <a:rPr lang="en-US" sz="1800" dirty="0">
                <a:latin typeface="Consolas" panose="020B0609020204030204" pitchFamily="49" charset="0"/>
              </a:rPr>
              <a:t>' variable with 25% discount price</a:t>
            </a:r>
          </a:p>
        </p:txBody>
      </p:sp>
    </p:spTree>
    <p:extLst>
      <p:ext uri="{BB962C8B-B14F-4D97-AF65-F5344CB8AC3E}">
        <p14:creationId xmlns:p14="http://schemas.microsoft.com/office/powerpoint/2010/main" val="10492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9DF2-6CB8-09AC-AE41-B301CE575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10386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Initialization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123411-0E59-8006-9F4C-D5BDFEBEA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5625"/>
          </a:xfrm>
        </p:spPr>
        <p:txBody>
          <a:bodyPr>
            <a:normAutofit/>
          </a:bodyPr>
          <a:lstStyle/>
          <a:p>
            <a:r>
              <a:rPr lang="en-US" dirty="0"/>
              <a:t>While declaring a variable, you can also </a:t>
            </a:r>
            <a:r>
              <a:rPr lang="en-US" b="1" dirty="0">
                <a:solidFill>
                  <a:schemeClr val="accent1"/>
                </a:solidFill>
              </a:rPr>
              <a:t>initialize</a:t>
            </a:r>
            <a:r>
              <a:rPr lang="en-US" dirty="0"/>
              <a:t> it.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5A86D14-4ABD-2FA0-6CD3-CAA1AD370FD8}"/>
              </a:ext>
            </a:extLst>
          </p:cNvPr>
          <p:cNvSpPr txBox="1">
            <a:spLocks/>
          </p:cNvSpPr>
          <p:nvPr/>
        </p:nvSpPr>
        <p:spPr>
          <a:xfrm>
            <a:off x="1209675" y="2473325"/>
            <a:ext cx="9886950" cy="131762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int x = 123; 		</a:t>
            </a:r>
          </a:p>
        </p:txBody>
      </p:sp>
    </p:spTree>
    <p:extLst>
      <p:ext uri="{BB962C8B-B14F-4D97-AF65-F5344CB8AC3E}">
        <p14:creationId xmlns:p14="http://schemas.microsoft.com/office/powerpoint/2010/main" val="202792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F9CF72FF-6476-B61F-3F81-31EC58080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6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What is an Expression in C++?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62D46-2E5E-0373-1497-D617128E9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An </a:t>
            </a:r>
            <a:r>
              <a:rPr lang="en-US" dirty="0">
                <a:solidFill>
                  <a:srgbClr val="0000CC"/>
                </a:solidFill>
              </a:rPr>
              <a:t>expression</a:t>
            </a:r>
            <a:r>
              <a:rPr lang="en-US" dirty="0"/>
              <a:t> is a valid arrangement of variables, constants, and operators. </a:t>
            </a:r>
            <a:r>
              <a:rPr lang="en-US" sz="1800" dirty="0"/>
              <a:t>							</a:t>
            </a:r>
          </a:p>
          <a:p>
            <a:pPr>
              <a:defRPr/>
            </a:pPr>
            <a:r>
              <a:rPr lang="en-US" dirty="0"/>
              <a:t>In C++, each </a:t>
            </a:r>
            <a:r>
              <a:rPr lang="en-US" dirty="0">
                <a:solidFill>
                  <a:srgbClr val="0000CC"/>
                </a:solidFill>
              </a:rPr>
              <a:t>expression</a:t>
            </a:r>
            <a:r>
              <a:rPr lang="en-US" dirty="0"/>
              <a:t> can be evaluated to compute a value of a given type</a:t>
            </a:r>
          </a:p>
          <a:p>
            <a:pPr>
              <a:buNone/>
              <a:defRPr/>
            </a:pPr>
            <a:r>
              <a:rPr lang="en-US" sz="1800" dirty="0"/>
              <a:t>		</a:t>
            </a:r>
          </a:p>
          <a:p>
            <a:pPr>
              <a:defRPr/>
            </a:pPr>
            <a:r>
              <a:rPr lang="en-US" dirty="0"/>
              <a:t>In C++, an expression can be:</a:t>
            </a:r>
          </a:p>
          <a:p>
            <a:pPr lvl="1">
              <a:defRPr/>
            </a:pPr>
            <a:r>
              <a:rPr lang="en-US" dirty="0"/>
              <a:t>A variable or a constant (count, 100)</a:t>
            </a:r>
          </a:p>
          <a:p>
            <a:pPr lvl="1">
              <a:defRPr/>
            </a:pPr>
            <a:r>
              <a:rPr lang="en-US" dirty="0"/>
              <a:t>An operation (a + b, a * 2)</a:t>
            </a:r>
          </a:p>
          <a:p>
            <a:pPr lvl="1">
              <a:defRPr/>
            </a:pPr>
            <a:r>
              <a:rPr lang="en-US" dirty="0"/>
              <a:t>Function call (</a:t>
            </a:r>
            <a:r>
              <a:rPr lang="en-US" dirty="0" err="1"/>
              <a:t>getRectangleArea</a:t>
            </a:r>
            <a:r>
              <a:rPr lang="en-US" dirty="0"/>
              <a:t>(2, 4))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5E57423-0B7A-8DA9-39A1-236BD4EBE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65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Arithmetic Operators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B95D9D0-AADD-DD62-D40D-21C89C6FC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Operators: </a:t>
            </a:r>
            <a:r>
              <a:rPr lang="en-US" altLang="en-US" sz="2800" b="1"/>
              <a:t>+, -, * /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For </a:t>
            </a:r>
            <a:r>
              <a:rPr lang="en-US" altLang="en-US" sz="2800" b="1"/>
              <a:t>floating numbers</a:t>
            </a:r>
            <a:r>
              <a:rPr lang="en-US" altLang="en-US" sz="2800"/>
              <a:t>, the result as same as Math operations.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Note on </a:t>
            </a:r>
            <a:r>
              <a:rPr lang="en-US" altLang="en-US" sz="2800" b="1"/>
              <a:t>integer</a:t>
            </a:r>
            <a:r>
              <a:rPr lang="en-US" altLang="en-US" sz="2800"/>
              <a:t> division: the result is an integer.  </a:t>
            </a:r>
            <a:r>
              <a:rPr lang="en-US" altLang="en-US" sz="2800" b="1">
                <a:solidFill>
                  <a:srgbClr val="FF0000"/>
                </a:solidFill>
              </a:rPr>
              <a:t>7/2 is 3</a:t>
            </a:r>
            <a:r>
              <a:rPr lang="en-US" altLang="en-US" sz="28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/>
              <a:t>%</a:t>
            </a:r>
            <a:r>
              <a:rPr lang="en-US" altLang="en-US" sz="2800"/>
              <a:t> (remainder or modulo) is the special operator just for integer.  It yields an integer as the result.  </a:t>
            </a:r>
            <a:r>
              <a:rPr lang="en-US" altLang="en-US" sz="2800" b="1">
                <a:solidFill>
                  <a:srgbClr val="FF0000"/>
                </a:solidFill>
              </a:rPr>
              <a:t>7%2 is 1</a:t>
            </a:r>
            <a:r>
              <a:rPr lang="en-US" altLang="en-US" sz="280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Both / and % can only be used for positive integers.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Precedence rule is similar to Math.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0A172F3-8E16-3F0C-F58B-91586648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7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Assignment Operator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D780AC6C-BA52-4C25-CD48-6B38BA41A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operator to give (assign) a value to a variable.</a:t>
            </a:r>
          </a:p>
          <a:p>
            <a:pPr eaLnBrk="1" hangingPunct="1"/>
            <a:r>
              <a:rPr lang="en-US" altLang="en-US"/>
              <a:t>Denote as ‘=‘</a:t>
            </a:r>
          </a:p>
          <a:p>
            <a:pPr eaLnBrk="1" hangingPunct="1"/>
            <a:r>
              <a:rPr lang="en-US" altLang="en-US"/>
              <a:t>Only </a:t>
            </a:r>
            <a:r>
              <a:rPr lang="en-US" altLang="en-US" b="1">
                <a:solidFill>
                  <a:srgbClr val="0070C0"/>
                </a:solidFill>
              </a:rPr>
              <a:t>variable</a:t>
            </a:r>
            <a:r>
              <a:rPr lang="en-US" altLang="en-US"/>
              <a:t> can be on the left side.</a:t>
            </a:r>
          </a:p>
          <a:p>
            <a:pPr eaLnBrk="1" hangingPunct="1"/>
            <a:r>
              <a:rPr lang="en-US" altLang="en-US"/>
              <a:t>An </a:t>
            </a:r>
            <a:r>
              <a:rPr lang="en-US" altLang="en-US">
                <a:solidFill>
                  <a:schemeClr val="accent2"/>
                </a:solidFill>
              </a:rPr>
              <a:t>expression</a:t>
            </a:r>
            <a:r>
              <a:rPr lang="en-US" altLang="en-US"/>
              <a:t> is on the right side.</a:t>
            </a:r>
          </a:p>
          <a:p>
            <a:pPr eaLnBrk="1" hangingPunct="1"/>
            <a:r>
              <a:rPr lang="en-US" altLang="en-US"/>
              <a:t>Variables keep their assigned values until changed by another </a:t>
            </a:r>
            <a:r>
              <a:rPr lang="en-US" altLang="en-US" b="1"/>
              <a:t>assignment statement </a:t>
            </a:r>
            <a:r>
              <a:rPr lang="en-US" altLang="en-US"/>
              <a:t>or by </a:t>
            </a:r>
            <a:r>
              <a:rPr lang="en-US" altLang="en-US" b="1"/>
              <a:t>reading in </a:t>
            </a:r>
            <a:r>
              <a:rPr lang="en-US" altLang="en-US"/>
              <a:t>a new value.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1F99569-F9C8-DAA5-A45E-CC34C33AB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24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Assignment Operator Mechanism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6CA0CA46-D71B-1547-5917-416B01CBB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count = 0;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b="1">
                <a:latin typeface="Courier New" panose="02070309020205020404" pitchFamily="49" charset="0"/>
              </a:rPr>
              <a:t>int starting;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b="1">
                <a:latin typeface="Courier New" panose="02070309020205020404" pitchFamily="49" charset="0"/>
              </a:rPr>
              <a:t>starting = count + 5;</a:t>
            </a:r>
          </a:p>
          <a:p>
            <a:pPr eaLnBrk="1" hangingPunct="1"/>
            <a:r>
              <a:rPr lang="en-US" altLang="en-US"/>
              <a:t>Expression evaluation:</a:t>
            </a:r>
          </a:p>
          <a:p>
            <a:pPr lvl="1" eaLnBrk="1" hangingPunct="1"/>
            <a:r>
              <a:rPr lang="en-US" altLang="en-US"/>
              <a:t>Get value of </a:t>
            </a:r>
            <a:r>
              <a:rPr lang="en-US" altLang="en-US" b="1">
                <a:latin typeface="Courier New" panose="02070309020205020404" pitchFamily="49" charset="0"/>
              </a:rPr>
              <a:t>count</a:t>
            </a:r>
            <a:r>
              <a:rPr lang="en-US" altLang="en-US"/>
              <a:t>: 0</a:t>
            </a:r>
          </a:p>
          <a:p>
            <a:pPr lvl="1" eaLnBrk="1" hangingPunct="1"/>
            <a:r>
              <a:rPr lang="en-US" altLang="en-US"/>
              <a:t>Add 5 to it.</a:t>
            </a:r>
          </a:p>
          <a:p>
            <a:pPr lvl="1" eaLnBrk="1" hangingPunct="1"/>
            <a:r>
              <a:rPr lang="en-US" altLang="en-US"/>
              <a:t>Assign to </a:t>
            </a:r>
            <a:r>
              <a:rPr lang="en-US" altLang="en-US" b="1">
                <a:latin typeface="Courier New" panose="02070309020205020404" pitchFamily="49" charset="0"/>
              </a:rPr>
              <a:t>starting</a:t>
            </a:r>
            <a:endParaRPr lang="en-US" altLang="en-US"/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2E16-AA47-61D9-BAD8-2C45D3F7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5" y="103869"/>
            <a:ext cx="10041294" cy="89450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Constant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0CE50-8583-92E5-1660-0C68F4138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922"/>
            <a:ext cx="10358535" cy="4768042"/>
          </a:xfrm>
        </p:spPr>
        <p:txBody>
          <a:bodyPr/>
          <a:lstStyle/>
          <a:p>
            <a:r>
              <a:rPr lang="en-US" dirty="0"/>
              <a:t>A constant is a type of variable whose value cannot be changed once it has been initialized. Constants are used to represent fixed values that should not be modified during the execution of a program.</a:t>
            </a:r>
          </a:p>
          <a:p>
            <a:r>
              <a:rPr lang="en-US" dirty="0"/>
              <a:t>You should always declare the variable as constant when you have values that are unlikely to change:</a:t>
            </a:r>
          </a:p>
          <a:p>
            <a:pPr marL="411039" lvl="1" indent="0">
              <a:buNone/>
            </a:pPr>
            <a:r>
              <a:rPr lang="en-US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minutesPerHour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PI =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Question: Given the user input of radius, calculate the area of circle. 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37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0E4F3D9-8C11-628F-3D8A-B70268495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847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C++ Data Type String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8D66EEC4-50DD-FE64-AF0A-857DA06B3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b="1"/>
              <a:t>A </a:t>
            </a:r>
            <a:r>
              <a:rPr lang="en-US" altLang="en-US" sz="2800" b="1">
                <a:solidFill>
                  <a:srgbClr val="990000"/>
                </a:solidFill>
              </a:rPr>
              <a:t>string </a:t>
            </a:r>
            <a:r>
              <a:rPr lang="en-US" altLang="en-US" sz="2800" b="1"/>
              <a:t>is a</a:t>
            </a:r>
            <a:r>
              <a:rPr lang="en-US" altLang="en-US" sz="2800" b="1">
                <a:solidFill>
                  <a:srgbClr val="990000"/>
                </a:solidFill>
              </a:rPr>
              <a:t> sequence of characters enclosed in double quotes</a:t>
            </a:r>
            <a:endParaRPr lang="en-US" altLang="en-US" b="1"/>
          </a:p>
          <a:p>
            <a:pPr eaLnBrk="1" hangingPunct="1">
              <a:buFont typeface="Monotype Sorts" pitchFamily="2" charset="2"/>
              <a:buNone/>
            </a:pPr>
            <a:endParaRPr lang="en-US" altLang="en-US" sz="1400" b="1"/>
          </a:p>
          <a:p>
            <a:pPr eaLnBrk="1" hangingPunct="1">
              <a:buSzPct val="60000"/>
            </a:pPr>
            <a:r>
              <a:rPr lang="en-US" altLang="en-US" b="1">
                <a:solidFill>
                  <a:srgbClr val="990000"/>
                </a:solidFill>
              </a:rPr>
              <a:t>string </a:t>
            </a:r>
            <a:r>
              <a:rPr lang="en-US" altLang="en-US" b="1"/>
              <a:t> sample values</a:t>
            </a:r>
            <a:r>
              <a:rPr lang="en-US" altLang="en-US"/>
              <a:t> 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/>
              <a:t>   </a:t>
            </a:r>
            <a:r>
              <a:rPr lang="en-US" altLang="en-US" b="1">
                <a:latin typeface="Courier New" panose="02070309020205020404" pitchFamily="49" charset="0"/>
              </a:rPr>
              <a:t>“Hello”   “Year 2000”   “1234”</a:t>
            </a:r>
            <a:endParaRPr lang="en-US" altLang="en-US" sz="2800" b="1">
              <a:solidFill>
                <a:srgbClr val="990000"/>
              </a:solidFill>
            </a:endParaRPr>
          </a:p>
          <a:p>
            <a:pPr lvl="1" eaLnBrk="1" hangingPunct="1">
              <a:buFont typeface="Monotype Sorts" pitchFamily="2" charset="2"/>
              <a:buNone/>
            </a:pPr>
            <a:endParaRPr lang="en-US" altLang="en-US" sz="1400" b="1"/>
          </a:p>
          <a:p>
            <a:pPr eaLnBrk="1" hangingPunct="1"/>
            <a:r>
              <a:rPr lang="en-US" altLang="en-US" sz="2800" b="1"/>
              <a:t>The empty string (null string) contains no displayed characters and is written as 	</a:t>
            </a:r>
            <a:r>
              <a:rPr lang="en-US" altLang="en-US"/>
              <a:t> </a:t>
            </a:r>
            <a:r>
              <a:rPr lang="en-US" altLang="en-US" b="1">
                <a:latin typeface="Courier New" panose="02070309020205020404" pitchFamily="49" charset="0"/>
              </a:rPr>
              <a:t>“” 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CE2E8FC5-C9EB-9A4F-8D54-A3D54881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976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C++ Data Type String (cont.)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61472C50-2651-AE0B-BF15-26D5BE751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>
                <a:solidFill>
                  <a:srgbClr val="D99694"/>
                </a:solidFill>
              </a:rPr>
              <a:t>string</a:t>
            </a:r>
            <a:r>
              <a:rPr lang="en-US" altLang="en-US" sz="2800" b="1"/>
              <a:t> is not a built-in (standard) type</a:t>
            </a:r>
            <a:endParaRPr lang="en-US" altLang="en-US" b="1"/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/>
              <a:t>it is a programmer-defined data type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/>
              <a:t>it is provided in the C++ standard library</a:t>
            </a:r>
            <a:endParaRPr lang="en-US" altLang="en-US" sz="2400">
              <a:solidFill>
                <a:srgbClr val="99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Need to include the following two lines: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b="1"/>
              <a:t>#include &lt;string&gt;   		</a:t>
            </a:r>
            <a:endParaRPr lang="en-US" altLang="en-US"/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b="1"/>
              <a:t>using namespace std;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/>
              <a:t>string operations </a:t>
            </a:r>
            <a:r>
              <a:rPr lang="en-US" altLang="en-US" sz="2800"/>
              <a:t>include</a:t>
            </a:r>
            <a:r>
              <a:rPr lang="en-US" altLang="en-US" sz="2800" b="1"/>
              <a:t>	</a:t>
            </a:r>
            <a:endParaRPr lang="en-US" altLang="en-US" b="1"/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/>
              <a:t>comparing 2 string values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/>
              <a:t>searching a string for a particular character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/>
              <a:t>joining one string to another (concatenation)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/>
              <a:t>etc...</a:t>
            </a:r>
            <a:endParaRPr lang="en-US" altLang="en-US" sz="2400">
              <a:solidFill>
                <a:srgbClr val="99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50B4B-F3D7-CDD8-78BD-CCBB1E3D3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90"/>
            <a:ext cx="10515600" cy="46560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#include &lt;iostream&gt;</a:t>
            </a:r>
          </a:p>
          <a:p>
            <a:pPr marL="0" indent="0">
              <a:buNone/>
            </a:pPr>
            <a:r>
              <a:rPr lang="en-US" sz="1600" dirty="0"/>
              <a:t>#include &lt;string&gt;</a:t>
            </a:r>
          </a:p>
          <a:p>
            <a:pPr marL="0" indent="0">
              <a:buNone/>
            </a:pPr>
            <a:r>
              <a:rPr lang="en-US" sz="1600" dirty="0"/>
              <a:t>int main() {</a:t>
            </a:r>
          </a:p>
          <a:p>
            <a:pPr marL="0" indent="0">
              <a:buNone/>
            </a:pPr>
            <a:r>
              <a:rPr lang="en-US" sz="1600" dirty="0"/>
              <a:t>    // Create a string</a:t>
            </a:r>
          </a:p>
          <a:p>
            <a:pPr marL="0" indent="0">
              <a:buNone/>
            </a:pPr>
            <a:r>
              <a:rPr lang="en-US" sz="1600" dirty="0"/>
              <a:t>    std::string greeting = "Hello, World!";</a:t>
            </a:r>
          </a:p>
          <a:p>
            <a:pPr marL="0" indent="0">
              <a:buNone/>
            </a:pPr>
            <a:r>
              <a:rPr lang="en-US" sz="1600" dirty="0"/>
              <a:t>    // Print the string</a:t>
            </a:r>
          </a:p>
          <a:p>
            <a:pPr marL="0" indent="0">
              <a:buNone/>
            </a:pPr>
            <a:r>
              <a:rPr lang="en-US" sz="1600" dirty="0"/>
              <a:t>    std::</a:t>
            </a:r>
            <a:r>
              <a:rPr lang="en-US" sz="1600" dirty="0" err="1"/>
              <a:t>cout</a:t>
            </a:r>
            <a:r>
              <a:rPr lang="en-US" sz="1600" dirty="0"/>
              <a:t> &lt;&lt; greeting &lt;&lt; std::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 // Get the length of the string</a:t>
            </a:r>
          </a:p>
          <a:p>
            <a:pPr marL="0" indent="0">
              <a:buNone/>
            </a:pPr>
            <a:r>
              <a:rPr lang="en-US" sz="1600" dirty="0"/>
              <a:t>    std::</a:t>
            </a:r>
            <a:r>
              <a:rPr lang="en-US" sz="1600" dirty="0" err="1"/>
              <a:t>cout</a:t>
            </a:r>
            <a:r>
              <a:rPr lang="en-US" sz="1600" dirty="0"/>
              <a:t> &lt;&lt; "Length of the string: " &lt;&lt; </a:t>
            </a:r>
            <a:r>
              <a:rPr lang="en-US" sz="1600" dirty="0" err="1"/>
              <a:t>greeting.length</a:t>
            </a:r>
            <a:r>
              <a:rPr lang="en-US" sz="1600" dirty="0"/>
              <a:t>() &lt;&lt; std::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 // Change the string</a:t>
            </a:r>
          </a:p>
          <a:p>
            <a:pPr marL="0" indent="0">
              <a:buNone/>
            </a:pPr>
            <a:r>
              <a:rPr lang="en-US" sz="1600" dirty="0"/>
              <a:t>    greeting = "Goodbye, World!";</a:t>
            </a:r>
          </a:p>
          <a:p>
            <a:pPr marL="0" indent="0">
              <a:buNone/>
            </a:pPr>
            <a:r>
              <a:rPr lang="en-US" sz="1600" dirty="0"/>
              <a:t>    std::</a:t>
            </a:r>
            <a:r>
              <a:rPr lang="en-US" sz="1600" dirty="0" err="1"/>
              <a:t>cout</a:t>
            </a:r>
            <a:r>
              <a:rPr lang="en-US" sz="1600" dirty="0"/>
              <a:t> &lt;&lt; greeting &lt;&lt; std::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return 0;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619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97EB-A9AD-4FEC-C355-BF6B1982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20" y="85208"/>
            <a:ext cx="9910666" cy="93182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Cin vs </a:t>
            </a:r>
            <a:r>
              <a:rPr lang="en-US" dirty="0" err="1">
                <a:solidFill>
                  <a:schemeClr val="bg1"/>
                </a:solidFill>
              </a:rPr>
              <a:t>getline</a:t>
            </a:r>
            <a:r>
              <a:rPr lang="en-US" dirty="0">
                <a:solidFill>
                  <a:schemeClr val="bg1"/>
                </a:solidFill>
              </a:rPr>
              <a:t>()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8B6279-D7F3-2AE9-C0AB-0FD34A1580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8975" y="1495099"/>
            <a:ext cx="991066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primary difference between </a:t>
            </a:r>
            <a:r>
              <a:rPr lang="en-PK" altLang="en-PK" sz="1800" dirty="0">
                <a:latin typeface="Arial" panose="020B0604020202020204" pitchFamily="34" charset="0"/>
              </a:rPr>
              <a:t>std::</a:t>
            </a:r>
            <a:r>
              <a:rPr lang="en-PK" altLang="en-PK" sz="1800" dirty="0" err="1">
                <a:latin typeface="Arial" panose="020B0604020202020204" pitchFamily="34" charset="0"/>
              </a:rPr>
              <a:t>getline</a:t>
            </a:r>
            <a:r>
              <a:rPr lang="en-PK" altLang="en-PK" sz="1800" dirty="0">
                <a:latin typeface="Arial" panose="020B0604020202020204" pitchFamily="34" charset="0"/>
              </a:rPr>
              <a:t> and std::</a:t>
            </a:r>
            <a:r>
              <a:rPr lang="en-PK" altLang="en-PK" sz="1800" dirty="0" err="1">
                <a:latin typeface="Arial" panose="020B0604020202020204" pitchFamily="34" charset="0"/>
              </a:rPr>
              <a:t>cin</a:t>
            </a:r>
            <a:r>
              <a:rPr lang="en-PK" altLang="en-PK" sz="1800" dirty="0">
                <a:latin typeface="Arial" panose="020B0604020202020204" pitchFamily="34" charset="0"/>
              </a:rPr>
              <a:t> in C++ lies in how they handle input</a:t>
            </a:r>
            <a:r>
              <a:rPr lang="en-US" altLang="en-PK" sz="1800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PK" altLang="en-PK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std::</a:t>
            </a:r>
            <a:r>
              <a:rPr kumimoji="0" lang="en-PK" altLang="en-PK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cin</a:t>
            </a:r>
            <a:endParaRPr kumimoji="0" lang="en-PK" altLang="en-PK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Reads input from the standard input (usually the keyboard) up to the first whitespace character (space, tab, or newline).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reads only a single word or token. It stops reading when it encounters whitespace, which means if the user types a string with spaces, only the part before the first space will be read.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PK" sz="18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>
                <a:latin typeface="Arial Unicode MS"/>
              </a:rPr>
              <a:t>std::</a:t>
            </a:r>
            <a:r>
              <a:rPr lang="en-US" sz="2400" b="1" dirty="0" err="1">
                <a:latin typeface="Arial Unicode MS"/>
              </a:rPr>
              <a:t>getline</a:t>
            </a:r>
            <a:endParaRPr lang="en-US" sz="2400" b="1" dirty="0">
              <a:latin typeface="Arial Unicode MS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Arial" panose="020B0604020202020204" pitchFamily="34" charset="0"/>
              </a:rPr>
              <a:t>Reads an entire line of input, including spaces, until it encounters a newline character.</a:t>
            </a:r>
            <a:endParaRPr lang="en-PK" altLang="en-PK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95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690616F-02BD-3B2D-A4C1-62CA8DCE0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Arithmetic Expressions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78F133C-9EE1-AC8E-EB81-6FA6C93E3DB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981200" y="1600200"/>
            <a:ext cx="8077200" cy="1066800"/>
          </a:xfrm>
        </p:spPr>
        <p:txBody>
          <a:bodyPr/>
          <a:lstStyle/>
          <a:p>
            <a:pPr eaLnBrk="1" hangingPunct="1"/>
            <a:r>
              <a:rPr lang="en-US" altLang="en-US" sz="2800"/>
              <a:t>Arithmetic operations can be used to express the mathematic expression in C++:</a:t>
            </a:r>
          </a:p>
          <a:p>
            <a:pPr eaLnBrk="1" hangingPunct="1"/>
            <a:endParaRPr lang="en-US" altLang="en-US" sz="2800">
              <a:sym typeface="Wingdings" panose="05000000000000000000" pitchFamily="2" charset="2"/>
            </a:endParaRPr>
          </a:p>
          <a:p>
            <a:pPr eaLnBrk="1" hangingPunct="1"/>
            <a:endParaRPr lang="en-US" altLang="en-US" sz="2800"/>
          </a:p>
        </p:txBody>
      </p:sp>
      <p:graphicFrame>
        <p:nvGraphicFramePr>
          <p:cNvPr id="36868" name="Object 4">
            <a:extLst>
              <a:ext uri="{FF2B5EF4-FFF2-40B4-BE49-F238E27FC236}">
                <a16:creationId xmlns:a16="http://schemas.microsoft.com/office/drawing/2014/main" id="{BE819FDF-6EEE-6287-0A69-1A49BFFA761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38401" y="2667000"/>
          <a:ext cx="1717675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680" imgH="1295280" progId="Equation.3">
                  <p:embed/>
                </p:oleObj>
              </mc:Choice>
              <mc:Fallback>
                <p:oleObj name="Equation" r:id="rId2" imgW="634680" imgH="1295280" progId="Equation.3">
                  <p:embed/>
                  <p:pic>
                    <p:nvPicPr>
                      <p:cNvPr id="36868" name="Object 4">
                        <a:extLst>
                          <a:ext uri="{FF2B5EF4-FFF2-40B4-BE49-F238E27FC236}">
                            <a16:creationId xmlns:a16="http://schemas.microsoft.com/office/drawing/2014/main" id="{BE819FDF-6EEE-6287-0A69-1A49BFFA7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2667000"/>
                        <a:ext cx="1717675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6">
            <a:extLst>
              <a:ext uri="{FF2B5EF4-FFF2-40B4-BE49-F238E27FC236}">
                <a16:creationId xmlns:a16="http://schemas.microsoft.com/office/drawing/2014/main" id="{89B500F2-AB1F-3A0A-0B81-17B88ED1139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76801" y="2667001"/>
          <a:ext cx="2868613" cy="298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200" imgH="888840" progId="Equation.3">
                  <p:embed/>
                </p:oleObj>
              </mc:Choice>
              <mc:Fallback>
                <p:oleObj name="Equation" r:id="rId4" imgW="952200" imgH="888840" progId="Equation.3">
                  <p:embed/>
                  <p:pic>
                    <p:nvPicPr>
                      <p:cNvPr id="36869" name="Object 6">
                        <a:extLst>
                          <a:ext uri="{FF2B5EF4-FFF2-40B4-BE49-F238E27FC236}">
                            <a16:creationId xmlns:a16="http://schemas.microsoft.com/office/drawing/2014/main" id="{89B500F2-AB1F-3A0A-0B81-17B88ED113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2667001"/>
                        <a:ext cx="2868613" cy="298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93FF09C1-832B-019A-4971-8EE95AB73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6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Boolean Expression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9E2632EB-A431-5045-9CE8-BAF90AAD7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Expression that yields </a:t>
            </a:r>
            <a:r>
              <a:rPr lang="en-US" altLang="en-US" b="1">
                <a:solidFill>
                  <a:srgbClr val="00B050"/>
                </a:solidFill>
              </a:rPr>
              <a:t>bool</a:t>
            </a:r>
            <a:r>
              <a:rPr lang="en-US" altLang="en-US" b="1"/>
              <a:t> result</a:t>
            </a:r>
          </a:p>
          <a:p>
            <a:pPr eaLnBrk="1" hangingPunct="1"/>
            <a:r>
              <a:rPr lang="en-US" altLang="en-US" b="1"/>
              <a:t>Include:</a:t>
            </a:r>
            <a:endParaRPr lang="en-US" altLang="en-US" sz="1600"/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en-US" b="1" i="1">
                <a:solidFill>
                  <a:srgbClr val="0000CC"/>
                </a:solidFill>
              </a:rPr>
              <a:t>6 Relational Operators</a:t>
            </a:r>
            <a:endParaRPr lang="en-US" altLang="en-US"/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en-US" sz="3600" b="1"/>
              <a:t>		&lt;  	  &lt;=      &gt;      &gt;=   	==      != </a:t>
            </a:r>
            <a:endParaRPr lang="en-US" altLang="en-US"/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en-US" b="1" i="1">
                <a:solidFill>
                  <a:srgbClr val="0000CC"/>
                </a:solidFill>
              </a:rPr>
              <a:t>3 Logical Operators</a:t>
            </a:r>
            <a:endParaRPr lang="en-US" altLang="en-US"/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en-US" sz="3600" b="1"/>
              <a:t>			!		&amp;&amp;		||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9682097F-94CF-26E8-008C-D55E4BDD8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85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Relational Operators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15C9C4E5-B102-0750-0AA9-EE1084370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00600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2400"/>
              <a:t>are used in boolean expressions of form:</a:t>
            </a:r>
            <a:endParaRPr lang="en-US" altLang="en-US" sz="2400">
              <a:latin typeface="Monaco" charset="0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b="1" i="1">
                <a:solidFill>
                  <a:srgbClr val="790015"/>
                </a:solidFill>
              </a:rPr>
              <a:t>  </a:t>
            </a:r>
            <a:r>
              <a:rPr lang="en-US" altLang="en-US" sz="2400" b="1" i="1">
                <a:solidFill>
                  <a:srgbClr val="0000CC"/>
                </a:solidFill>
              </a:rPr>
              <a:t>ExpressionA</a:t>
            </a:r>
            <a:r>
              <a:rPr lang="en-US" altLang="en-US" sz="2400" b="1" i="1">
                <a:solidFill>
                  <a:schemeClr val="tx2"/>
                </a:solidFill>
              </a:rPr>
              <a:t>           </a:t>
            </a:r>
            <a:r>
              <a:rPr lang="en-US" altLang="en-US" sz="2400" b="1" i="1">
                <a:solidFill>
                  <a:srgbClr val="FF0000"/>
                </a:solidFill>
              </a:rPr>
              <a:t>Operator</a:t>
            </a:r>
            <a:r>
              <a:rPr lang="en-US" altLang="en-US" sz="2400" b="1" i="1">
                <a:solidFill>
                  <a:schemeClr val="tx2"/>
                </a:solidFill>
              </a:rPr>
              <a:t>          </a:t>
            </a:r>
            <a:r>
              <a:rPr lang="en-US" altLang="en-US" sz="2400" b="1" i="1">
                <a:solidFill>
                  <a:srgbClr val="0000CC"/>
                </a:solidFill>
              </a:rPr>
              <a:t>ExpressionB</a:t>
            </a:r>
            <a:endParaRPr lang="en-US" altLang="en-US" sz="2400" b="1"/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en-US" sz="2000" b="1"/>
              <a:t>temperature              &gt;                humidity</a:t>
            </a: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en-US" sz="2000" b="1"/>
              <a:t>B * B - 4.0 * A * C      &gt;                0.0</a:t>
            </a: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en-US" sz="2000" b="1"/>
              <a:t>   abs (number)        </a:t>
            </a:r>
            <a:r>
              <a:rPr lang="en-US" altLang="en-US" sz="2000" b="1">
                <a:latin typeface="Bookman Old Style" panose="02050604050505020204" pitchFamily="18" charset="0"/>
              </a:rPr>
              <a:t>==          </a:t>
            </a:r>
            <a:r>
              <a:rPr lang="en-US" altLang="en-US" sz="2000" b="1"/>
              <a:t>35</a:t>
            </a: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en-US" sz="2000" b="1"/>
              <a:t>             initial</a:t>
            </a:r>
            <a:r>
              <a:rPr lang="en-US" altLang="en-US" sz="2000" b="1">
                <a:latin typeface="Arial Rounded MT Bold" panose="020F0704030504030204" pitchFamily="34" charset="0"/>
              </a:rPr>
              <a:t>           !</a:t>
            </a:r>
            <a:r>
              <a:rPr lang="en-US" altLang="en-US" sz="2000" b="1">
                <a:latin typeface="Bookman Old Style" panose="02050604050505020204" pitchFamily="18" charset="0"/>
              </a:rPr>
              <a:t>=           </a:t>
            </a:r>
            <a:r>
              <a:rPr lang="en-US" altLang="en-US" sz="2000" b="1"/>
              <a:t>‘Q’</a:t>
            </a:r>
            <a:endParaRPr lang="en-US" altLang="en-US" sz="2000"/>
          </a:p>
          <a:p>
            <a:pPr eaLnBrk="1" hangingPunct="1"/>
            <a:r>
              <a:rPr lang="en-US" altLang="en-US" sz="2000" b="1"/>
              <a:t>Notes: 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1800"/>
              <a:t>== (equivalency) is</a:t>
            </a:r>
            <a:r>
              <a:rPr lang="en-US" altLang="en-US" sz="1800" b="1"/>
              <a:t> NOT</a:t>
            </a:r>
            <a:r>
              <a:rPr lang="en-US" altLang="en-US" sz="1800"/>
              <a:t> = (assignment)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1800"/>
              <a:t>characters are compared alphabetically.  However, lowercase letters are higher ASCII value.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1800"/>
              <a:t>An integer variable can be assigned the result of a logical expression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000"/>
              <a:t>You cannot string inequalities together:</a:t>
            </a:r>
          </a:p>
          <a:p>
            <a:pPr lvl="3" eaLnBrk="1" hangingPunct="1">
              <a:buFont typeface="Arial" panose="020B0604020202020204" pitchFamily="34" charset="0"/>
              <a:buNone/>
            </a:pPr>
            <a:r>
              <a:rPr lang="en-US" altLang="en-US" sz="1800"/>
              <a:t>Bad Code:  </a:t>
            </a:r>
            <a:r>
              <a:rPr lang="en-US" altLang="en-US" sz="1800" b="1"/>
              <a:t>4&lt;x&lt;6  </a:t>
            </a:r>
            <a:r>
              <a:rPr lang="en-US" altLang="en-US" sz="1800"/>
              <a:t>  Good Code:   </a:t>
            </a:r>
            <a:r>
              <a:rPr lang="en-US" altLang="en-US" sz="1800" b="1"/>
              <a:t>(x &gt; 4) &amp;&amp;(x &lt; 6)</a:t>
            </a:r>
            <a:endParaRPr lang="en-US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EC626D30-BEBA-D9D7-5269-8E638762F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Relational Operators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87B2E6C3-C3E5-9944-606F-F0109CDF2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029200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int  x, y 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x = 4;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y = 6;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 u="sng">
                <a:solidFill>
                  <a:schemeClr val="tx2"/>
                </a:solidFill>
              </a:rPr>
              <a:t>	</a:t>
            </a:r>
            <a:r>
              <a:rPr lang="en-US" altLang="en-US" sz="1800" b="1" u="sng">
                <a:solidFill>
                  <a:srgbClr val="0000CC"/>
                </a:solidFill>
              </a:rPr>
              <a:t>EXPRESSION			VALUE</a:t>
            </a:r>
            <a:endParaRPr lang="en-US" altLang="en-US" sz="1800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/>
              <a:t>	</a:t>
            </a:r>
            <a:r>
              <a:rPr lang="en-US" altLang="en-US" sz="1800" b="1"/>
              <a:t>x &lt; y				true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	x + 2 &lt; y			false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	x != y				true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	x + 3 &gt;= y			true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	y == x				false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	y == x+2			true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	y = x + 3			7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 b="1"/>
              <a:t>       y = x &lt; 3			0  </a:t>
            </a:r>
            <a:r>
              <a:rPr lang="en-US" altLang="en-US" sz="1800"/>
              <a:t>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1800" b="1"/>
              <a:t>       y = x &gt; 3			1  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D2C434C5-7480-A40B-59A2-EE07AFB1E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232" y="103869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Logical Operators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3861EFD0-3816-3732-E423-4C46B26A7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006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2400"/>
              <a:t>are used in boolean expressions of form:</a:t>
            </a:r>
            <a:endParaRPr lang="en-US" altLang="en-US" sz="2400">
              <a:latin typeface="Monaco" charset="0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b="1" i="1">
                <a:solidFill>
                  <a:srgbClr val="790015"/>
                </a:solidFill>
              </a:rPr>
              <a:t>  </a:t>
            </a:r>
            <a:r>
              <a:rPr lang="en-US" altLang="en-US" sz="1600" b="1" i="1">
                <a:solidFill>
                  <a:srgbClr val="0000CC"/>
                </a:solidFill>
              </a:rPr>
              <a:t>ExpressionA</a:t>
            </a:r>
            <a:r>
              <a:rPr lang="en-US" altLang="en-US" sz="1600" b="1" i="1">
                <a:solidFill>
                  <a:schemeClr val="tx2"/>
                </a:solidFill>
              </a:rPr>
              <a:t> </a:t>
            </a:r>
            <a:r>
              <a:rPr lang="en-US" altLang="en-US" sz="1600" b="1" i="1">
                <a:solidFill>
                  <a:srgbClr val="FF0000"/>
                </a:solidFill>
              </a:rPr>
              <a:t>Operator</a:t>
            </a:r>
            <a:r>
              <a:rPr lang="en-US" altLang="en-US" sz="1600" b="1" i="1">
                <a:solidFill>
                  <a:schemeClr val="tx2"/>
                </a:solidFill>
              </a:rPr>
              <a:t> </a:t>
            </a:r>
            <a:r>
              <a:rPr lang="en-US" altLang="en-US" sz="1600" b="1" i="1">
                <a:solidFill>
                  <a:srgbClr val="0000CC"/>
                </a:solidFill>
              </a:rPr>
              <a:t>ExpressionB</a:t>
            </a:r>
            <a:endParaRPr lang="en-US" altLang="en-US" sz="1600" b="1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       A   ||  B  (</a:t>
            </a:r>
            <a:r>
              <a:rPr lang="en-US" altLang="en-US" sz="1600" b="1">
                <a:solidFill>
                  <a:srgbClr val="FF0000"/>
                </a:solidFill>
              </a:rPr>
              <a:t>true</a:t>
            </a:r>
            <a:r>
              <a:rPr lang="en-US" altLang="en-US" sz="1600" b="1"/>
              <a:t> if either A </a:t>
            </a:r>
            <a:r>
              <a:rPr lang="en-US" altLang="en-US" sz="1600" b="1">
                <a:solidFill>
                  <a:srgbClr val="0070C0"/>
                </a:solidFill>
              </a:rPr>
              <a:t>or</a:t>
            </a:r>
            <a:r>
              <a:rPr lang="en-US" altLang="en-US" sz="1600" b="1"/>
              <a:t> B </a:t>
            </a:r>
            <a:r>
              <a:rPr lang="en-US" altLang="en-US" sz="1600" b="1">
                <a:solidFill>
                  <a:srgbClr val="0070C0"/>
                </a:solidFill>
              </a:rPr>
              <a:t>or</a:t>
            </a:r>
            <a:r>
              <a:rPr lang="en-US" altLang="en-US" sz="1600" b="1"/>
              <a:t> both are </a:t>
            </a:r>
            <a:r>
              <a:rPr lang="en-US" altLang="en-US" sz="1600" b="1">
                <a:solidFill>
                  <a:srgbClr val="00B050"/>
                </a:solidFill>
              </a:rPr>
              <a:t>true</a:t>
            </a:r>
            <a:r>
              <a:rPr lang="en-US" altLang="en-US" sz="1600" b="1"/>
              <a:t>.  It is </a:t>
            </a:r>
            <a:r>
              <a:rPr lang="en-US" altLang="en-US" sz="1600" b="1">
                <a:solidFill>
                  <a:srgbClr val="FF0000"/>
                </a:solidFill>
              </a:rPr>
              <a:t>false</a:t>
            </a:r>
            <a:r>
              <a:rPr lang="en-US" altLang="en-US" sz="1600" b="1"/>
              <a:t> otherwise)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       </a:t>
            </a:r>
            <a:r>
              <a:rPr lang="en-US" altLang="en-US" sz="1800" b="1"/>
              <a:t>A  &amp;&amp; B  (</a:t>
            </a:r>
            <a:r>
              <a:rPr lang="en-US" altLang="en-US" sz="1800" b="1">
                <a:solidFill>
                  <a:srgbClr val="FF0000"/>
                </a:solidFill>
              </a:rPr>
              <a:t>true</a:t>
            </a:r>
            <a:r>
              <a:rPr lang="en-US" altLang="en-US" sz="1800" b="1"/>
              <a:t> if both A </a:t>
            </a:r>
            <a:r>
              <a:rPr lang="en-US" altLang="en-US" sz="1800" b="1">
                <a:solidFill>
                  <a:srgbClr val="0070C0"/>
                </a:solidFill>
              </a:rPr>
              <a:t>and</a:t>
            </a:r>
            <a:r>
              <a:rPr lang="en-US" altLang="en-US" sz="1800" b="1"/>
              <a:t> B are </a:t>
            </a:r>
            <a:r>
              <a:rPr lang="en-US" altLang="en-US" sz="1800" b="1">
                <a:solidFill>
                  <a:srgbClr val="00B050"/>
                </a:solidFill>
              </a:rPr>
              <a:t>true</a:t>
            </a:r>
            <a:r>
              <a:rPr lang="en-US" altLang="en-US" sz="1800" b="1"/>
              <a:t>.  It is </a:t>
            </a:r>
            <a:r>
              <a:rPr lang="en-US" altLang="en-US" sz="1800" b="1">
                <a:solidFill>
                  <a:srgbClr val="FF0000"/>
                </a:solidFill>
              </a:rPr>
              <a:t>false</a:t>
            </a:r>
            <a:r>
              <a:rPr lang="en-US" altLang="en-US" sz="1800" b="1"/>
              <a:t> otherwise)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/>
              <a:t>or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 i="1">
                <a:solidFill>
                  <a:srgbClr val="FF0000"/>
                </a:solidFill>
              </a:rPr>
              <a:t>Operator</a:t>
            </a:r>
            <a:r>
              <a:rPr lang="en-US" altLang="en-US" sz="1600" b="1" i="1">
                <a:solidFill>
                  <a:schemeClr val="tx2"/>
                </a:solidFill>
              </a:rPr>
              <a:t> </a:t>
            </a:r>
            <a:r>
              <a:rPr lang="en-US" altLang="en-US" sz="1600" b="1" i="1">
                <a:solidFill>
                  <a:srgbClr val="0000CC"/>
                </a:solidFill>
              </a:rPr>
              <a:t>Expression</a:t>
            </a:r>
            <a:endParaRPr lang="en-US" altLang="en-US" sz="1600" b="1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      !A (</a:t>
            </a:r>
            <a:r>
              <a:rPr lang="en-US" altLang="en-US" sz="1600" b="1">
                <a:solidFill>
                  <a:srgbClr val="FF0000"/>
                </a:solidFill>
              </a:rPr>
              <a:t>true</a:t>
            </a:r>
            <a:r>
              <a:rPr lang="en-US" altLang="en-US" sz="1600" b="1"/>
              <a:t> if A is </a:t>
            </a:r>
            <a:r>
              <a:rPr lang="en-US" altLang="en-US" sz="1600" b="1">
                <a:solidFill>
                  <a:srgbClr val="00B050"/>
                </a:solidFill>
              </a:rPr>
              <a:t>false</a:t>
            </a:r>
            <a:r>
              <a:rPr lang="en-US" altLang="en-US" sz="1600" b="1"/>
              <a:t>.  It is </a:t>
            </a:r>
            <a:r>
              <a:rPr lang="en-US" altLang="en-US" sz="1600" b="1">
                <a:solidFill>
                  <a:srgbClr val="FF0000"/>
                </a:solidFill>
              </a:rPr>
              <a:t>false</a:t>
            </a:r>
            <a:r>
              <a:rPr lang="en-US" altLang="en-US" sz="1600" b="1"/>
              <a:t> if A is </a:t>
            </a:r>
            <a:r>
              <a:rPr lang="en-US" altLang="en-US" sz="1600" b="1">
                <a:solidFill>
                  <a:srgbClr val="00B050"/>
                </a:solidFill>
              </a:rPr>
              <a:t>true</a:t>
            </a:r>
            <a:r>
              <a:rPr lang="en-US" altLang="en-US" sz="1600" b="1"/>
              <a:t>)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400" b="1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b="1"/>
              <a:t>Notes: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/>
              <a:t>Highest precedence for NOT, AND and OR are low precedence.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800"/>
              <a:t>Associate left to right with low precedence. Use parenthesis to override priority or for clarification</a:t>
            </a:r>
            <a:endParaRPr lang="en-US" altLang="en-US" sz="1800" b="1"/>
          </a:p>
          <a:p>
            <a:pPr lvl="1" eaLnBrk="1" hangingPunct="1"/>
            <a:r>
              <a:rPr lang="en-US" altLang="en-US" sz="1400"/>
              <a:t>x &amp;&amp; y || z will evaluate  “x &amp;&amp; y ” first </a:t>
            </a:r>
          </a:p>
          <a:p>
            <a:pPr lvl="1" eaLnBrk="1" hangingPunct="1"/>
            <a:r>
              <a:rPr lang="en-US" altLang="en-US" sz="1400"/>
              <a:t>x &amp;&amp; (y || z) will evaluate “y || z” first </a:t>
            </a:r>
          </a:p>
          <a:p>
            <a:pPr lvl="1" eaLnBrk="1" hangingPunct="1">
              <a:buFont typeface="Monotype Sorts" pitchFamily="2" charset="2"/>
              <a:buNone/>
            </a:pPr>
            <a:endParaRPr lang="en-US" altLang="en-US" sz="24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FBCA8296-FB3E-79BC-0E55-B88551E42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Logical Operators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76D1B005-7ED6-2828-F638-0FFAA086C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int      age ;  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bool   isSenior,  hasFever 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float   temperature 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age = 20;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temperature = 102.0 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isSenior = (age </a:t>
            </a:r>
            <a:r>
              <a:rPr lang="en-US" altLang="en-US" sz="1600" b="1">
                <a:latin typeface="Bookman Old Style" panose="02050604050505020204" pitchFamily="18" charset="0"/>
              </a:rPr>
              <a:t>&gt;= </a:t>
            </a:r>
            <a:r>
              <a:rPr lang="en-US" altLang="en-US" sz="1600" b="1"/>
              <a:t>55) ;		</a:t>
            </a:r>
            <a:r>
              <a:rPr lang="en-US" altLang="en-US" sz="1600" b="1" i="1">
                <a:solidFill>
                  <a:srgbClr val="FF0000"/>
                </a:solidFill>
              </a:rPr>
              <a:t>// isSenior is  false</a:t>
            </a:r>
            <a:endParaRPr lang="en-US" altLang="en-US" sz="1600" b="1" i="1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600" b="1"/>
              <a:t>hasFever =  (temperature &gt; 98.6) ;    	</a:t>
            </a:r>
            <a:r>
              <a:rPr lang="en-US" altLang="en-US" sz="1600" b="1" i="1">
                <a:solidFill>
                  <a:srgbClr val="FF0000"/>
                </a:solidFill>
              </a:rPr>
              <a:t>// hasFever is  true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1600" b="1" i="1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u="sng"/>
              <a:t>		</a:t>
            </a:r>
            <a:r>
              <a:rPr lang="en-US" altLang="en-US" sz="2000" b="1" u="sng">
                <a:solidFill>
                  <a:srgbClr val="0000CC"/>
                </a:solidFill>
              </a:rPr>
              <a:t>EXPRESSION</a:t>
            </a:r>
            <a:r>
              <a:rPr lang="en-US" altLang="en-US" sz="2000" b="1" u="sng">
                <a:solidFill>
                  <a:schemeClr val="tx2"/>
                </a:solidFill>
              </a:rPr>
              <a:t>			</a:t>
            </a:r>
            <a:r>
              <a:rPr lang="en-US" altLang="en-US" sz="2000" b="1" u="sng">
                <a:solidFill>
                  <a:srgbClr val="0000CC"/>
                </a:solidFill>
              </a:rPr>
              <a:t>VALUE</a:t>
            </a:r>
            <a:endParaRPr lang="en-US" altLang="en-US" sz="2000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/>
              <a:t>		</a:t>
            </a:r>
            <a:r>
              <a:rPr lang="en-US" altLang="en-US" sz="2000" b="1"/>
              <a:t>isSenior &amp;&amp; hasFever 		false 	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/>
              <a:t>		</a:t>
            </a:r>
            <a:r>
              <a:rPr lang="en-US" altLang="en-US" sz="2000" b="1"/>
              <a:t>isSenior  ||   hasFever 		true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/>
              <a:t>    		!isSenior			true	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/>
              <a:t>    		!hasFever			false</a:t>
            </a:r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DD3F75F5-4044-C8C0-9D95-0CD34B7A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Precedence Chart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C9ACBB90-6442-65E9-D68E-01A4877C9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6096000" cy="4525963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n-US" altLang="en-US" sz="2800"/>
              <a:t>++, --, !, - (unary minus), + (unary plus)</a:t>
            </a:r>
          </a:p>
          <a:p>
            <a:pPr eaLnBrk="1" hangingPunct="1"/>
            <a:r>
              <a:rPr lang="en-US" altLang="en-US" sz="2800"/>
              <a:t>*, /, %</a:t>
            </a:r>
          </a:p>
          <a:p>
            <a:pPr eaLnBrk="1" hangingPunct="1"/>
            <a:r>
              <a:rPr lang="en-US" altLang="en-US" sz="2800"/>
              <a:t>+ (addition), - (subtraction)</a:t>
            </a:r>
          </a:p>
          <a:p>
            <a:pPr eaLnBrk="1" hangingPunct="1"/>
            <a:r>
              <a:rPr lang="en-US" altLang="en-US" sz="2800"/>
              <a:t>&lt;&lt;, &gt;&gt;</a:t>
            </a:r>
          </a:p>
          <a:p>
            <a:pPr eaLnBrk="1" hangingPunct="1"/>
            <a:r>
              <a:rPr lang="en-US" altLang="en-US" sz="2800"/>
              <a:t>&lt;, &lt;=, &gt;, &gt;=</a:t>
            </a:r>
          </a:p>
          <a:p>
            <a:pPr eaLnBrk="1" hangingPunct="1"/>
            <a:r>
              <a:rPr lang="en-US" altLang="en-US" sz="2800"/>
              <a:t>==, !=</a:t>
            </a:r>
          </a:p>
          <a:p>
            <a:pPr eaLnBrk="1" hangingPunct="1"/>
            <a:r>
              <a:rPr lang="en-US" altLang="en-US" sz="2800"/>
              <a:t>&amp;&amp;</a:t>
            </a:r>
          </a:p>
          <a:p>
            <a:pPr eaLnBrk="1" hangingPunct="1"/>
            <a:r>
              <a:rPr lang="en-US" altLang="en-US" sz="2800"/>
              <a:t>||</a:t>
            </a:r>
          </a:p>
          <a:p>
            <a:pPr eaLnBrk="1" hangingPunct="1"/>
            <a:r>
              <a:rPr lang="en-US" altLang="en-US" sz="2800"/>
              <a:t>=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1BBB53-C38D-E299-4670-DC9E9C4E5B27}"/>
              </a:ext>
            </a:extLst>
          </p:cNvPr>
          <p:cNvCxnSpPr/>
          <p:nvPr/>
        </p:nvCxnSpPr>
        <p:spPr>
          <a:xfrm>
            <a:off x="9067800" y="1981200"/>
            <a:ext cx="0" cy="3733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061" name="TextBox 5">
            <a:extLst>
              <a:ext uri="{FF2B5EF4-FFF2-40B4-BE49-F238E27FC236}">
                <a16:creationId xmlns:a16="http://schemas.microsoft.com/office/drawing/2014/main" id="{000A2C97-87DE-CD92-F10E-11DF5D67E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1611314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Highest</a:t>
            </a:r>
          </a:p>
        </p:txBody>
      </p:sp>
      <p:sp>
        <p:nvSpPr>
          <p:cNvPr id="45062" name="TextBox 9">
            <a:extLst>
              <a:ext uri="{FF2B5EF4-FFF2-40B4-BE49-F238E27FC236}">
                <a16:creationId xmlns:a16="http://schemas.microsoft.com/office/drawing/2014/main" id="{B8C095F5-775F-68EE-5557-EFB0BD9A4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5726114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Lowest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E820C9CB-8CC5-3ABE-B80C-D92E615A9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79" y="20650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Boolean Expression (examples)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9517EA8C-5235-9BD3-C59E-0CB8D8E9B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2800" i="1">
                <a:solidFill>
                  <a:srgbClr val="00B0F0"/>
                </a:solidFill>
              </a:rPr>
              <a:t>taxRate</a:t>
            </a:r>
            <a:r>
              <a:rPr lang="en-US" altLang="en-US" sz="2800"/>
              <a:t> is over 25% and </a:t>
            </a:r>
            <a:r>
              <a:rPr lang="en-US" altLang="en-US" sz="2800" i="1">
                <a:solidFill>
                  <a:schemeClr val="accent1"/>
                </a:solidFill>
              </a:rPr>
              <a:t>income</a:t>
            </a:r>
            <a:r>
              <a:rPr lang="en-US" altLang="en-US" sz="2800"/>
              <a:t> is less than $20000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800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800" i="1">
                <a:solidFill>
                  <a:srgbClr val="00B0F0"/>
                </a:solidFill>
              </a:rPr>
              <a:t>temperature</a:t>
            </a:r>
            <a:r>
              <a:rPr lang="en-US" altLang="en-US" sz="2800"/>
              <a:t> is less than or equal to 75 or </a:t>
            </a:r>
            <a:r>
              <a:rPr lang="en-US" altLang="en-US" sz="2800" i="1">
                <a:solidFill>
                  <a:srgbClr val="00B0F0"/>
                </a:solidFill>
              </a:rPr>
              <a:t>humidity</a:t>
            </a:r>
            <a:r>
              <a:rPr lang="en-US" altLang="en-US" sz="2800"/>
              <a:t> is less than 70%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800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800" i="1">
                <a:solidFill>
                  <a:srgbClr val="00B0F0"/>
                </a:solidFill>
              </a:rPr>
              <a:t>age</a:t>
            </a:r>
            <a:r>
              <a:rPr lang="en-US" altLang="en-US" sz="2800"/>
              <a:t> is between 21 and 60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800"/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800" i="1">
                <a:solidFill>
                  <a:srgbClr val="00B0F0"/>
                </a:solidFill>
              </a:rPr>
              <a:t>age</a:t>
            </a:r>
            <a:r>
              <a:rPr lang="en-US" altLang="en-US" sz="2800"/>
              <a:t> is 21 or 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IBA Presentation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A Presentation_Template" id="{98B924F8-68F1-44C3-9B9B-B85D1985B6A8}" vid="{181EC76D-48F6-4716-A60D-DFF8614029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IBA Presentation_Template</Template>
  <TotalTime>17274</TotalTime>
  <Words>2774</Words>
  <Application>Microsoft Office PowerPoint</Application>
  <PresentationFormat>Widescreen</PresentationFormat>
  <Paragraphs>485</Paragraphs>
  <Slides>42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8" baseType="lpstr">
      <vt:lpstr>Arial</vt:lpstr>
      <vt:lpstr>Arial Rounded MT Bold</vt:lpstr>
      <vt:lpstr>Arial Unicode MS</vt:lpstr>
      <vt:lpstr>AvantGarde</vt:lpstr>
      <vt:lpstr>Bookman Old Style</vt:lpstr>
      <vt:lpstr>Calibri</vt:lpstr>
      <vt:lpstr>Calibri Light</vt:lpstr>
      <vt:lpstr>Consolas</vt:lpstr>
      <vt:lpstr>Courier</vt:lpstr>
      <vt:lpstr>Courier New</vt:lpstr>
      <vt:lpstr>Monaco</vt:lpstr>
      <vt:lpstr>Monotype Sorts</vt:lpstr>
      <vt:lpstr>Times New Roman</vt:lpstr>
      <vt:lpstr>Wingdings</vt:lpstr>
      <vt:lpstr>IBA Presentation_Template</vt:lpstr>
      <vt:lpstr>Equation</vt:lpstr>
      <vt:lpstr>Introduction to Programming  (CSE-141) </vt:lpstr>
      <vt:lpstr>Insertion Operator ( &lt;&lt; )</vt:lpstr>
      <vt:lpstr>Output Statements</vt:lpstr>
      <vt:lpstr>Output Statements (String constant)</vt:lpstr>
      <vt:lpstr>Output Statements (Expression)</vt:lpstr>
      <vt:lpstr>PowerPoint Presentation</vt:lpstr>
      <vt:lpstr>cin and the Extraction Operator &gt;&gt;</vt:lpstr>
      <vt:lpstr>Input using Cin</vt:lpstr>
      <vt:lpstr>What is an Identifier?</vt:lpstr>
      <vt:lpstr>Identifier</vt:lpstr>
      <vt:lpstr>C++ keywords and reserved words</vt:lpstr>
      <vt:lpstr>What is a Variable?</vt:lpstr>
      <vt:lpstr>Variables</vt:lpstr>
      <vt:lpstr>PowerPoint Presentation</vt:lpstr>
      <vt:lpstr>C++ Primitive Data Types</vt:lpstr>
      <vt:lpstr>Data types</vt:lpstr>
      <vt:lpstr>Why different numeric types?</vt:lpstr>
      <vt:lpstr>Premitive Data Types in C++</vt:lpstr>
      <vt:lpstr>What Does a Variable Declaration Do?</vt:lpstr>
      <vt:lpstr>Samples of C++ Data Values</vt:lpstr>
      <vt:lpstr>bool Data Type</vt:lpstr>
      <vt:lpstr>Variable Declaration</vt:lpstr>
      <vt:lpstr>Variable Declaration</vt:lpstr>
      <vt:lpstr>Assignment</vt:lpstr>
      <vt:lpstr>Initialization</vt:lpstr>
      <vt:lpstr>What is an Expression in C++?</vt:lpstr>
      <vt:lpstr>Arithmetic Operators</vt:lpstr>
      <vt:lpstr>Assignment Operator</vt:lpstr>
      <vt:lpstr>Assignment Operator Mechanism</vt:lpstr>
      <vt:lpstr>Constant</vt:lpstr>
      <vt:lpstr>C++ Data Type String</vt:lpstr>
      <vt:lpstr>C++ Data Type String (cont.)</vt:lpstr>
      <vt:lpstr>PowerPoint Presentation</vt:lpstr>
      <vt:lpstr>Cin vs getline()</vt:lpstr>
      <vt:lpstr>Arithmetic Expressions</vt:lpstr>
      <vt:lpstr>Boolean Expression</vt:lpstr>
      <vt:lpstr>Relational Operators</vt:lpstr>
      <vt:lpstr>Relational Operators</vt:lpstr>
      <vt:lpstr>Logical Operators</vt:lpstr>
      <vt:lpstr>Logical Operators</vt:lpstr>
      <vt:lpstr>Precedence Chart</vt:lpstr>
      <vt:lpstr>Boolean Expression (examples)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applications (MIS103)</dc:title>
  <dc:creator>Usman</dc:creator>
  <cp:lastModifiedBy>Maria Rahim Khowaja / Lecturer</cp:lastModifiedBy>
  <cp:revision>524</cp:revision>
  <dcterms:created xsi:type="dcterms:W3CDTF">2017-08-08T08:10:09Z</dcterms:created>
  <dcterms:modified xsi:type="dcterms:W3CDTF">2024-08-27T09:34:46Z</dcterms:modified>
</cp:coreProperties>
</file>