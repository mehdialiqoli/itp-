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82" r:id="rId3"/>
    <p:sldId id="284" r:id="rId4"/>
    <p:sldId id="285" r:id="rId5"/>
    <p:sldId id="286" r:id="rId6"/>
    <p:sldId id="287" r:id="rId7"/>
    <p:sldId id="289" r:id="rId8"/>
    <p:sldId id="290" r:id="rId9"/>
    <p:sldId id="266" r:id="rId10"/>
    <p:sldId id="288" r:id="rId11"/>
    <p:sldId id="291" r:id="rId12"/>
    <p:sldId id="292" r:id="rId13"/>
    <p:sldId id="294" r:id="rId14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754" autoAdjust="0"/>
    <p:restoredTop sz="94660"/>
  </p:normalViewPr>
  <p:slideViewPr>
    <p:cSldViewPr snapToGrid="0">
      <p:cViewPr varScale="1">
        <p:scale>
          <a:sx n="82" d="100"/>
          <a:sy n="82" d="100"/>
        </p:scale>
        <p:origin x="11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5B4BC-5523-6B15-E379-9D440B4760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D5498A-9F1B-6472-F519-710C8C9E62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2F0FC-0AA9-8136-10E0-988D92103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094E-B332-4D10-94A6-BABBC3B412D6}" type="datetimeFigureOut">
              <a:rPr lang="en-PK" smtClean="0"/>
              <a:t>25/09/2024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AC1CA-0711-850D-5183-A2B5A213F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F7137-DAE9-F53F-3928-0DAE159E4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44025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68FB6-9C6A-F2BD-6645-56D633855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D5916-DB56-3126-E08A-67B9C229E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7D3A2-2C6B-F220-0DE2-9B5C45FB2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094E-B332-4D10-94A6-BABBC3B412D6}" type="datetimeFigureOut">
              <a:rPr lang="en-PK" smtClean="0"/>
              <a:t>25/09/2024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012E-03D3-4F84-BD86-3182884B7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40CDA-08A8-25C9-7297-05C2A67E6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79414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868DC-6682-82D9-962D-035F7D326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E65487-DC41-AAD6-069E-90A856550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1E8284-1A15-F0BC-8397-CD51B4906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094E-B332-4D10-94A6-BABBC3B412D6}" type="datetimeFigureOut">
              <a:rPr lang="en-PK" smtClean="0"/>
              <a:t>25/09/2024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893AF-8BEC-AE33-ECEA-BB06A7312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F6908-FF3F-F647-EACB-D579D7854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00256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56D56-7FFB-4395-2EAE-ED2F7AB9B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24702-43E3-2BCF-BC3A-243818AFC3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5050C7-B43B-1479-7A6D-930D37AF6E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FA581E-2932-1221-6837-84D3BBB01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094E-B332-4D10-94A6-BABBC3B412D6}" type="datetimeFigureOut">
              <a:rPr lang="en-PK" smtClean="0"/>
              <a:t>25/09/2024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2042CD-9E35-5A28-DB43-BA1B0FFE9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E2A5E5-B8E6-13FB-12FC-F3D17D097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26530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7D583-DB59-9544-613C-A13997691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4AB85D-86CC-130D-C73F-621488E2D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B001A8-0867-70EE-F388-A67818577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261077-609E-F8EB-8394-BE4CEDE648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735E47-CD8C-DB62-FD58-1EEF1602E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B1C7D4-9A0D-DB05-F459-9A05E9345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094E-B332-4D10-94A6-BABBC3B412D6}" type="datetimeFigureOut">
              <a:rPr lang="en-PK" smtClean="0"/>
              <a:t>25/09/2024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F4244C-8711-3475-2C24-B68828AF2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2720E4-06AC-D540-526F-8C8A26FF7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52679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46F68-FA65-13A7-E538-86D1C890D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8EB2FD-6FF5-9190-F51D-A2B20E810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094E-B332-4D10-94A6-BABBC3B412D6}" type="datetimeFigureOut">
              <a:rPr lang="en-PK" smtClean="0"/>
              <a:t>25/09/2024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7E5D0B-E530-1D35-E485-E3C115868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A7CE04-5E37-1D2C-C5A6-EF62A94D4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39501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A3DA80-AF75-88CC-15E0-1E5BDEE9D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094E-B332-4D10-94A6-BABBC3B412D6}" type="datetimeFigureOut">
              <a:rPr lang="en-PK" smtClean="0"/>
              <a:t>25/09/2024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D51D2A-1D2C-B7FC-A6F5-5CDA8DC68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1E0DF3-51D1-71EB-ED76-1AB581475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44232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347C7-DE01-6A7A-312D-4D28D27BD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C546E-840F-9AF8-2F81-CA4BE9DE9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6E75C5-AB6D-14EF-A652-A55984E3B3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BFC8BD-2F12-5C44-0FC5-ABC9121DF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094E-B332-4D10-94A6-BABBC3B412D6}" type="datetimeFigureOut">
              <a:rPr lang="en-PK" smtClean="0"/>
              <a:t>25/09/2024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CE7D24-0E6F-B0D5-0D71-D95C68F13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E03AAF-817F-139F-90B1-20FC95BB3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2405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3B2E5-7085-FB75-D49F-F337DF770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9D0CC7-AF0E-1711-DB56-74A343DAC7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C7E1F3-91E0-7B84-0605-A920031DEF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104610-A74D-DC1A-BA25-94B156EA0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094E-B332-4D10-94A6-BABBC3B412D6}" type="datetimeFigureOut">
              <a:rPr lang="en-PK" smtClean="0"/>
              <a:t>25/09/2024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483477-02EC-84FF-5133-4C9D85B70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C6DB61-9795-C268-8DDE-B6C6739BB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43913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E2711-E1BD-6B80-C858-0A3110241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784959-1478-670C-C72E-9C8B0460F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CB284-709D-1F57-4302-A7529E776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094E-B332-4D10-94A6-BABBC3B412D6}" type="datetimeFigureOut">
              <a:rPr lang="en-PK" smtClean="0"/>
              <a:t>25/09/2024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9DA95-CD40-59DB-4CFB-7C2331833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CB741-BA71-0A15-D65A-6E8BC96DC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55473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A53C39-7EA2-3767-E74B-B5DEA81E4A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DAC98A-EAC6-73E0-715D-E8DB9B0DD9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A9B47-A405-4629-6DC4-DB23D8A36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094E-B332-4D10-94A6-BABBC3B412D6}" type="datetimeFigureOut">
              <a:rPr lang="en-PK" smtClean="0"/>
              <a:t>25/09/2024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2816A-9DF9-75D2-9412-D000F9B5E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E42E3-AC87-BCB8-7238-014729178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39386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21EC87-6256-86F0-014E-BDF9F92A4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656D71-80AA-6129-8460-409B3C6CC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110D4-AD59-D4C1-A2FF-26767DAA37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40094E-B332-4D10-94A6-BABBC3B412D6}" type="datetimeFigureOut">
              <a:rPr lang="en-PK" smtClean="0"/>
              <a:t>25/09/2024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BEF30-1C2F-B788-8AB2-B46802B721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BDCA6-2752-1710-7943-3D916DA7B0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83093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en/view-image.php?image=204783&amp;picture=parrot-portrait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65A74B-F6BA-85C7-B4A1-E6BF6F9A3D3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t="28992" r="-1" b="13300"/>
          <a:stretch/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7177FF-6A18-3868-BBFE-0BD17B0F8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3"/>
            <a:ext cx="9144000" cy="3063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>
                <a:solidFill>
                  <a:schemeClr val="bg1"/>
                </a:solidFill>
              </a:rPr>
              <a:t>Two dimensional arrays</a:t>
            </a:r>
          </a:p>
        </p:txBody>
      </p:sp>
      <p:sp>
        <p:nvSpPr>
          <p:cNvPr id="19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612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7CE6A-3887-0297-8919-9213A5803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Two-dimensional arrays</a:t>
            </a:r>
            <a:endParaRPr lang="en-PK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265AD7-B878-7794-5751-91EA57FA56FB}"/>
              </a:ext>
            </a:extLst>
          </p:cNvPr>
          <p:cNvSpPr txBox="1"/>
          <p:nvPr/>
        </p:nvSpPr>
        <p:spPr>
          <a:xfrm>
            <a:off x="838200" y="1517100"/>
            <a:ext cx="10515600" cy="461665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A </a:t>
            </a:r>
            <a:r>
              <a:rPr lang="en-US" sz="2400" dirty="0">
                <a:solidFill>
                  <a:schemeClr val="accent1"/>
                </a:solidFill>
              </a:rPr>
              <a:t>two-dimensional array</a:t>
            </a:r>
            <a:r>
              <a:rPr lang="en-US" sz="2400" dirty="0"/>
              <a:t> is a doubly-indexed sequence of values of the same type.</a:t>
            </a:r>
            <a:endParaRPr lang="en-PK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DA0C92-DDEA-1DF1-6A11-AC5F2CE1B018}"/>
              </a:ext>
            </a:extLst>
          </p:cNvPr>
          <p:cNvSpPr txBox="1"/>
          <p:nvPr/>
        </p:nvSpPr>
        <p:spPr>
          <a:xfrm>
            <a:off x="838200" y="2288815"/>
            <a:ext cx="5257800" cy="3046988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Examples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Matrices in math calculations.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Grades for students in an online class.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Outcomes of scientific experiments.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Transactions for bank customers.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Pixels in a digital image.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Geographic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...</a:t>
            </a:r>
            <a:endParaRPr lang="en-PK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2E6B49-3B05-3015-9B21-48DF81F71AB8}"/>
              </a:ext>
            </a:extLst>
          </p:cNvPr>
          <p:cNvSpPr txBox="1"/>
          <p:nvPr/>
        </p:nvSpPr>
        <p:spPr>
          <a:xfrm>
            <a:off x="838200" y="5599195"/>
            <a:ext cx="7002623" cy="430887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chemeClr val="accent1"/>
                </a:solidFill>
              </a:rPr>
              <a:t>Main purpose. </a:t>
            </a:r>
            <a:r>
              <a:rPr lang="en-US" sz="2200" dirty="0"/>
              <a:t>Facilitate storage and manipulation of data.</a:t>
            </a:r>
            <a:endParaRPr lang="en-PK" sz="2200" dirty="0"/>
          </a:p>
        </p:txBody>
      </p:sp>
      <p:pic>
        <p:nvPicPr>
          <p:cNvPr id="8" name="Picture 7" descr="A close up of a parrot">
            <a:extLst>
              <a:ext uri="{FF2B5EF4-FFF2-40B4-BE49-F238E27FC236}">
                <a16:creationId xmlns:a16="http://schemas.microsoft.com/office/drawing/2014/main" id="{FCCFB18E-475A-A550-208F-C96644999F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734408" y="4036116"/>
            <a:ext cx="1715770" cy="1426083"/>
          </a:xfrm>
          <a:prstGeom prst="rect">
            <a:avLst/>
          </a:prstGeom>
        </p:spPr>
      </p:pic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5E6A3D34-F30E-C6B6-50F4-75A3A18115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7943721"/>
              </p:ext>
            </p:extLst>
          </p:nvPr>
        </p:nvGraphicFramePr>
        <p:xfrm>
          <a:off x="7523585" y="2554597"/>
          <a:ext cx="1715769" cy="2194560"/>
        </p:xfrm>
        <a:graphic>
          <a:graphicData uri="http://schemas.openxmlformats.org/drawingml/2006/table">
            <a:tbl>
              <a:tblPr firstRow="1" firstCol="1">
                <a:tableStyleId>{7DF18680-E054-41AD-8BC1-D1AEF772440D}</a:tableStyleId>
              </a:tblPr>
              <a:tblGrid>
                <a:gridCol w="181073">
                  <a:extLst>
                    <a:ext uri="{9D8B030D-6E8A-4147-A177-3AD203B41FA5}">
                      <a16:colId xmlns:a16="http://schemas.microsoft.com/office/drawing/2014/main" val="536312907"/>
                    </a:ext>
                  </a:extLst>
                </a:gridCol>
                <a:gridCol w="181073">
                  <a:extLst>
                    <a:ext uri="{9D8B030D-6E8A-4147-A177-3AD203B41FA5}">
                      <a16:colId xmlns:a16="http://schemas.microsoft.com/office/drawing/2014/main" val="2038490595"/>
                    </a:ext>
                  </a:extLst>
                </a:gridCol>
                <a:gridCol w="181073">
                  <a:extLst>
                    <a:ext uri="{9D8B030D-6E8A-4147-A177-3AD203B41FA5}">
                      <a16:colId xmlns:a16="http://schemas.microsoft.com/office/drawing/2014/main" val="3319273647"/>
                    </a:ext>
                  </a:extLst>
                </a:gridCol>
                <a:gridCol w="181073">
                  <a:extLst>
                    <a:ext uri="{9D8B030D-6E8A-4147-A177-3AD203B41FA5}">
                      <a16:colId xmlns:a16="http://schemas.microsoft.com/office/drawing/2014/main" val="3926736437"/>
                    </a:ext>
                  </a:extLst>
                </a:gridCol>
                <a:gridCol w="181073">
                  <a:extLst>
                    <a:ext uri="{9D8B030D-6E8A-4147-A177-3AD203B41FA5}">
                      <a16:colId xmlns:a16="http://schemas.microsoft.com/office/drawing/2014/main" val="3280218990"/>
                    </a:ext>
                  </a:extLst>
                </a:gridCol>
                <a:gridCol w="181073">
                  <a:extLst>
                    <a:ext uri="{9D8B030D-6E8A-4147-A177-3AD203B41FA5}">
                      <a16:colId xmlns:a16="http://schemas.microsoft.com/office/drawing/2014/main" val="2379105343"/>
                    </a:ext>
                  </a:extLst>
                </a:gridCol>
                <a:gridCol w="181073">
                  <a:extLst>
                    <a:ext uri="{9D8B030D-6E8A-4147-A177-3AD203B41FA5}">
                      <a16:colId xmlns:a16="http://schemas.microsoft.com/office/drawing/2014/main" val="3346079311"/>
                    </a:ext>
                  </a:extLst>
                </a:gridCol>
                <a:gridCol w="224129">
                  <a:extLst>
                    <a:ext uri="{9D8B030D-6E8A-4147-A177-3AD203B41FA5}">
                      <a16:colId xmlns:a16="http://schemas.microsoft.com/office/drawing/2014/main" val="724514242"/>
                    </a:ext>
                  </a:extLst>
                </a:gridCol>
                <a:gridCol w="224129">
                  <a:extLst>
                    <a:ext uri="{9D8B030D-6E8A-4147-A177-3AD203B41FA5}">
                      <a16:colId xmlns:a16="http://schemas.microsoft.com/office/drawing/2014/main" val="3974928417"/>
                    </a:ext>
                  </a:extLst>
                </a:gridCol>
              </a:tblGrid>
              <a:tr h="190290">
                <a:tc>
                  <a:txBody>
                    <a:bodyPr/>
                    <a:lstStyle/>
                    <a:p>
                      <a:pPr algn="ctr"/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0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1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2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3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4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5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6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…</a:t>
                      </a:r>
                      <a:endParaRPr lang="en-PK" sz="16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999098"/>
                  </a:ext>
                </a:extLst>
              </a:tr>
              <a:tr h="19029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0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B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A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B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C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A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D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A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466589"/>
                  </a:ext>
                </a:extLst>
              </a:tr>
              <a:tr h="19029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1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A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B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B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C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A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C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C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8174060"/>
                  </a:ext>
                </a:extLst>
              </a:tr>
              <a:tr h="19029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2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C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C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A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A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C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B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B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2525497"/>
                  </a:ext>
                </a:extLst>
              </a:tr>
              <a:tr h="19029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3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C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A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B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B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A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A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C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3961567"/>
                  </a:ext>
                </a:extLst>
              </a:tr>
              <a:tr h="19029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4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A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D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A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C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C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B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A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862205"/>
                  </a:ext>
                </a:extLst>
              </a:tr>
              <a:tr h="19029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5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B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C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D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A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B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C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A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9865455"/>
                  </a:ext>
                </a:extLst>
              </a:tr>
              <a:tr h="19029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6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A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B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A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B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B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A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C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R w="12700" cmpd="sng">
                      <a:noFill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2732397"/>
                  </a:ext>
                </a:extLst>
              </a:tr>
              <a:tr h="19029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…</a:t>
                      </a:r>
                      <a:endParaRPr lang="en-PK" sz="16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939319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3E49985-1045-CE9B-F701-1967B4FA946C}"/>
              </a:ext>
            </a:extLst>
          </p:cNvPr>
          <p:cNvSpPr txBox="1"/>
          <p:nvPr/>
        </p:nvSpPr>
        <p:spPr>
          <a:xfrm>
            <a:off x="10049067" y="5421082"/>
            <a:ext cx="12291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/>
              <a:t>x-coordinate</a:t>
            </a:r>
            <a:endParaRPr lang="en-PK" sz="1600" i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F8D5E0-2848-7D23-526E-746B41838A17}"/>
              </a:ext>
            </a:extLst>
          </p:cNvPr>
          <p:cNvSpPr txBox="1"/>
          <p:nvPr/>
        </p:nvSpPr>
        <p:spPr>
          <a:xfrm rot="16200000">
            <a:off x="8928755" y="4661981"/>
            <a:ext cx="1232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/>
              <a:t>y-coordinate</a:t>
            </a:r>
            <a:endParaRPr lang="en-PK" sz="1600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B67555-B41A-A46D-65A4-394C57143DB1}"/>
              </a:ext>
            </a:extLst>
          </p:cNvPr>
          <p:cNvSpPr txBox="1"/>
          <p:nvPr/>
        </p:nvSpPr>
        <p:spPr>
          <a:xfrm rot="16200000">
            <a:off x="6881135" y="3482600"/>
            <a:ext cx="10123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/>
              <a:t>student id</a:t>
            </a:r>
            <a:endParaRPr lang="en-PK" sz="1600" i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5EE235-82A0-D40B-39D4-D7F7BB7CCA88}"/>
              </a:ext>
            </a:extLst>
          </p:cNvPr>
          <p:cNvSpPr txBox="1"/>
          <p:nvPr/>
        </p:nvSpPr>
        <p:spPr>
          <a:xfrm>
            <a:off x="7967381" y="2218542"/>
            <a:ext cx="9267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/>
              <a:t>course id</a:t>
            </a:r>
            <a:endParaRPr lang="en-PK" sz="1600" i="1" dirty="0"/>
          </a:p>
        </p:txBody>
      </p:sp>
    </p:spTree>
    <p:extLst>
      <p:ext uri="{BB962C8B-B14F-4D97-AF65-F5344CB8AC3E}">
        <p14:creationId xmlns:p14="http://schemas.microsoft.com/office/powerpoint/2010/main" val="2885791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9EE1C-A478-5972-58DA-D8C24B245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C++ language support for </a:t>
            </a:r>
            <a:r>
              <a:rPr lang="en-US" sz="3600" dirty="0">
                <a:solidFill>
                  <a:schemeClr val="accent1"/>
                </a:solidFill>
              </a:rPr>
              <a:t>two-dimensional</a:t>
            </a:r>
            <a:r>
              <a:rPr lang="en-US" sz="3600" dirty="0"/>
              <a:t> arrays</a:t>
            </a:r>
            <a:endParaRPr lang="en-PK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330E32-45A4-1148-997D-C2C2EB84E6BE}"/>
              </a:ext>
            </a:extLst>
          </p:cNvPr>
          <p:cNvSpPr txBox="1"/>
          <p:nvPr/>
        </p:nvSpPr>
        <p:spPr>
          <a:xfrm>
            <a:off x="754141" y="1634702"/>
            <a:ext cx="1223949" cy="769441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dirty="0"/>
              <a:t>Basic Support</a:t>
            </a:r>
            <a:endParaRPr lang="en-PK" sz="2200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CBA8FE36-0B04-0E49-2D40-53E1218D27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8044146"/>
              </p:ext>
            </p:extLst>
          </p:nvPr>
        </p:nvGraphicFramePr>
        <p:xfrm>
          <a:off x="1978090" y="1634702"/>
          <a:ext cx="8250334" cy="2865120"/>
        </p:xfrm>
        <a:graphic>
          <a:graphicData uri="http://schemas.openxmlformats.org/drawingml/2006/table">
            <a:tbl>
              <a:tblPr firstRow="1">
                <a:tableStyleId>{8799B23B-EC83-4686-B30A-512413B5E67A}</a:tableStyleId>
              </a:tblPr>
              <a:tblGrid>
                <a:gridCol w="4125167">
                  <a:extLst>
                    <a:ext uri="{9D8B030D-6E8A-4147-A177-3AD203B41FA5}">
                      <a16:colId xmlns:a16="http://schemas.microsoft.com/office/drawing/2014/main" val="3438630136"/>
                    </a:ext>
                  </a:extLst>
                </a:gridCol>
                <a:gridCol w="4125167">
                  <a:extLst>
                    <a:ext uri="{9D8B030D-6E8A-4147-A177-3AD203B41FA5}">
                      <a16:colId xmlns:a16="http://schemas.microsoft.com/office/drawing/2014/main" val="42760346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operation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typical code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136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Declare an array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int a[1000][1000];</a:t>
                      </a:r>
                      <a:endParaRPr lang="en-PK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0847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Declare and initialize an array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onsolas" panose="020B0609020204030204" pitchFamily="49" charset="0"/>
                        </a:rPr>
                        <a:t>int a[2][3] = { {10, 20, 30},</a:t>
                      </a:r>
                    </a:p>
                    <a:p>
                      <a:pPr algn="l"/>
                      <a:r>
                        <a:rPr lang="en-US" dirty="0">
                          <a:latin typeface="Consolas" panose="020B0609020204030204" pitchFamily="49" charset="0"/>
                        </a:rPr>
                        <a:t>                {15, 25, 35} };</a:t>
                      </a:r>
                      <a:endParaRPr lang="en-PK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7404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Refer to an array entry by index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a[i][j] = b[i][k] + c[k][j];</a:t>
                      </a:r>
                      <a:endParaRPr lang="en-PK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7586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Refer to number of rows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std::size(a)</a:t>
                      </a:r>
                      <a:endParaRPr lang="en-PK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2995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Refer to row i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nsolas" panose="020B0609020204030204" pitchFamily="49" charset="0"/>
                        </a:rPr>
                        <a:t>a[i]</a:t>
                      </a:r>
                      <a:endParaRPr lang="en-PK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415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Refer to number of columns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std::size(a[i])</a:t>
                      </a:r>
                      <a:endParaRPr lang="en-PK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1597362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3FA318E8-C598-ACFB-8F30-B6A599375D66}"/>
              </a:ext>
            </a:extLst>
          </p:cNvPr>
          <p:cNvSpPr txBox="1"/>
          <p:nvPr/>
        </p:nvSpPr>
        <p:spPr>
          <a:xfrm>
            <a:off x="5647479" y="6308209"/>
            <a:ext cx="1952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a 3-by-10 array</a:t>
            </a:r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51FDCD0B-E4D7-7828-15D3-BD55BDE69F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137174"/>
              </p:ext>
            </p:extLst>
          </p:nvPr>
        </p:nvGraphicFramePr>
        <p:xfrm>
          <a:off x="1799696" y="5075114"/>
          <a:ext cx="9648000" cy="1112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4800">
                  <a:extLst>
                    <a:ext uri="{9D8B030D-6E8A-4147-A177-3AD203B41FA5}">
                      <a16:colId xmlns:a16="http://schemas.microsoft.com/office/drawing/2014/main" val="1839697535"/>
                    </a:ext>
                  </a:extLst>
                </a:gridCol>
                <a:gridCol w="964800">
                  <a:extLst>
                    <a:ext uri="{9D8B030D-6E8A-4147-A177-3AD203B41FA5}">
                      <a16:colId xmlns:a16="http://schemas.microsoft.com/office/drawing/2014/main" val="2794344425"/>
                    </a:ext>
                  </a:extLst>
                </a:gridCol>
                <a:gridCol w="964800">
                  <a:extLst>
                    <a:ext uri="{9D8B030D-6E8A-4147-A177-3AD203B41FA5}">
                      <a16:colId xmlns:a16="http://schemas.microsoft.com/office/drawing/2014/main" val="45271176"/>
                    </a:ext>
                  </a:extLst>
                </a:gridCol>
                <a:gridCol w="964800">
                  <a:extLst>
                    <a:ext uri="{9D8B030D-6E8A-4147-A177-3AD203B41FA5}">
                      <a16:colId xmlns:a16="http://schemas.microsoft.com/office/drawing/2014/main" val="3934857808"/>
                    </a:ext>
                  </a:extLst>
                </a:gridCol>
                <a:gridCol w="964800">
                  <a:extLst>
                    <a:ext uri="{9D8B030D-6E8A-4147-A177-3AD203B41FA5}">
                      <a16:colId xmlns:a16="http://schemas.microsoft.com/office/drawing/2014/main" val="333717997"/>
                    </a:ext>
                  </a:extLst>
                </a:gridCol>
                <a:gridCol w="964800">
                  <a:extLst>
                    <a:ext uri="{9D8B030D-6E8A-4147-A177-3AD203B41FA5}">
                      <a16:colId xmlns:a16="http://schemas.microsoft.com/office/drawing/2014/main" val="3989228015"/>
                    </a:ext>
                  </a:extLst>
                </a:gridCol>
                <a:gridCol w="964800">
                  <a:extLst>
                    <a:ext uri="{9D8B030D-6E8A-4147-A177-3AD203B41FA5}">
                      <a16:colId xmlns:a16="http://schemas.microsoft.com/office/drawing/2014/main" val="3103736593"/>
                    </a:ext>
                  </a:extLst>
                </a:gridCol>
                <a:gridCol w="964800">
                  <a:extLst>
                    <a:ext uri="{9D8B030D-6E8A-4147-A177-3AD203B41FA5}">
                      <a16:colId xmlns:a16="http://schemas.microsoft.com/office/drawing/2014/main" val="4046074246"/>
                    </a:ext>
                  </a:extLst>
                </a:gridCol>
                <a:gridCol w="964800">
                  <a:extLst>
                    <a:ext uri="{9D8B030D-6E8A-4147-A177-3AD203B41FA5}">
                      <a16:colId xmlns:a16="http://schemas.microsoft.com/office/drawing/2014/main" val="2896062788"/>
                    </a:ext>
                  </a:extLst>
                </a:gridCol>
                <a:gridCol w="964800">
                  <a:extLst>
                    <a:ext uri="{9D8B030D-6E8A-4147-A177-3AD203B41FA5}">
                      <a16:colId xmlns:a16="http://schemas.microsoft.com/office/drawing/2014/main" val="23758440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a[0][0]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onsolas" panose="020B0609020204030204" pitchFamily="49" charset="0"/>
                        </a:rPr>
                        <a:t>a[0][1]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a[0][2]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a[0][3]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a[0][4]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a[0][5]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a[0][6]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a[0][7]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a[0][8]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</a:rPr>
                        <a:t>a[0][9]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2032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onsolas" panose="020B0609020204030204" pitchFamily="49" charset="0"/>
                        </a:rPr>
                        <a:t>a[1][0]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onsolas" panose="020B0609020204030204" pitchFamily="49" charset="0"/>
                        </a:rPr>
                        <a:t>a[1][1]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onsolas" panose="020B0609020204030204" pitchFamily="49" charset="0"/>
                        </a:rPr>
                        <a:t>a[1][2]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onsolas" panose="020B0609020204030204" pitchFamily="49" charset="0"/>
                        </a:rPr>
                        <a:t>a[1][3]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onsolas" panose="020B0609020204030204" pitchFamily="49" charset="0"/>
                        </a:rPr>
                        <a:t>a[1][4]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onsolas" panose="020B0609020204030204" pitchFamily="49" charset="0"/>
                        </a:rPr>
                        <a:t>a[1][5]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onsolas" panose="020B0609020204030204" pitchFamily="49" charset="0"/>
                        </a:rPr>
                        <a:t>a[1][6]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onsolas" panose="020B0609020204030204" pitchFamily="49" charset="0"/>
                        </a:rPr>
                        <a:t>a[1][7]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onsolas" panose="020B0609020204030204" pitchFamily="49" charset="0"/>
                        </a:rPr>
                        <a:t>a[1][8]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onsolas" panose="020B0609020204030204" pitchFamily="49" charset="0"/>
                        </a:rPr>
                        <a:t>a[1][9]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8083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onsolas" panose="020B0609020204030204" pitchFamily="49" charset="0"/>
                        </a:rPr>
                        <a:t>a[2][0]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onsolas" panose="020B0609020204030204" pitchFamily="49" charset="0"/>
                        </a:rPr>
                        <a:t>a[2][1]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onsolas" panose="020B0609020204030204" pitchFamily="49" charset="0"/>
                        </a:rPr>
                        <a:t>a[2][2]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onsolas" panose="020B0609020204030204" pitchFamily="49" charset="0"/>
                        </a:rPr>
                        <a:t>a[2][3]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onsolas" panose="020B0609020204030204" pitchFamily="49" charset="0"/>
                        </a:rPr>
                        <a:t>a[2][4]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onsolas" panose="020B0609020204030204" pitchFamily="49" charset="0"/>
                        </a:rPr>
                        <a:t>a[2][5]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onsolas" panose="020B0609020204030204" pitchFamily="49" charset="0"/>
                        </a:rPr>
                        <a:t>a[2][6]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onsolas" panose="020B0609020204030204" pitchFamily="49" charset="0"/>
                        </a:rPr>
                        <a:t>a[2][7]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onsolas" panose="020B0609020204030204" pitchFamily="49" charset="0"/>
                        </a:rPr>
                        <a:t>a[2][8]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onsolas" panose="020B0609020204030204" pitchFamily="49" charset="0"/>
                        </a:rPr>
                        <a:t>a[2][9]</a:t>
                      </a:r>
                      <a:endParaRPr lang="en-PK" sz="1600" dirty="0">
                        <a:latin typeface="Consolas" panose="020B0609020204030204" pitchFamily="49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24111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CC95AA4-AF01-92DB-85C5-C8DDC707B659}"/>
              </a:ext>
            </a:extLst>
          </p:cNvPr>
          <p:cNvSpPr txBox="1"/>
          <p:nvPr/>
        </p:nvSpPr>
        <p:spPr>
          <a:xfrm>
            <a:off x="754141" y="4491903"/>
            <a:ext cx="177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7E3A6E-A5F4-7929-27DD-0590A6DA31EF}"/>
              </a:ext>
            </a:extLst>
          </p:cNvPr>
          <p:cNvSpPr txBox="1"/>
          <p:nvPr/>
        </p:nvSpPr>
        <p:spPr>
          <a:xfrm>
            <a:off x="616596" y="5462097"/>
            <a:ext cx="5310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</a:rPr>
              <a:t>a[1]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298020F-4EC6-B1A6-5629-1C80D6B7C3A5}"/>
              </a:ext>
            </a:extLst>
          </p:cNvPr>
          <p:cNvCxnSpPr>
            <a:cxnSpLocks/>
            <a:stCxn id="8" idx="3"/>
            <a:endCxn id="3" idx="1"/>
          </p:cNvCxnSpPr>
          <p:nvPr/>
        </p:nvCxnSpPr>
        <p:spPr>
          <a:xfrm>
            <a:off x="1147665" y="5631374"/>
            <a:ext cx="6520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DB1D79F-ADEA-E455-D2E0-C664B0D4D0D2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842782" y="4861235"/>
            <a:ext cx="956914" cy="244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40C1DFB-2C28-084A-91F8-12B4BE788074}"/>
              </a:ext>
            </a:extLst>
          </p:cNvPr>
          <p:cNvSpPr txBox="1"/>
          <p:nvPr/>
        </p:nvSpPr>
        <p:spPr>
          <a:xfrm>
            <a:off x="10380811" y="3608302"/>
            <a:ext cx="14794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</a:rPr>
              <a:t>no way to refer to column j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89A17D4-0B83-B67B-ADBA-08AF0E00A0AC}"/>
              </a:ext>
            </a:extLst>
          </p:cNvPr>
          <p:cNvCxnSpPr>
            <a:cxnSpLocks/>
            <a:stCxn id="25" idx="1"/>
          </p:cNvCxnSpPr>
          <p:nvPr/>
        </p:nvCxnSpPr>
        <p:spPr>
          <a:xfrm flipH="1">
            <a:off x="8957388" y="3900690"/>
            <a:ext cx="14234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5041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8A49E-BF52-A420-8C81-E18281AA6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Two-dimensional arrays: Initialization options</a:t>
            </a:r>
            <a:endParaRPr lang="en-PK" sz="3600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312176B1-A082-A2BD-1356-94C40FF795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506618"/>
              </p:ext>
            </p:extLst>
          </p:nvPr>
        </p:nvGraphicFramePr>
        <p:xfrm>
          <a:off x="697075" y="2046928"/>
          <a:ext cx="10797850" cy="4318000"/>
        </p:xfrm>
        <a:graphic>
          <a:graphicData uri="http://schemas.openxmlformats.org/drawingml/2006/table">
            <a:tbl>
              <a:tblPr firstRow="1">
                <a:tableStyleId>{8799B23B-EC83-4686-B30A-512413B5E67A}</a:tableStyleId>
              </a:tblPr>
              <a:tblGrid>
                <a:gridCol w="5930007">
                  <a:extLst>
                    <a:ext uri="{9D8B030D-6E8A-4147-A177-3AD203B41FA5}">
                      <a16:colId xmlns:a16="http://schemas.microsoft.com/office/drawing/2014/main" val="3438630136"/>
                    </a:ext>
                  </a:extLst>
                </a:gridCol>
                <a:gridCol w="4867843">
                  <a:extLst>
                    <a:ext uri="{9D8B030D-6E8A-4147-A177-3AD203B41FA5}">
                      <a16:colId xmlns:a16="http://schemas.microsoft.com/office/drawing/2014/main" val="42760346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operation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typical code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136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Only declaration, no initialization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int a[1000][1000];</a:t>
                      </a:r>
                      <a:endParaRPr lang="en-PK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0847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Initialize to default value (</a:t>
                      </a:r>
                      <a:r>
                        <a:rPr lang="en-US" dirty="0"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dirty="0"/>
                        <a:t> for numeric data types)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nsolas" panose="020B0609020204030204" pitchFamily="49" charset="0"/>
                        </a:rPr>
                        <a:t>int a[1000][1000] {};</a:t>
                      </a:r>
                      <a:endParaRPr lang="en-PK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6824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Declare and initialize an array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onsolas" panose="020B0609020204030204" pitchFamily="49" charset="0"/>
                        </a:rPr>
                        <a:t>int a[2][3] = { {10, 20, 30},</a:t>
                      </a:r>
                    </a:p>
                    <a:p>
                      <a:pPr algn="l"/>
                      <a:r>
                        <a:rPr lang="en-US" dirty="0">
                          <a:latin typeface="Consolas" panose="020B0609020204030204" pitchFamily="49" charset="0"/>
                        </a:rPr>
                        <a:t>                {15, 25, 35} };</a:t>
                      </a:r>
                      <a:endParaRPr lang="en-PK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7404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Left –most dimension can be omitted when given initialization list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onsolas" panose="020B0609020204030204" pitchFamily="49" charset="0"/>
                        </a:rPr>
                        <a:t>int a[][3] = { {10, 20, 30},</a:t>
                      </a:r>
                    </a:p>
                    <a:p>
                      <a:pPr algn="l"/>
                      <a:r>
                        <a:rPr lang="en-US" dirty="0">
                          <a:latin typeface="Consolas" panose="020B0609020204030204" pitchFamily="49" charset="0"/>
                        </a:rPr>
                        <a:t>                {15, 25, 35} };</a:t>
                      </a:r>
                      <a:endParaRPr lang="en-PK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7586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Remaining entries initialized to default value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onsolas" panose="020B0609020204030204" pitchFamily="49" charset="0"/>
                        </a:rPr>
                        <a:t>int a[2][3] = { {10, 20, 30} 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9887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Remaining entries initialized to default value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onsolas" panose="020B0609020204030204" pitchFamily="49" charset="0"/>
                        </a:rPr>
                        <a:t>int a[][3] = { {10, 20},</a:t>
                      </a:r>
                    </a:p>
                    <a:p>
                      <a:pPr algn="l"/>
                      <a:r>
                        <a:rPr lang="en-US" dirty="0">
                          <a:latin typeface="Consolas" panose="020B0609020204030204" pitchFamily="49" charset="0"/>
                        </a:rPr>
                        <a:t>               {},</a:t>
                      </a:r>
                    </a:p>
                    <a:p>
                      <a:pPr algn="l"/>
                      <a:r>
                        <a:rPr lang="en-US" dirty="0">
                          <a:latin typeface="Consolas" panose="020B0609020204030204" pitchFamily="49" charset="0"/>
                        </a:rPr>
                        <a:t>               {15} };</a:t>
                      </a:r>
                      <a:endParaRPr lang="en-PK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4814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Can be initialized using 1-d initialization list (row-major order) </a:t>
                      </a:r>
                    </a:p>
                    <a:p>
                      <a:pPr algn="ctr"/>
                      <a:r>
                        <a:rPr lang="en-US" dirty="0"/>
                        <a:t>Remaining entries initialized to default value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onsolas" panose="020B0609020204030204" pitchFamily="49" charset="0"/>
                        </a:rPr>
                        <a:t>int a[2][3] = {10, 20, 30, 15};</a:t>
                      </a:r>
                      <a:endParaRPr lang="en-PK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7277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0375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98C68-AA36-2B59-E7EB-7418F78F5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Application of arrays: vector and matrix calculations</a:t>
            </a:r>
            <a:endParaRPr lang="en-PK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0587E8-2402-50AD-CB53-72D39D25A29C}"/>
              </a:ext>
            </a:extLst>
          </p:cNvPr>
          <p:cNvSpPr txBox="1"/>
          <p:nvPr/>
        </p:nvSpPr>
        <p:spPr>
          <a:xfrm>
            <a:off x="838200" y="1495327"/>
            <a:ext cx="4561114" cy="830997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Mathematical abstraction: vector</a:t>
            </a:r>
          </a:p>
          <a:p>
            <a:r>
              <a:rPr lang="en-US" sz="2400" dirty="0"/>
              <a:t>C++ implementation: 1D array</a:t>
            </a:r>
            <a:endParaRPr lang="en-PK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D27ED5-ADEA-B582-AE1B-1F06A22654C5}"/>
              </a:ext>
            </a:extLst>
          </p:cNvPr>
          <p:cNvSpPr txBox="1"/>
          <p:nvPr/>
        </p:nvSpPr>
        <p:spPr>
          <a:xfrm>
            <a:off x="6400802" y="1477540"/>
            <a:ext cx="4561114" cy="830997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Mathematical abstraction: matrix</a:t>
            </a:r>
          </a:p>
          <a:p>
            <a:r>
              <a:rPr lang="en-US" sz="2400" dirty="0"/>
              <a:t>C++ implementation: 2D array</a:t>
            </a:r>
            <a:endParaRPr lang="en-PK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DB0A14-257D-CB5E-8B64-62E9346AE337}"/>
              </a:ext>
            </a:extLst>
          </p:cNvPr>
          <p:cNvSpPr txBox="1"/>
          <p:nvPr/>
        </p:nvSpPr>
        <p:spPr>
          <a:xfrm>
            <a:off x="838200" y="3666606"/>
            <a:ext cx="4005944" cy="1015663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double c[N];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for (int i = 0; i &lt; N; i++)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c[i] = a[i] + b[i];</a:t>
            </a:r>
            <a:endParaRPr lang="en-PK" sz="2000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8CB501-6440-AF50-D664-2407AF1B3A1A}"/>
              </a:ext>
            </a:extLst>
          </p:cNvPr>
          <p:cNvSpPr txBox="1"/>
          <p:nvPr/>
        </p:nvSpPr>
        <p:spPr>
          <a:xfrm>
            <a:off x="838200" y="3266496"/>
            <a:ext cx="1824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Vector addition</a:t>
            </a:r>
            <a:endParaRPr lang="en-PK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DDD927-1F5B-2FAA-2C7D-6DED95D5768B}"/>
              </a:ext>
            </a:extLst>
          </p:cNvPr>
          <p:cNvSpPr txBox="1"/>
          <p:nvPr/>
        </p:nvSpPr>
        <p:spPr>
          <a:xfrm>
            <a:off x="6400802" y="3478297"/>
            <a:ext cx="5181598" cy="1323439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double c[N][N];</a:t>
            </a:r>
          </a:p>
          <a:p>
            <a:r>
              <a:rPr lang="nn-NO" sz="2000" dirty="0">
                <a:latin typeface="Consolas" panose="020B0609020204030204" pitchFamily="49" charset="0"/>
              </a:rPr>
              <a:t>for (int i = 0; i &lt; N; i++)</a:t>
            </a:r>
          </a:p>
          <a:p>
            <a:r>
              <a:rPr lang="nn-NO" sz="2000" dirty="0">
                <a:latin typeface="Consolas" panose="020B0609020204030204" pitchFamily="49" charset="0"/>
              </a:rPr>
              <a:t>   for (int j = 0; j &lt; N; j++)</a:t>
            </a:r>
          </a:p>
          <a:p>
            <a:r>
              <a:rPr lang="nn-NO" sz="2000" dirty="0">
                <a:latin typeface="Consolas" panose="020B0609020204030204" pitchFamily="49" charset="0"/>
              </a:rPr>
              <a:t>      c[i][j] = a[i][j] + b[i][j];</a:t>
            </a:r>
            <a:endParaRPr lang="en-PK" sz="2000" dirty="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F27A6B-3637-76BE-3F41-AC664CD0C970}"/>
              </a:ext>
            </a:extLst>
          </p:cNvPr>
          <p:cNvSpPr txBox="1"/>
          <p:nvPr/>
        </p:nvSpPr>
        <p:spPr>
          <a:xfrm>
            <a:off x="6400802" y="3078187"/>
            <a:ext cx="1843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Matrix addition</a:t>
            </a:r>
            <a:endParaRPr lang="en-PK" sz="2000" b="1" dirty="0"/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626F7279-7085-16A8-484B-09348E2E13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1616472"/>
              </p:ext>
            </p:extLst>
          </p:nvPr>
        </p:nvGraphicFramePr>
        <p:xfrm>
          <a:off x="780144" y="5440080"/>
          <a:ext cx="1512000" cy="30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180468647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97399289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91444507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0.2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0.5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1.2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4026276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9C35E4C-7DCD-B66E-4F35-2EC34587A7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8215149"/>
              </p:ext>
            </p:extLst>
          </p:nvPr>
        </p:nvGraphicFramePr>
        <p:xfrm>
          <a:off x="2503714" y="5440080"/>
          <a:ext cx="1512000" cy="30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358688825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186823147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871965836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0.4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0.3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0.2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179882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32B4F32-88A8-2D0F-50E5-79D5FB7386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1702860"/>
              </p:ext>
            </p:extLst>
          </p:nvPr>
        </p:nvGraphicFramePr>
        <p:xfrm>
          <a:off x="4227284" y="5440080"/>
          <a:ext cx="1512000" cy="30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358688825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186823147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871965836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0.6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0.8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1.4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1798820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C1B8AE8-3279-07D0-5A2A-7005A9D7F8CB}"/>
              </a:ext>
            </a:extLst>
          </p:cNvPr>
          <p:cNvSpPr txBox="1"/>
          <p:nvPr/>
        </p:nvSpPr>
        <p:spPr>
          <a:xfrm>
            <a:off x="2259486" y="5406326"/>
            <a:ext cx="2115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+</a:t>
            </a:r>
            <a:endParaRPr lang="en-PK" sz="1600" dirty="0"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E8D6C7-AB70-DA0A-CA6B-3BB180459CE1}"/>
              </a:ext>
            </a:extLst>
          </p:cNvPr>
          <p:cNvSpPr txBox="1"/>
          <p:nvPr/>
        </p:nvSpPr>
        <p:spPr>
          <a:xfrm>
            <a:off x="3950398" y="5406326"/>
            <a:ext cx="2115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=</a:t>
            </a:r>
            <a:endParaRPr lang="en-PK" sz="1600" dirty="0">
              <a:latin typeface="Consolas" panose="020B0609020204030204" pitchFamily="49" charset="0"/>
            </a:endParaRPr>
          </a:p>
        </p:txBody>
      </p:sp>
      <p:graphicFrame>
        <p:nvGraphicFramePr>
          <p:cNvPr id="16" name="Table 11">
            <a:extLst>
              <a:ext uri="{FF2B5EF4-FFF2-40B4-BE49-F238E27FC236}">
                <a16:creationId xmlns:a16="http://schemas.microsoft.com/office/drawing/2014/main" id="{E37D3E98-0C58-F182-7167-F15E05B008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5009700"/>
              </p:ext>
            </p:extLst>
          </p:nvPr>
        </p:nvGraphicFramePr>
        <p:xfrm>
          <a:off x="6432203" y="5177725"/>
          <a:ext cx="1512000" cy="914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180468647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97399289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91444507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0.2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0.5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1.2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402627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0.7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0.9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0.1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421678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0.9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1.0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0.0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2429350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1873DAE-0AA4-80D5-DA6B-7512327C0B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1662976"/>
              </p:ext>
            </p:extLst>
          </p:nvPr>
        </p:nvGraphicFramePr>
        <p:xfrm>
          <a:off x="8155773" y="5177725"/>
          <a:ext cx="1512000" cy="914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358688825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186823147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871965836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0.4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0.3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0.2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179882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0.9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0.5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0.8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87724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0.7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0.1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1.0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8379822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9D6CA13C-5D98-537A-45E6-D9024FFBBD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6102824"/>
              </p:ext>
            </p:extLst>
          </p:nvPr>
        </p:nvGraphicFramePr>
        <p:xfrm>
          <a:off x="9879343" y="5177725"/>
          <a:ext cx="1512000" cy="914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358688825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186823147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871965836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0.6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0.8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1.4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179882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1.6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1.4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0.9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485959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1.6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1.1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1.0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666996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5C1AE3AB-55BA-6119-6A7A-0A87401D950A}"/>
              </a:ext>
            </a:extLst>
          </p:cNvPr>
          <p:cNvSpPr txBox="1"/>
          <p:nvPr/>
        </p:nvSpPr>
        <p:spPr>
          <a:xfrm>
            <a:off x="7911545" y="5437889"/>
            <a:ext cx="2115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+</a:t>
            </a:r>
            <a:endParaRPr lang="en-PK" sz="1600" dirty="0"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1F5475-4EB6-333E-F588-DF80ADDED96A}"/>
              </a:ext>
            </a:extLst>
          </p:cNvPr>
          <p:cNvSpPr txBox="1"/>
          <p:nvPr/>
        </p:nvSpPr>
        <p:spPr>
          <a:xfrm>
            <a:off x="9602457" y="5437888"/>
            <a:ext cx="2115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=</a:t>
            </a:r>
            <a:endParaRPr lang="en-PK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196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98C68-AA36-2B59-E7EB-7418F78F5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Application of arrays: vector and matrix calculations</a:t>
            </a:r>
            <a:endParaRPr lang="en-PK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0587E8-2402-50AD-CB53-72D39D25A29C}"/>
              </a:ext>
            </a:extLst>
          </p:cNvPr>
          <p:cNvSpPr txBox="1"/>
          <p:nvPr/>
        </p:nvSpPr>
        <p:spPr>
          <a:xfrm>
            <a:off x="838200" y="1495327"/>
            <a:ext cx="4561114" cy="830997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Mathematical abstraction: vector</a:t>
            </a:r>
          </a:p>
          <a:p>
            <a:r>
              <a:rPr lang="en-US" sz="2400" dirty="0"/>
              <a:t>C++ implementation: 1D array</a:t>
            </a:r>
            <a:endParaRPr lang="en-PK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D27ED5-ADEA-B582-AE1B-1F06A22654C5}"/>
              </a:ext>
            </a:extLst>
          </p:cNvPr>
          <p:cNvSpPr txBox="1"/>
          <p:nvPr/>
        </p:nvSpPr>
        <p:spPr>
          <a:xfrm>
            <a:off x="6064900" y="1466452"/>
            <a:ext cx="4561114" cy="830997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Mathematical abstraction: matrix</a:t>
            </a:r>
          </a:p>
          <a:p>
            <a:r>
              <a:rPr lang="en-US" sz="2400" dirty="0"/>
              <a:t>C++ implementation: 2D array</a:t>
            </a:r>
            <a:endParaRPr lang="en-PK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DB0A14-257D-CB5E-8B64-62E9346AE337}"/>
              </a:ext>
            </a:extLst>
          </p:cNvPr>
          <p:cNvSpPr txBox="1"/>
          <p:nvPr/>
        </p:nvSpPr>
        <p:spPr>
          <a:xfrm>
            <a:off x="838200" y="2994797"/>
            <a:ext cx="4005944" cy="1015663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nn-NO" sz="2000" dirty="0">
                <a:latin typeface="Consolas" panose="020B0609020204030204" pitchFamily="49" charset="0"/>
              </a:rPr>
              <a:t>double sum = 0.0;</a:t>
            </a:r>
          </a:p>
          <a:p>
            <a:r>
              <a:rPr lang="nn-NO" sz="2000" dirty="0">
                <a:latin typeface="Consolas" panose="020B0609020204030204" pitchFamily="49" charset="0"/>
              </a:rPr>
              <a:t>for (int i = 0; i &lt; N; i++)</a:t>
            </a:r>
          </a:p>
          <a:p>
            <a:r>
              <a:rPr lang="nn-NO" sz="2000" dirty="0">
                <a:latin typeface="Consolas" panose="020B0609020204030204" pitchFamily="49" charset="0"/>
              </a:rPr>
              <a:t>   sum += a[i]*b[i];</a:t>
            </a:r>
            <a:endParaRPr lang="en-PK" sz="2000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8CB501-6440-AF50-D664-2407AF1B3A1A}"/>
              </a:ext>
            </a:extLst>
          </p:cNvPr>
          <p:cNvSpPr txBox="1"/>
          <p:nvPr/>
        </p:nvSpPr>
        <p:spPr>
          <a:xfrm>
            <a:off x="838200" y="2594687"/>
            <a:ext cx="21904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Vector dot product</a:t>
            </a:r>
            <a:endParaRPr lang="en-PK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DDD927-1F5B-2FAA-2C7D-6DED95D5768B}"/>
              </a:ext>
            </a:extLst>
          </p:cNvPr>
          <p:cNvSpPr txBox="1"/>
          <p:nvPr/>
        </p:nvSpPr>
        <p:spPr>
          <a:xfrm>
            <a:off x="6064900" y="2918457"/>
            <a:ext cx="5523720" cy="1631216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double c[N][N] = {}; // </a:t>
            </a:r>
            <a:r>
              <a:rPr lang="en-US" sz="2000" dirty="0" err="1">
                <a:latin typeface="Consolas" panose="020B0609020204030204" pitchFamily="49" charset="0"/>
              </a:rPr>
              <a:t>init</a:t>
            </a:r>
            <a:r>
              <a:rPr lang="en-US" sz="2000" dirty="0">
                <a:latin typeface="Consolas" panose="020B0609020204030204" pitchFamily="49" charset="0"/>
              </a:rPr>
              <a:t> to 0</a:t>
            </a:r>
          </a:p>
          <a:p>
            <a:r>
              <a:rPr lang="nn-NO" sz="2000" dirty="0">
                <a:latin typeface="Consolas" panose="020B0609020204030204" pitchFamily="49" charset="0"/>
              </a:rPr>
              <a:t>for (int i = 0; i &lt; N; i++)</a:t>
            </a:r>
          </a:p>
          <a:p>
            <a:r>
              <a:rPr lang="nn-NO" sz="2000" dirty="0">
                <a:latin typeface="Consolas" panose="020B0609020204030204" pitchFamily="49" charset="0"/>
              </a:rPr>
              <a:t>   for (int j = 0; j &lt; N; j++)</a:t>
            </a:r>
          </a:p>
          <a:p>
            <a:r>
              <a:rPr lang="nn-NO" sz="2000" dirty="0">
                <a:latin typeface="Consolas" panose="020B0609020204030204" pitchFamily="49" charset="0"/>
              </a:rPr>
              <a:t>      for (int k = 0; k &lt; N; k++)</a:t>
            </a:r>
          </a:p>
          <a:p>
            <a:r>
              <a:rPr lang="nn-NO" sz="2000" dirty="0">
                <a:latin typeface="Consolas" panose="020B0609020204030204" pitchFamily="49" charset="0"/>
              </a:rPr>
              <a:t>         c[i][j] += a[i][k] * b[k][j];</a:t>
            </a:r>
            <a:endParaRPr lang="en-PK" sz="2000" dirty="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F27A6B-3637-76BE-3F41-AC664CD0C970}"/>
              </a:ext>
            </a:extLst>
          </p:cNvPr>
          <p:cNvSpPr txBox="1"/>
          <p:nvPr/>
        </p:nvSpPr>
        <p:spPr>
          <a:xfrm>
            <a:off x="6064900" y="2506601"/>
            <a:ext cx="24306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Matrix multiplication</a:t>
            </a:r>
            <a:endParaRPr lang="en-PK" sz="2000" b="1" dirty="0"/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626F7279-7085-16A8-484B-09348E2E13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7835094"/>
              </p:ext>
            </p:extLst>
          </p:nvPr>
        </p:nvGraphicFramePr>
        <p:xfrm>
          <a:off x="780144" y="4227089"/>
          <a:ext cx="1512000" cy="30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180468647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97399289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91444507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.30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.60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.10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4026276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9C35E4C-7DCD-B66E-4F35-2EC34587A7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387382"/>
              </p:ext>
            </p:extLst>
          </p:nvPr>
        </p:nvGraphicFramePr>
        <p:xfrm>
          <a:off x="2503714" y="4227089"/>
          <a:ext cx="1512000" cy="30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358688825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186823147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871965836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.50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.10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.40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179882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32B4F32-88A8-2D0F-50E5-79D5FB7386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6072967"/>
              </p:ext>
            </p:extLst>
          </p:nvPr>
        </p:nvGraphicFramePr>
        <p:xfrm>
          <a:off x="4227284" y="4227089"/>
          <a:ext cx="494006" cy="30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4006">
                  <a:extLst>
                    <a:ext uri="{9D8B030D-6E8A-4147-A177-3AD203B41FA5}">
                      <a16:colId xmlns:a16="http://schemas.microsoft.com/office/drawing/2014/main" val="358688825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.25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1798820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C1B8AE8-3279-07D0-5A2A-7005A9D7F8CB}"/>
              </a:ext>
            </a:extLst>
          </p:cNvPr>
          <p:cNvSpPr txBox="1"/>
          <p:nvPr/>
        </p:nvSpPr>
        <p:spPr>
          <a:xfrm>
            <a:off x="2259486" y="4156011"/>
            <a:ext cx="2115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onsolas" panose="020B0609020204030204" pitchFamily="49" charset="0"/>
              </a:rPr>
              <a:t>.</a:t>
            </a:r>
            <a:endParaRPr lang="en-PK" sz="1600" b="1" dirty="0"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E8D6C7-AB70-DA0A-CA6B-3BB180459CE1}"/>
              </a:ext>
            </a:extLst>
          </p:cNvPr>
          <p:cNvSpPr txBox="1"/>
          <p:nvPr/>
        </p:nvSpPr>
        <p:spPr>
          <a:xfrm>
            <a:off x="3950398" y="4193335"/>
            <a:ext cx="2115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=</a:t>
            </a:r>
            <a:endParaRPr lang="en-PK" sz="1600" dirty="0">
              <a:latin typeface="Consolas" panose="020B0609020204030204" pitchFamily="49" charset="0"/>
            </a:endParaRPr>
          </a:p>
        </p:txBody>
      </p:sp>
      <p:graphicFrame>
        <p:nvGraphicFramePr>
          <p:cNvPr id="16" name="Table 11">
            <a:extLst>
              <a:ext uri="{FF2B5EF4-FFF2-40B4-BE49-F238E27FC236}">
                <a16:creationId xmlns:a16="http://schemas.microsoft.com/office/drawing/2014/main" id="{E37D3E98-0C58-F182-7167-F15E05B008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4193731"/>
              </p:ext>
            </p:extLst>
          </p:nvPr>
        </p:nvGraphicFramePr>
        <p:xfrm>
          <a:off x="6404211" y="5009768"/>
          <a:ext cx="1512000" cy="914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180468647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97399289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91444507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.70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.20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.10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402627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.30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.60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.10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421678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.50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.10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.40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2429350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1873DAE-0AA4-80D5-DA6B-7512327C0B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2586910"/>
              </p:ext>
            </p:extLst>
          </p:nvPr>
        </p:nvGraphicFramePr>
        <p:xfrm>
          <a:off x="8127781" y="5009768"/>
          <a:ext cx="1512000" cy="914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358688825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186823147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871965836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.80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.30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.50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179882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.10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.40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.10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87724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.10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.30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.40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8379822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9D6CA13C-5D98-537A-45E6-D9024FFBBD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288365"/>
              </p:ext>
            </p:extLst>
          </p:nvPr>
        </p:nvGraphicFramePr>
        <p:xfrm>
          <a:off x="9851351" y="5009768"/>
          <a:ext cx="1512000" cy="914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358688825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186823147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871965836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.59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.32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.41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179882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.31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.36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.25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485959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.45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.31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.42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666996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5C1AE3AB-55BA-6119-6A7A-0A87401D950A}"/>
              </a:ext>
            </a:extLst>
          </p:cNvPr>
          <p:cNvSpPr txBox="1"/>
          <p:nvPr/>
        </p:nvSpPr>
        <p:spPr>
          <a:xfrm>
            <a:off x="7883553" y="5269932"/>
            <a:ext cx="2115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*</a:t>
            </a:r>
            <a:endParaRPr lang="en-PK" sz="1600" dirty="0"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1F5475-4EB6-333E-F588-DF80ADDED96A}"/>
              </a:ext>
            </a:extLst>
          </p:cNvPr>
          <p:cNvSpPr txBox="1"/>
          <p:nvPr/>
        </p:nvSpPr>
        <p:spPr>
          <a:xfrm>
            <a:off x="9574465" y="5269931"/>
            <a:ext cx="2115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=</a:t>
            </a:r>
            <a:endParaRPr lang="en-PK" sz="1600" dirty="0"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6ADF4F-E691-7182-840D-7801415F6BD2}"/>
              </a:ext>
            </a:extLst>
          </p:cNvPr>
          <p:cNvSpPr/>
          <p:nvPr/>
        </p:nvSpPr>
        <p:spPr>
          <a:xfrm>
            <a:off x="6326155" y="5269931"/>
            <a:ext cx="1608716" cy="338554"/>
          </a:xfrm>
          <a:prstGeom prst="rect">
            <a:avLst/>
          </a:prstGeom>
          <a:noFill/>
          <a:ln w="254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B48E9D-C6E2-BAB2-F8C0-33F98B59460B}"/>
              </a:ext>
            </a:extLst>
          </p:cNvPr>
          <p:cNvSpPr/>
          <p:nvPr/>
        </p:nvSpPr>
        <p:spPr>
          <a:xfrm rot="5400000">
            <a:off x="8868989" y="5239381"/>
            <a:ext cx="1105784" cy="414615"/>
          </a:xfrm>
          <a:prstGeom prst="rect">
            <a:avLst/>
          </a:prstGeom>
          <a:noFill/>
          <a:ln w="254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1D19995-677B-44C4-989B-032150C8F5DB}"/>
              </a:ext>
            </a:extLst>
          </p:cNvPr>
          <p:cNvSpPr/>
          <p:nvPr/>
        </p:nvSpPr>
        <p:spPr>
          <a:xfrm>
            <a:off x="10927551" y="5324474"/>
            <a:ext cx="435800" cy="338554"/>
          </a:xfrm>
          <a:prstGeom prst="rect">
            <a:avLst/>
          </a:prstGeom>
          <a:noFill/>
          <a:ln w="254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graphicFrame>
        <p:nvGraphicFramePr>
          <p:cNvPr id="24" name="Table 11">
            <a:extLst>
              <a:ext uri="{FF2B5EF4-FFF2-40B4-BE49-F238E27FC236}">
                <a16:creationId xmlns:a16="http://schemas.microsoft.com/office/drawing/2014/main" id="{12628EDE-ED52-38C0-6721-CCFB6ED2FF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967606"/>
              </p:ext>
            </p:extLst>
          </p:nvPr>
        </p:nvGraphicFramePr>
        <p:xfrm>
          <a:off x="866487" y="4857368"/>
          <a:ext cx="3797560" cy="121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9876">
                  <a:extLst>
                    <a:ext uri="{9D8B030D-6E8A-4147-A177-3AD203B41FA5}">
                      <a16:colId xmlns:a16="http://schemas.microsoft.com/office/drawing/2014/main" val="1804686471"/>
                    </a:ext>
                  </a:extLst>
                </a:gridCol>
                <a:gridCol w="634482">
                  <a:extLst>
                    <a:ext uri="{9D8B030D-6E8A-4147-A177-3AD203B41FA5}">
                      <a16:colId xmlns:a16="http://schemas.microsoft.com/office/drawing/2014/main" val="1973992891"/>
                    </a:ext>
                  </a:extLst>
                </a:gridCol>
                <a:gridCol w="597159">
                  <a:extLst>
                    <a:ext uri="{9D8B030D-6E8A-4147-A177-3AD203B41FA5}">
                      <a16:colId xmlns:a16="http://schemas.microsoft.com/office/drawing/2014/main" val="2914445073"/>
                    </a:ext>
                  </a:extLst>
                </a:gridCol>
                <a:gridCol w="1386531">
                  <a:extLst>
                    <a:ext uri="{9D8B030D-6E8A-4147-A177-3AD203B41FA5}">
                      <a16:colId xmlns:a16="http://schemas.microsoft.com/office/drawing/2014/main" val="933109885"/>
                    </a:ext>
                  </a:extLst>
                </a:gridCol>
                <a:gridCol w="759512">
                  <a:extLst>
                    <a:ext uri="{9D8B030D-6E8A-4147-A177-3AD203B41FA5}">
                      <a16:colId xmlns:a16="http://schemas.microsoft.com/office/drawing/2014/main" val="3413601466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i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a[i]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b[i]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a[i]*b[i]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sum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402627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0.3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0.5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0.15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0.15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991337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1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0.6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0.1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0.06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0.21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83662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2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0.1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0.4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0.04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0.25</a:t>
                      </a:r>
                      <a:endParaRPr lang="en-PK" sz="14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1432504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15E3FB91-B175-19DA-FE4D-EA1C0D406B72}"/>
              </a:ext>
            </a:extLst>
          </p:cNvPr>
          <p:cNvSpPr txBox="1"/>
          <p:nvPr/>
        </p:nvSpPr>
        <p:spPr>
          <a:xfrm>
            <a:off x="1765484" y="6076568"/>
            <a:ext cx="16087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end of loop trace</a:t>
            </a:r>
            <a:endParaRPr lang="en-PK" sz="1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6869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DAA40-B94D-9B3D-630A-A486E1251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Pop quiz  on arrays</a:t>
            </a:r>
            <a:endParaRPr lang="en-PK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3B8AA9-EDA5-C64A-F3D8-495786286FEE}"/>
              </a:ext>
            </a:extLst>
          </p:cNvPr>
          <p:cNvSpPr txBox="1"/>
          <p:nvPr/>
        </p:nvSpPr>
        <p:spPr>
          <a:xfrm>
            <a:off x="838200" y="1690688"/>
            <a:ext cx="8436429" cy="461665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Q. </a:t>
            </a:r>
            <a:r>
              <a:rPr lang="en-US" sz="2400" dirty="0"/>
              <a:t>How many multiplications to multiply two N-by-N matrices?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39DCD3-F420-71AA-6461-0C9EB41C39A2}"/>
                  </a:ext>
                </a:extLst>
              </p:cNvPr>
              <p:cNvSpPr txBox="1"/>
              <p:nvPr/>
            </p:nvSpPr>
            <p:spPr>
              <a:xfrm>
                <a:off x="838200" y="4229923"/>
                <a:ext cx="1494453" cy="1624612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sz="2400" dirty="0"/>
              </a:p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/>
              </a:p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400" dirty="0"/>
              </a:p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39DCD3-F420-71AA-6461-0C9EB41C39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229923"/>
                <a:ext cx="1494453" cy="1624612"/>
              </a:xfrm>
              <a:prstGeom prst="rect">
                <a:avLst/>
              </a:prstGeom>
              <a:blipFill>
                <a:blip r:embed="rId2"/>
                <a:stretch>
                  <a:fillRect l="-6122" t="-3383" b="-3383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5DE5704-2E06-5B29-CBA1-A26C2B96A4DB}"/>
              </a:ext>
            </a:extLst>
          </p:cNvPr>
          <p:cNvSpPr txBox="1"/>
          <p:nvPr/>
        </p:nvSpPr>
        <p:spPr>
          <a:xfrm>
            <a:off x="1556656" y="2327375"/>
            <a:ext cx="5523720" cy="1631216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double c[N][N] = {}; </a:t>
            </a:r>
          </a:p>
          <a:p>
            <a:r>
              <a:rPr lang="nn-NO" sz="2000" dirty="0">
                <a:latin typeface="Consolas" panose="020B0609020204030204" pitchFamily="49" charset="0"/>
              </a:rPr>
              <a:t>for (int i = 0; i &lt; N; i++)</a:t>
            </a:r>
          </a:p>
          <a:p>
            <a:r>
              <a:rPr lang="nn-NO" sz="2000" dirty="0">
                <a:latin typeface="Consolas" panose="020B0609020204030204" pitchFamily="49" charset="0"/>
              </a:rPr>
              <a:t>   for (int j = 0; j &lt; N; j++)</a:t>
            </a:r>
          </a:p>
          <a:p>
            <a:r>
              <a:rPr lang="nn-NO" sz="2000" dirty="0">
                <a:latin typeface="Consolas" panose="020B0609020204030204" pitchFamily="49" charset="0"/>
              </a:rPr>
              <a:t>      for (int k = 0; k &lt; N; k++)</a:t>
            </a:r>
          </a:p>
          <a:p>
            <a:r>
              <a:rPr lang="nn-NO" sz="2000" dirty="0">
                <a:latin typeface="Consolas" panose="020B0609020204030204" pitchFamily="49" charset="0"/>
              </a:rPr>
              <a:t>         c[i][j] += a[i][k] * b[k][j];</a:t>
            </a:r>
            <a:endParaRPr lang="en-PK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541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DAA40-B94D-9B3D-630A-A486E1251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Pop quiz 3 on arrays</a:t>
            </a:r>
            <a:endParaRPr lang="en-PK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3B8AA9-EDA5-C64A-F3D8-495786286FEE}"/>
              </a:ext>
            </a:extLst>
          </p:cNvPr>
          <p:cNvSpPr txBox="1"/>
          <p:nvPr/>
        </p:nvSpPr>
        <p:spPr>
          <a:xfrm>
            <a:off x="838200" y="1690688"/>
            <a:ext cx="8436429" cy="461665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Q. </a:t>
            </a:r>
            <a:r>
              <a:rPr lang="en-US" sz="2400" dirty="0"/>
              <a:t>How many multiplications to multiply two N-by-N matrices?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4D991E6-D9D1-4488-1C9D-232FBB12602C}"/>
                  </a:ext>
                </a:extLst>
              </p:cNvPr>
              <p:cNvSpPr txBox="1"/>
              <p:nvPr/>
            </p:nvSpPr>
            <p:spPr>
              <a:xfrm>
                <a:off x="3088433" y="4932736"/>
                <a:ext cx="3747424" cy="4001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accent2">
                        <a:lumMod val="50000"/>
                      </a:schemeClr>
                    </a:solidFill>
                  </a:rPr>
                  <a:t>Nested for loops: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000" i="1" dirty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000" i="1" dirty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000" i="1" dirty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000" i="1" dirty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sz="2000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4D991E6-D9D1-4488-1C9D-232FBB126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8433" y="4932736"/>
                <a:ext cx="3747424" cy="400110"/>
              </a:xfrm>
              <a:prstGeom prst="rect">
                <a:avLst/>
              </a:prstGeom>
              <a:blipFill>
                <a:blip r:embed="rId2"/>
                <a:stretch>
                  <a:fillRect l="-1792" t="-7576" b="-25758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39DCD3-F420-71AA-6461-0C9EB41C39A2}"/>
                  </a:ext>
                </a:extLst>
              </p:cNvPr>
              <p:cNvSpPr txBox="1"/>
              <p:nvPr/>
            </p:nvSpPr>
            <p:spPr>
              <a:xfrm>
                <a:off x="838200" y="4229923"/>
                <a:ext cx="1494453" cy="1624612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sz="2400" dirty="0"/>
              </a:p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/>
              </a:p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400" dirty="0"/>
              </a:p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39DCD3-F420-71AA-6461-0C9EB41C39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229923"/>
                <a:ext cx="1494453" cy="1624612"/>
              </a:xfrm>
              <a:prstGeom prst="rect">
                <a:avLst/>
              </a:prstGeom>
              <a:blipFill>
                <a:blip r:embed="rId3"/>
                <a:stretch>
                  <a:fillRect l="-6122" t="-3383" b="-3383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5DE5704-2E06-5B29-CBA1-A26C2B96A4DB}"/>
              </a:ext>
            </a:extLst>
          </p:cNvPr>
          <p:cNvSpPr txBox="1"/>
          <p:nvPr/>
        </p:nvSpPr>
        <p:spPr>
          <a:xfrm>
            <a:off x="1556656" y="2327375"/>
            <a:ext cx="5523720" cy="1631216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double c[N][N] = {}; </a:t>
            </a:r>
          </a:p>
          <a:p>
            <a:r>
              <a:rPr lang="nn-NO" sz="2000" dirty="0">
                <a:latin typeface="Consolas" panose="020B0609020204030204" pitchFamily="49" charset="0"/>
              </a:rPr>
              <a:t>for (int i = 0; i &lt; N; i++)</a:t>
            </a:r>
          </a:p>
          <a:p>
            <a:r>
              <a:rPr lang="nn-NO" sz="2000" dirty="0">
                <a:latin typeface="Consolas" panose="020B0609020204030204" pitchFamily="49" charset="0"/>
              </a:rPr>
              <a:t>   for (int j = 0; j &lt; N; j++)</a:t>
            </a:r>
          </a:p>
          <a:p>
            <a:r>
              <a:rPr lang="nn-NO" sz="2000" dirty="0">
                <a:latin typeface="Consolas" panose="020B0609020204030204" pitchFamily="49" charset="0"/>
              </a:rPr>
              <a:t>      for (int k = 0; k &lt; N; k++)</a:t>
            </a:r>
          </a:p>
          <a:p>
            <a:r>
              <a:rPr lang="nn-NO" sz="2000" dirty="0">
                <a:latin typeface="Consolas" panose="020B0609020204030204" pitchFamily="49" charset="0"/>
              </a:rPr>
              <a:t>         c[i][j] += a[i][k] * b[k][j];</a:t>
            </a:r>
            <a:endParaRPr lang="en-PK" sz="2000" dirty="0">
              <a:latin typeface="Consolas" panose="020B0609020204030204" pitchFamily="49" charset="0"/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DB262653-2AC6-FE59-E7BA-980ED9DF21CD}"/>
              </a:ext>
            </a:extLst>
          </p:cNvPr>
          <p:cNvSpPr/>
          <p:nvPr/>
        </p:nvSpPr>
        <p:spPr>
          <a:xfrm rot="10800000">
            <a:off x="2332653" y="4992832"/>
            <a:ext cx="681135" cy="279919"/>
          </a:xfrm>
          <a:prstGeom prst="rightArrow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83717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DA826-F5C8-406D-5564-58C41BC1A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Example of array use: create a deck of cards</a:t>
            </a:r>
            <a:endParaRPr lang="en-PK" sz="3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BC4708-4DE3-3438-2215-64706E356D05}"/>
              </a:ext>
            </a:extLst>
          </p:cNvPr>
          <p:cNvSpPr txBox="1"/>
          <p:nvPr/>
        </p:nvSpPr>
        <p:spPr>
          <a:xfrm>
            <a:off x="318797" y="1604907"/>
            <a:ext cx="10374085" cy="4031873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nn-NO" sz="1600" dirty="0">
                <a:latin typeface="Consolas" panose="020B0609020204030204" pitchFamily="49" charset="0"/>
              </a:rPr>
              <a:t>#include&lt;iostream&gt;</a:t>
            </a:r>
          </a:p>
          <a:p>
            <a:r>
              <a:rPr lang="nn-NO" sz="1600" dirty="0">
                <a:latin typeface="Consolas" panose="020B0609020204030204" pitchFamily="49" charset="0"/>
              </a:rPr>
              <a:t>#include&lt;string&gt;</a:t>
            </a:r>
          </a:p>
          <a:p>
            <a:endParaRPr lang="nn-NO" sz="1600" dirty="0">
              <a:latin typeface="Consolas" panose="020B0609020204030204" pitchFamily="49" charset="0"/>
            </a:endParaRPr>
          </a:p>
          <a:p>
            <a:r>
              <a:rPr lang="nn-NO" sz="1600" dirty="0">
                <a:latin typeface="Consolas" panose="020B0609020204030204" pitchFamily="49" charset="0"/>
              </a:rPr>
              <a:t>int main() {</a:t>
            </a:r>
          </a:p>
          <a:p>
            <a:r>
              <a:rPr lang="nn-NO" sz="1600" dirty="0">
                <a:latin typeface="Consolas" panose="020B0609020204030204" pitchFamily="49" charset="0"/>
              </a:rPr>
              <a:t>    std::string rank[] {"2", "3", "4", "5", "6", "7", "8", "9", "10", "J", "Q", "K", "A" };</a:t>
            </a:r>
          </a:p>
          <a:p>
            <a:r>
              <a:rPr lang="nn-NO" sz="1600" dirty="0">
                <a:latin typeface="Consolas" panose="020B0609020204030204" pitchFamily="49" charset="0"/>
              </a:rPr>
              <a:t>    std::string suit[] {"C", "D", "S", "H"}; // Club, Diamond, Spade, Heart</a:t>
            </a:r>
          </a:p>
          <a:p>
            <a:r>
              <a:rPr lang="nn-NO" sz="1600" dirty="0">
                <a:latin typeface="Consolas" panose="020B0609020204030204" pitchFamily="49" charset="0"/>
              </a:rPr>
              <a:t>    std::string deck[52];</a:t>
            </a:r>
          </a:p>
          <a:p>
            <a:endParaRPr lang="nn-NO" sz="1600" dirty="0">
              <a:latin typeface="Consolas" panose="020B0609020204030204" pitchFamily="49" charset="0"/>
            </a:endParaRPr>
          </a:p>
          <a:p>
            <a:r>
              <a:rPr lang="nn-NO" sz="1600" dirty="0">
                <a:latin typeface="Consolas" panose="020B0609020204030204" pitchFamily="49" charset="0"/>
              </a:rPr>
              <a:t>    for (int j = 0; j &lt; 4; j++)</a:t>
            </a:r>
          </a:p>
          <a:p>
            <a:r>
              <a:rPr lang="nn-NO" sz="1600" dirty="0">
                <a:latin typeface="Consolas" panose="020B0609020204030204" pitchFamily="49" charset="0"/>
              </a:rPr>
              <a:t>        for (int i = 0; i &lt; 13; i++)</a:t>
            </a:r>
          </a:p>
          <a:p>
            <a:r>
              <a:rPr lang="nn-NO" sz="1600" dirty="0">
                <a:latin typeface="Consolas" panose="020B0609020204030204" pitchFamily="49" charset="0"/>
              </a:rPr>
              <a:t>            deck[i + 13*j] = rank[i] + suit[j];</a:t>
            </a:r>
          </a:p>
          <a:p>
            <a:endParaRPr lang="nn-NO" sz="1600" dirty="0">
              <a:latin typeface="Consolas" panose="020B0609020204030204" pitchFamily="49" charset="0"/>
            </a:endParaRPr>
          </a:p>
          <a:p>
            <a:r>
              <a:rPr lang="nn-NO" sz="1600" dirty="0">
                <a:latin typeface="Consolas" panose="020B0609020204030204" pitchFamily="49" charset="0"/>
              </a:rPr>
              <a:t>    for(int i=0; i&lt;52; i++)</a:t>
            </a:r>
          </a:p>
          <a:p>
            <a:r>
              <a:rPr lang="nn-NO" sz="1600" dirty="0">
                <a:latin typeface="Consolas" panose="020B0609020204030204" pitchFamily="49" charset="0"/>
              </a:rPr>
              <a:t>        std::cout &lt;&lt; deck[i] &lt;&lt; " ";</a:t>
            </a:r>
          </a:p>
          <a:p>
            <a:r>
              <a:rPr lang="nn-NO" sz="1600" dirty="0">
                <a:latin typeface="Consolas" panose="020B0609020204030204" pitchFamily="49" charset="0"/>
              </a:rPr>
              <a:t>    std::cout &lt;&lt; std::endl;</a:t>
            </a:r>
          </a:p>
          <a:p>
            <a:r>
              <a:rPr lang="nn-NO" sz="1600" dirty="0"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14" name="Picture 13" descr="Full house of cards&#10;&#10;Description automatically generated">
            <a:extLst>
              <a:ext uri="{FF2B5EF4-FFF2-40B4-BE49-F238E27FC236}">
                <a16:creationId xmlns:a16="http://schemas.microsoft.com/office/drawing/2014/main" id="{7C3EFD57-0F94-4A96-C176-ABFB48ADA0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3195" y="316215"/>
            <a:ext cx="1810009" cy="181000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AC7D890-2137-FB97-5A57-BCE054CE932A}"/>
              </a:ext>
            </a:extLst>
          </p:cNvPr>
          <p:cNvSpPr txBox="1"/>
          <p:nvPr/>
        </p:nvSpPr>
        <p:spPr>
          <a:xfrm>
            <a:off x="7190792" y="4935725"/>
            <a:ext cx="4682411" cy="1323439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sz="1600" dirty="0">
                <a:latin typeface="Consolas" panose="020B0609020204030204" pitchFamily="49" charset="0"/>
              </a:rPr>
              <a:t>a</a:t>
            </a:r>
          </a:p>
          <a:p>
            <a:r>
              <a:rPr lang="pt-BR" sz="1600" dirty="0">
                <a:solidFill>
                  <a:schemeClr val="accent1"/>
                </a:solidFill>
                <a:latin typeface="Consolas" panose="020B0609020204030204" pitchFamily="49" charset="0"/>
              </a:rPr>
              <a:t>2C 3C 4C 5C 6C 7C 8C 9C 10C JC QC KC AC </a:t>
            </a:r>
          </a:p>
          <a:p>
            <a:r>
              <a:rPr lang="pt-BR" sz="1600" dirty="0">
                <a:solidFill>
                  <a:schemeClr val="accent1"/>
                </a:solidFill>
                <a:latin typeface="Consolas" panose="020B0609020204030204" pitchFamily="49" charset="0"/>
              </a:rPr>
              <a:t>2D 3D 4D 5D 6D 7D 8D 9D 10D JD QD KD AD </a:t>
            </a:r>
          </a:p>
          <a:p>
            <a:r>
              <a:rPr lang="pt-BR" sz="1600" dirty="0">
                <a:solidFill>
                  <a:schemeClr val="accent1"/>
                </a:solidFill>
                <a:latin typeface="Consolas" panose="020B0609020204030204" pitchFamily="49" charset="0"/>
              </a:rPr>
              <a:t>2S 3S 4S 5S 6S 7S 8S 9S 10S JS QS KS AS</a:t>
            </a:r>
          </a:p>
          <a:p>
            <a:r>
              <a:rPr lang="pt-BR" sz="1600" dirty="0">
                <a:solidFill>
                  <a:schemeClr val="accent1"/>
                </a:solidFill>
                <a:latin typeface="Consolas" panose="020B0609020204030204" pitchFamily="49" charset="0"/>
              </a:rPr>
              <a:t>2H 3H 4H 5H 6H 7H 8H 9H 10H JH QH KH AH</a:t>
            </a:r>
            <a:endParaRPr lang="nn-NO" sz="1600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5611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E6AF8-6EBA-1F58-36F4-0D2A551FD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Self-avoiding random walks</a:t>
            </a:r>
            <a:endParaRPr lang="en-PK" sz="3600" dirty="0"/>
          </a:p>
        </p:txBody>
      </p:sp>
      <p:pic>
        <p:nvPicPr>
          <p:cNvPr id="10" name="Picture 9" descr="A cat walking on a white surface&#10;&#10;Description automatically generated">
            <a:extLst>
              <a:ext uri="{FF2B5EF4-FFF2-40B4-BE49-F238E27FC236}">
                <a16:creationId xmlns:a16="http://schemas.microsoft.com/office/drawing/2014/main" id="{7FCA5F8B-4DBC-D47C-96CC-F8FF2FCDBC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7912" y="1520284"/>
            <a:ext cx="2021633" cy="1225858"/>
          </a:xfrm>
          <a:prstGeom prst="rect">
            <a:avLst/>
          </a:prstGeom>
        </p:spPr>
      </p:pic>
      <p:pic>
        <p:nvPicPr>
          <p:cNvPr id="8" name="Picture 7" descr="Aerial view of a city">
            <a:extLst>
              <a:ext uri="{FF2B5EF4-FFF2-40B4-BE49-F238E27FC236}">
                <a16:creationId xmlns:a16="http://schemas.microsoft.com/office/drawing/2014/main" id="{C27A1F0C-581F-6FBD-8EE1-4ED7E11A93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2" y="1414551"/>
            <a:ext cx="2400300" cy="14351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44F9A53-867E-C541-FFC3-B426D890DDD8}"/>
              </a:ext>
            </a:extLst>
          </p:cNvPr>
          <p:cNvSpPr txBox="1"/>
          <p:nvPr/>
        </p:nvSpPr>
        <p:spPr>
          <a:xfrm>
            <a:off x="838200" y="1550729"/>
            <a:ext cx="3519196" cy="1200329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A cat walks around at random in a city, never revisiting any intersection.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97C750-95B8-2368-7782-E40DB1A61EEB}"/>
              </a:ext>
            </a:extLst>
          </p:cNvPr>
          <p:cNvSpPr txBox="1"/>
          <p:nvPr/>
        </p:nvSpPr>
        <p:spPr>
          <a:xfrm>
            <a:off x="838200" y="3037407"/>
            <a:ext cx="3519196" cy="461665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Q. </a:t>
            </a:r>
            <a:r>
              <a:rPr lang="en-US" sz="2400" dirty="0"/>
              <a:t>Does the cat escape?</a:t>
            </a:r>
          </a:p>
        </p:txBody>
      </p:sp>
      <p:pic>
        <p:nvPicPr>
          <p:cNvPr id="13" name="Picture 12" descr="A black line on a grid&#10;&#10;Description automatically generated">
            <a:extLst>
              <a:ext uri="{FF2B5EF4-FFF2-40B4-BE49-F238E27FC236}">
                <a16:creationId xmlns:a16="http://schemas.microsoft.com/office/drawing/2014/main" id="{5AEBA848-A323-B6BC-CDBF-749CDBC692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7167" y="4014461"/>
            <a:ext cx="2575884" cy="2342337"/>
          </a:xfrm>
          <a:prstGeom prst="rect">
            <a:avLst/>
          </a:prstGeom>
        </p:spPr>
      </p:pic>
      <p:pic>
        <p:nvPicPr>
          <p:cNvPr id="15" name="Picture 14" descr="A black line on a grid">
            <a:extLst>
              <a:ext uri="{FF2B5EF4-FFF2-40B4-BE49-F238E27FC236}">
                <a16:creationId xmlns:a16="http://schemas.microsoft.com/office/drawing/2014/main" id="{62479213-5CBC-36DC-90AD-417B72FC19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7650" y="718737"/>
            <a:ext cx="2545401" cy="233733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AD79933-C8D7-EF1D-42E2-33A3EECEA3A4}"/>
              </a:ext>
            </a:extLst>
          </p:cNvPr>
          <p:cNvSpPr txBox="1"/>
          <p:nvPr/>
        </p:nvSpPr>
        <p:spPr>
          <a:xfrm>
            <a:off x="9656985" y="3090446"/>
            <a:ext cx="11608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dead end</a:t>
            </a:r>
            <a:endParaRPr lang="en-PK" sz="2000" dirty="0">
              <a:solidFill>
                <a:schemeClr val="accent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1E52B1-2665-8A3F-D7A0-8B4DEC97BAFB}"/>
              </a:ext>
            </a:extLst>
          </p:cNvPr>
          <p:cNvSpPr txBox="1"/>
          <p:nvPr/>
        </p:nvSpPr>
        <p:spPr>
          <a:xfrm>
            <a:off x="9744071" y="6292820"/>
            <a:ext cx="9071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escape</a:t>
            </a:r>
            <a:endParaRPr lang="en-PK" sz="2000" dirty="0">
              <a:solidFill>
                <a:schemeClr val="accent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0CD2BA-6208-EBA2-0F90-F85CD5ADA3E2}"/>
              </a:ext>
            </a:extLst>
          </p:cNvPr>
          <p:cNvSpPr txBox="1"/>
          <p:nvPr/>
        </p:nvSpPr>
        <p:spPr>
          <a:xfrm>
            <a:off x="838199" y="3643669"/>
            <a:ext cx="7505703" cy="2308324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Model: a random process in an N-by-N lattice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Start in the middle.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Move to a random neighboring intersection but do not revisit any intersection.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Outcome 1 (escape): reach edge of lattice.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Outcome 2 (dead end): no unvisited neighbors.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422138-B460-0A8C-0845-420A07F9587C}"/>
              </a:ext>
            </a:extLst>
          </p:cNvPr>
          <p:cNvSpPr txBox="1"/>
          <p:nvPr/>
        </p:nvSpPr>
        <p:spPr>
          <a:xfrm>
            <a:off x="838200" y="6079606"/>
            <a:ext cx="7505702" cy="461665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Q. </a:t>
            </a:r>
            <a:r>
              <a:rPr lang="en-US" sz="2400" dirty="0"/>
              <a:t>What are the chances of reaching a dead end?</a:t>
            </a:r>
          </a:p>
        </p:txBody>
      </p:sp>
    </p:spTree>
    <p:extLst>
      <p:ext uri="{BB962C8B-B14F-4D97-AF65-F5344CB8AC3E}">
        <p14:creationId xmlns:p14="http://schemas.microsoft.com/office/powerpoint/2010/main" val="1013865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90FA5-9646-4F79-EFBC-D4EF22690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Self-avoiding random walks</a:t>
            </a:r>
            <a:endParaRPr lang="en-PK" sz="3600" dirty="0"/>
          </a:p>
        </p:txBody>
      </p:sp>
      <p:pic>
        <p:nvPicPr>
          <p:cNvPr id="5" name="Picture 4" descr="A grid of black and white squares&#10;&#10;Description automatically generated">
            <a:extLst>
              <a:ext uri="{FF2B5EF4-FFF2-40B4-BE49-F238E27FC236}">
                <a16:creationId xmlns:a16="http://schemas.microsoft.com/office/drawing/2014/main" id="{FC7D5E44-B2DA-FC4B-9463-42EC26339D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6154" y="1518471"/>
            <a:ext cx="6835211" cy="5152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176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404D4-1755-3F86-99CF-9F9AB47BA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Application of 2D arrays: self-avoiding random walks</a:t>
            </a:r>
            <a:endParaRPr lang="en-PK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E3D713-BBDA-E827-FEF8-FAB32396D930}"/>
              </a:ext>
            </a:extLst>
          </p:cNvPr>
          <p:cNvSpPr txBox="1"/>
          <p:nvPr/>
        </p:nvSpPr>
        <p:spPr>
          <a:xfrm>
            <a:off x="940836" y="1384984"/>
            <a:ext cx="8874968" cy="5324535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const int N = 20, trials = 1000;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int </a:t>
            </a:r>
            <a:r>
              <a:rPr lang="en-US" sz="2000" dirty="0" err="1">
                <a:latin typeface="Consolas" panose="020B0609020204030204" pitchFamily="49" charset="0"/>
              </a:rPr>
              <a:t>deadEnds</a:t>
            </a:r>
            <a:r>
              <a:rPr lang="en-US" sz="2000" dirty="0">
                <a:latin typeface="Consolas" panose="020B0609020204030204" pitchFamily="49" charset="0"/>
              </a:rPr>
              <a:t> = 0;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for (int t = 0; t &lt; trials; t++)  {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bool a[N][N] = {};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int x = N/2, y = N/2;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while (x &gt; 0 &amp;&amp; x &lt; N-1 &amp;&amp; y &gt; 0 &amp;&amp; y &lt; N-1)  {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    if (a[x-1][y] &amp;&amp; a[x+1][y] &amp;&amp; a[x][y-1] &amp;&amp; a[x][y+1])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        { </a:t>
            </a:r>
            <a:r>
              <a:rPr lang="en-US" sz="2000" dirty="0" err="1">
                <a:latin typeface="Consolas" panose="020B0609020204030204" pitchFamily="49" charset="0"/>
              </a:rPr>
              <a:t>deadEnds</a:t>
            </a:r>
            <a:r>
              <a:rPr lang="en-US" sz="2000" dirty="0">
                <a:latin typeface="Consolas" panose="020B0609020204030204" pitchFamily="49" charset="0"/>
              </a:rPr>
              <a:t>++; break; }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    a[x][y] = true;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    int r = rand() % 4;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    if (r==0)      { if (!a[x+1][y]) x++; }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    else if (r==1) { if (!a[x-1][y]) x--; }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    else if (r==2) { if (!a[x][y+1]) y++; }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    else           { if (!a[x][y-1]) y--; }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}</a:t>
            </a:r>
          </a:p>
          <a:p>
            <a:r>
              <a:rPr lang="en-US" sz="2000" dirty="0" err="1">
                <a:latin typeface="Consolas" panose="020B0609020204030204" pitchFamily="49" charset="0"/>
              </a:rPr>
              <a:t>cout</a:t>
            </a:r>
            <a:r>
              <a:rPr lang="en-US" sz="2000" dirty="0">
                <a:latin typeface="Consolas" panose="020B0609020204030204" pitchFamily="49" charset="0"/>
              </a:rPr>
              <a:t> &lt;&lt; (100*</a:t>
            </a:r>
            <a:r>
              <a:rPr lang="en-US" sz="2000" dirty="0" err="1">
                <a:latin typeface="Consolas" panose="020B0609020204030204" pitchFamily="49" charset="0"/>
              </a:rPr>
              <a:t>deadEnds</a:t>
            </a:r>
            <a:r>
              <a:rPr lang="en-US" sz="2000" dirty="0">
                <a:latin typeface="Consolas" panose="020B0609020204030204" pitchFamily="49" charset="0"/>
              </a:rPr>
              <a:t>/trials) &lt;&lt; "% dead ends";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C49783-6596-75D3-2C2D-E183A6E969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5791" y="4835297"/>
            <a:ext cx="3985297" cy="1874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608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1BCB9-6341-69D3-F8B0-556F05EDA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Your first data structure</a:t>
            </a:r>
            <a:endParaRPr lang="en-PK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450348-7678-0194-613D-5A84194809E2}"/>
              </a:ext>
            </a:extLst>
          </p:cNvPr>
          <p:cNvSpPr txBox="1"/>
          <p:nvPr/>
        </p:nvSpPr>
        <p:spPr>
          <a:xfrm>
            <a:off x="838200" y="1607414"/>
            <a:ext cx="10198360" cy="156966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Arrays: A basic building block in programming</a:t>
            </a:r>
          </a:p>
          <a:p>
            <a:r>
              <a:rPr lang="en-US" sz="2400" dirty="0"/>
              <a:t>• They enable storage of large amounts of data (values all of the same type).</a:t>
            </a:r>
          </a:p>
          <a:p>
            <a:r>
              <a:rPr lang="en-US" sz="2400" dirty="0"/>
              <a:t>• With an index, a program can instantly access a given value.</a:t>
            </a:r>
          </a:p>
          <a:p>
            <a:r>
              <a:rPr lang="en-US" sz="2400" dirty="0"/>
              <a:t>• Efficiency derives from low-level computer hardware organization (stay tuned).</a:t>
            </a:r>
          </a:p>
        </p:txBody>
      </p:sp>
    </p:spTree>
    <p:extLst>
      <p:ext uri="{BB962C8B-B14F-4D97-AF65-F5344CB8AC3E}">
        <p14:creationId xmlns:p14="http://schemas.microsoft.com/office/powerpoint/2010/main" val="3868333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7993</TotalTime>
  <Words>1840</Words>
  <Application>Microsoft Office PowerPoint</Application>
  <PresentationFormat>Widescreen</PresentationFormat>
  <Paragraphs>362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Consolas</vt:lpstr>
      <vt:lpstr>Wingdings</vt:lpstr>
      <vt:lpstr>Office Theme</vt:lpstr>
      <vt:lpstr>Two dimensional arrays</vt:lpstr>
      <vt:lpstr>Two-dimensional arrays</vt:lpstr>
      <vt:lpstr>C++ language support for two-dimensional arrays</vt:lpstr>
      <vt:lpstr>Two-dimensional arrays: Initialization options</vt:lpstr>
      <vt:lpstr>Application of arrays: vector and matrix calculations</vt:lpstr>
      <vt:lpstr>Application of arrays: vector and matrix calculations</vt:lpstr>
      <vt:lpstr>Pop quiz  on arrays</vt:lpstr>
      <vt:lpstr>Pop quiz 3 on arrays</vt:lpstr>
      <vt:lpstr>Example of array use: create a deck of cards</vt:lpstr>
      <vt:lpstr>Self-avoiding random walks</vt:lpstr>
      <vt:lpstr>Self-avoiding random walks</vt:lpstr>
      <vt:lpstr>Application of 2D arrays: self-avoiding random walks</vt:lpstr>
      <vt:lpstr>Your first data structure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Programming</dc:title>
  <dc:creator>Imran Rauf</dc:creator>
  <cp:lastModifiedBy>Maria Rahim Khowaja / Lecturer</cp:lastModifiedBy>
  <cp:revision>505</cp:revision>
  <dcterms:created xsi:type="dcterms:W3CDTF">2023-08-23T19:46:54Z</dcterms:created>
  <dcterms:modified xsi:type="dcterms:W3CDTF">2024-09-25T10:50:25Z</dcterms:modified>
</cp:coreProperties>
</file>