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16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1" r:id="rId3"/>
    <p:sldId id="792" r:id="rId4"/>
    <p:sldId id="812" r:id="rId5"/>
    <p:sldId id="273" r:id="rId6"/>
    <p:sldId id="813" r:id="rId7"/>
    <p:sldId id="274" r:id="rId8"/>
    <p:sldId id="265" r:id="rId9"/>
    <p:sldId id="806" r:id="rId10"/>
    <p:sldId id="258" r:id="rId11"/>
    <p:sldId id="789" r:id="rId12"/>
    <p:sldId id="820" r:id="rId13"/>
    <p:sldId id="814" r:id="rId14"/>
    <p:sldId id="819" r:id="rId15"/>
    <p:sldId id="799" r:id="rId16"/>
    <p:sldId id="815" r:id="rId17"/>
    <p:sldId id="816" r:id="rId18"/>
    <p:sldId id="817" r:id="rId19"/>
    <p:sldId id="818" r:id="rId20"/>
  </p:sldIdLst>
  <p:sldSz cx="12192000" cy="6858000"/>
  <p:notesSz cx="6858000" cy="9144000"/>
  <p:defaultTextStyle>
    <a:defPPr>
      <a:defRPr lang="en-US"/>
    </a:defPPr>
    <a:lvl1pPr marL="0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1pPr>
    <a:lvl2pPr marL="514026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2pPr>
    <a:lvl3pPr marL="1028053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3pPr>
    <a:lvl4pPr marL="1542079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4pPr>
    <a:lvl5pPr marL="2056105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5pPr>
    <a:lvl6pPr marL="2570132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6pPr>
    <a:lvl7pPr marL="3084158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7pPr>
    <a:lvl8pPr marL="3598184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8pPr>
    <a:lvl9pPr marL="4112210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rse Introduction" id="{E6EDAD25-BDE2-4CC6-8D09-8ED590FB1512}">
          <p14:sldIdLst>
            <p14:sldId id="256"/>
            <p14:sldId id="261"/>
            <p14:sldId id="792"/>
            <p14:sldId id="812"/>
            <p14:sldId id="273"/>
            <p14:sldId id="813"/>
            <p14:sldId id="274"/>
            <p14:sldId id="265"/>
            <p14:sldId id="806"/>
            <p14:sldId id="258"/>
            <p14:sldId id="789"/>
            <p14:sldId id="820"/>
            <p14:sldId id="814"/>
            <p14:sldId id="819"/>
            <p14:sldId id="799"/>
            <p14:sldId id="815"/>
            <p14:sldId id="816"/>
            <p14:sldId id="817"/>
            <p14:sldId id="81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9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48" d="100"/>
          <a:sy n="148" d="100"/>
        </p:scale>
        <p:origin x="1373" y="-34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3B2B34-629B-4729-B306-B1417EF526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AD740A-B125-48ED-9C3A-D274A7C1E7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EEBEA-C87F-407B-B193-90E50A29F43E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F6961-7808-4D1D-B260-7F026EF99E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i-FI"/>
              <a:t>Usman Ali (uali@iba.edu.pk)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F72E4-A5A1-4787-9E2B-2A4F346183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E3FF6-C984-48CF-A679-378BC71E1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051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27803-C5B7-4C54-8A80-3DE60D52E6D4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i-FI"/>
              <a:t>Usman Ali (uali@iba.edu.pk)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C0441-36C0-4045-BAA9-3F0B1BA999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935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Usman Ali (uali@iba.edu.pk)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C0441-36C0-4045-BAA9-3F0B1BA9991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04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9426424F-8AE7-8303-5FEC-FDD6C0DFA1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1836D1B-284D-4676-93DA-3FF5AAF34E14}" type="slidenum">
              <a:rPr lang="en-US" altLang="en-PK" sz="1200" i="0">
                <a:solidFill>
                  <a:schemeClr val="tx1"/>
                </a:solidFill>
                <a:latin typeface="Times" panose="02020603050405020304" pitchFamily="18" charset="0"/>
              </a:rPr>
              <a:pPr/>
              <a:t>2</a:t>
            </a:fld>
            <a:endParaRPr lang="en-US" altLang="en-PK" sz="1200" i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D1627C4-9C05-D254-EA31-B302060AA7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3D292F28-452F-6B76-2244-588681B3DB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PK" altLang="en-PK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3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158"/>
            </a:lvl1pPr>
            <a:lvl2pPr marL="411038" indent="0" algn="ctr">
              <a:buNone/>
              <a:defRPr sz="1798"/>
            </a:lvl2pPr>
            <a:lvl3pPr marL="822077" indent="0" algn="ctr">
              <a:buNone/>
              <a:defRPr sz="1618"/>
            </a:lvl3pPr>
            <a:lvl4pPr marL="1233115" indent="0" algn="ctr">
              <a:buNone/>
              <a:defRPr sz="1438"/>
            </a:lvl4pPr>
            <a:lvl5pPr marL="1644154" indent="0" algn="ctr">
              <a:buNone/>
              <a:defRPr sz="1438"/>
            </a:lvl5pPr>
            <a:lvl6pPr marL="2055192" indent="0" algn="ctr">
              <a:buNone/>
              <a:defRPr sz="1438"/>
            </a:lvl6pPr>
            <a:lvl7pPr marL="2466231" indent="0" algn="ctr">
              <a:buNone/>
              <a:defRPr sz="1438"/>
            </a:lvl7pPr>
            <a:lvl8pPr marL="2877269" indent="0" algn="ctr">
              <a:buNone/>
              <a:defRPr sz="1438"/>
            </a:lvl8pPr>
            <a:lvl9pPr marL="3288308" indent="0" algn="ctr">
              <a:buNone/>
              <a:defRPr sz="143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32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0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3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158">
                <a:solidFill>
                  <a:schemeClr val="tx1">
                    <a:tint val="75000"/>
                  </a:schemeClr>
                </a:solidFill>
              </a:defRPr>
            </a:lvl1pPr>
            <a:lvl2pPr marL="411038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2pPr>
            <a:lvl3pPr marL="822077" indent="0">
              <a:buNone/>
              <a:defRPr sz="1618">
                <a:solidFill>
                  <a:schemeClr val="tx1">
                    <a:tint val="75000"/>
                  </a:schemeClr>
                </a:solidFill>
              </a:defRPr>
            </a:lvl3pPr>
            <a:lvl4pPr marL="1233115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4pPr>
            <a:lvl5pPr marL="1644154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5pPr>
            <a:lvl6pPr marL="2055192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6pPr>
            <a:lvl7pPr marL="2466231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7pPr>
            <a:lvl8pPr marL="2877269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8pPr>
            <a:lvl9pPr marL="3288308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98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5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58" b="1"/>
            </a:lvl1pPr>
            <a:lvl2pPr marL="411038" indent="0">
              <a:buNone/>
              <a:defRPr sz="1798" b="1"/>
            </a:lvl2pPr>
            <a:lvl3pPr marL="822077" indent="0">
              <a:buNone/>
              <a:defRPr sz="1618" b="1"/>
            </a:lvl3pPr>
            <a:lvl4pPr marL="1233115" indent="0">
              <a:buNone/>
              <a:defRPr sz="1438" b="1"/>
            </a:lvl4pPr>
            <a:lvl5pPr marL="1644154" indent="0">
              <a:buNone/>
              <a:defRPr sz="1438" b="1"/>
            </a:lvl5pPr>
            <a:lvl6pPr marL="2055192" indent="0">
              <a:buNone/>
              <a:defRPr sz="1438" b="1"/>
            </a:lvl6pPr>
            <a:lvl7pPr marL="2466231" indent="0">
              <a:buNone/>
              <a:defRPr sz="1438" b="1"/>
            </a:lvl7pPr>
            <a:lvl8pPr marL="2877269" indent="0">
              <a:buNone/>
              <a:defRPr sz="1438" b="1"/>
            </a:lvl8pPr>
            <a:lvl9pPr marL="3288308" indent="0">
              <a:buNone/>
              <a:defRPr sz="143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158" b="1"/>
            </a:lvl1pPr>
            <a:lvl2pPr marL="411038" indent="0">
              <a:buNone/>
              <a:defRPr sz="1798" b="1"/>
            </a:lvl2pPr>
            <a:lvl3pPr marL="822077" indent="0">
              <a:buNone/>
              <a:defRPr sz="1618" b="1"/>
            </a:lvl3pPr>
            <a:lvl4pPr marL="1233115" indent="0">
              <a:buNone/>
              <a:defRPr sz="1438" b="1"/>
            </a:lvl4pPr>
            <a:lvl5pPr marL="1644154" indent="0">
              <a:buNone/>
              <a:defRPr sz="1438" b="1"/>
            </a:lvl5pPr>
            <a:lvl6pPr marL="2055192" indent="0">
              <a:buNone/>
              <a:defRPr sz="1438" b="1"/>
            </a:lvl6pPr>
            <a:lvl7pPr marL="2466231" indent="0">
              <a:buNone/>
              <a:defRPr sz="1438" b="1"/>
            </a:lvl7pPr>
            <a:lvl8pPr marL="2877269" indent="0">
              <a:buNone/>
              <a:defRPr sz="1438" b="1"/>
            </a:lvl8pPr>
            <a:lvl9pPr marL="3288308" indent="0">
              <a:buNone/>
              <a:defRPr sz="143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72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18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88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877"/>
            </a:lvl1pPr>
            <a:lvl2pPr>
              <a:defRPr sz="2517"/>
            </a:lvl2pPr>
            <a:lvl3pPr>
              <a:defRPr sz="215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438"/>
            </a:lvl1pPr>
            <a:lvl2pPr marL="411038" indent="0">
              <a:buNone/>
              <a:defRPr sz="1259"/>
            </a:lvl2pPr>
            <a:lvl3pPr marL="822077" indent="0">
              <a:buNone/>
              <a:defRPr sz="1079"/>
            </a:lvl3pPr>
            <a:lvl4pPr marL="1233115" indent="0">
              <a:buNone/>
              <a:defRPr sz="899"/>
            </a:lvl4pPr>
            <a:lvl5pPr marL="1644154" indent="0">
              <a:buNone/>
              <a:defRPr sz="899"/>
            </a:lvl5pPr>
            <a:lvl6pPr marL="2055192" indent="0">
              <a:buNone/>
              <a:defRPr sz="899"/>
            </a:lvl6pPr>
            <a:lvl7pPr marL="2466231" indent="0">
              <a:buNone/>
              <a:defRPr sz="899"/>
            </a:lvl7pPr>
            <a:lvl8pPr marL="2877269" indent="0">
              <a:buNone/>
              <a:defRPr sz="899"/>
            </a:lvl8pPr>
            <a:lvl9pPr marL="3288308" indent="0">
              <a:buNone/>
              <a:defRPr sz="89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52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2877"/>
            </a:lvl1pPr>
            <a:lvl2pPr marL="411038" indent="0">
              <a:buNone/>
              <a:defRPr sz="2517"/>
            </a:lvl2pPr>
            <a:lvl3pPr marL="822077" indent="0">
              <a:buNone/>
              <a:defRPr sz="2158"/>
            </a:lvl3pPr>
            <a:lvl4pPr marL="1233115" indent="0">
              <a:buNone/>
              <a:defRPr sz="1798"/>
            </a:lvl4pPr>
            <a:lvl5pPr marL="1644154" indent="0">
              <a:buNone/>
              <a:defRPr sz="1798"/>
            </a:lvl5pPr>
            <a:lvl6pPr marL="2055192" indent="0">
              <a:buNone/>
              <a:defRPr sz="1798"/>
            </a:lvl6pPr>
            <a:lvl7pPr marL="2466231" indent="0">
              <a:buNone/>
              <a:defRPr sz="1798"/>
            </a:lvl7pPr>
            <a:lvl8pPr marL="2877269" indent="0">
              <a:buNone/>
              <a:defRPr sz="1798"/>
            </a:lvl8pPr>
            <a:lvl9pPr marL="3288308" indent="0">
              <a:buNone/>
              <a:defRPr sz="17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438"/>
            </a:lvl1pPr>
            <a:lvl2pPr marL="411038" indent="0">
              <a:buNone/>
              <a:defRPr sz="1259"/>
            </a:lvl2pPr>
            <a:lvl3pPr marL="822077" indent="0">
              <a:buNone/>
              <a:defRPr sz="1079"/>
            </a:lvl3pPr>
            <a:lvl4pPr marL="1233115" indent="0">
              <a:buNone/>
              <a:defRPr sz="899"/>
            </a:lvl4pPr>
            <a:lvl5pPr marL="1644154" indent="0">
              <a:buNone/>
              <a:defRPr sz="899"/>
            </a:lvl5pPr>
            <a:lvl6pPr marL="2055192" indent="0">
              <a:buNone/>
              <a:defRPr sz="899"/>
            </a:lvl6pPr>
            <a:lvl7pPr marL="2466231" indent="0">
              <a:buNone/>
              <a:defRPr sz="899"/>
            </a:lvl7pPr>
            <a:lvl8pPr marL="2877269" indent="0">
              <a:buNone/>
              <a:defRPr sz="899"/>
            </a:lvl8pPr>
            <a:lvl9pPr marL="3288308" indent="0">
              <a:buNone/>
              <a:defRPr sz="89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65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85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2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126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  <p:txStyles>
    <p:titleStyle>
      <a:lvl1pPr algn="l" defTabSz="822077" rtl="0" eaLnBrk="1" latinLnBrk="0" hangingPunct="1">
        <a:lnSpc>
          <a:spcPct val="90000"/>
        </a:lnSpc>
        <a:spcBef>
          <a:spcPct val="0"/>
        </a:spcBef>
        <a:buNone/>
        <a:defRPr sz="39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519" indent="-205519" algn="l" defTabSz="822077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2517" kern="1200">
          <a:solidFill>
            <a:schemeClr val="tx1"/>
          </a:solidFill>
          <a:latin typeface="+mn-lt"/>
          <a:ea typeface="+mn-ea"/>
          <a:cs typeface="+mn-cs"/>
        </a:defRPr>
      </a:lvl1pPr>
      <a:lvl2pPr marL="616558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2158" kern="1200">
          <a:solidFill>
            <a:schemeClr val="tx1"/>
          </a:solidFill>
          <a:latin typeface="+mn-lt"/>
          <a:ea typeface="+mn-ea"/>
          <a:cs typeface="+mn-cs"/>
        </a:defRPr>
      </a:lvl2pPr>
      <a:lvl3pPr marL="1027596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438635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4pPr>
      <a:lvl5pPr marL="1849673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5pPr>
      <a:lvl6pPr marL="2260712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6pPr>
      <a:lvl7pPr marL="2671750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7pPr>
      <a:lvl8pPr marL="3082788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8pPr>
      <a:lvl9pPr marL="3493827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1pPr>
      <a:lvl2pPr marL="411038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2pPr>
      <a:lvl3pPr marL="822077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3pPr>
      <a:lvl4pPr marL="1233115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4pPr>
      <a:lvl5pPr marL="1644154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5pPr>
      <a:lvl6pPr marL="2055192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6pPr>
      <a:lvl7pPr marL="2466231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7pPr>
      <a:lvl8pPr marL="2877269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8pPr>
      <a:lvl9pPr marL="3288308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gi.com/tech/st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64B2-65A5-46BB-B874-C4E0E3A52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626" y="3081167"/>
            <a:ext cx="10906538" cy="1209740"/>
          </a:xfrm>
        </p:spPr>
        <p:txBody>
          <a:bodyPr>
            <a:noAutofit/>
          </a:bodyPr>
          <a:lstStyle/>
          <a:p>
            <a:r>
              <a:rPr lang="en-GB" sz="5400" dirty="0"/>
              <a:t>Introduction to Programming </a:t>
            </a:r>
            <a:br>
              <a:rPr lang="en-GB" sz="5400" dirty="0"/>
            </a:br>
            <a:r>
              <a:rPr lang="en-GB" sz="5400" dirty="0"/>
              <a:t>(CSE-141)</a:t>
            </a:r>
            <a:br>
              <a:rPr lang="en-GB" sz="5400" dirty="0"/>
            </a:b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F4DCD-1FDE-41A8-AEF2-CB148BA13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373" y="4128556"/>
            <a:ext cx="6831673" cy="774747"/>
          </a:xfrm>
        </p:spPr>
        <p:txBody>
          <a:bodyPr>
            <a:normAutofit/>
          </a:bodyPr>
          <a:lstStyle/>
          <a:p>
            <a:r>
              <a:rPr lang="en-GB" sz="3600" dirty="0"/>
              <a:t>Vectors</a:t>
            </a:r>
          </a:p>
        </p:txBody>
      </p:sp>
    </p:spTree>
    <p:extLst>
      <p:ext uri="{BB962C8B-B14F-4D97-AF65-F5344CB8AC3E}">
        <p14:creationId xmlns:p14="http://schemas.microsoft.com/office/powerpoint/2010/main" val="49650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9109132-4AAC-A6AD-2CF5-7D539C539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4114800"/>
            <a:ext cx="8153400" cy="1295400"/>
          </a:xfrm>
          <a:noFill/>
        </p:spPr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PK" sz="2600" dirty="0">
                <a:ea typeface="ＭＳ Ｐゴシック" panose="020B0600070205080204" pitchFamily="34" charset="-128"/>
              </a:rPr>
              <a:t>	</a:t>
            </a:r>
            <a:r>
              <a:rPr lang="en-US" altLang="en-PK" sz="26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VLA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PK" sz="2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	Vectors</a:t>
            </a: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E0D652EE-3E23-8D66-E11C-C54EEEA6C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4600" y="6324600"/>
            <a:ext cx="381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rgbClr val="3366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50000"/>
              </a:spcBef>
            </a:pPr>
            <a:fld id="{2D97BE7D-CA15-49BF-BC12-EFE776B5CB73}" type="slidenum">
              <a:rPr lang="en-US" altLang="en-PK" sz="1200" i="0">
                <a:solidFill>
                  <a:schemeClr val="tx1"/>
                </a:solidFill>
                <a:latin typeface="Tahoma" panose="020B0604030504040204" pitchFamily="34" charset="0"/>
              </a:rPr>
              <a:pPr algn="l">
                <a:spcBef>
                  <a:spcPct val="50000"/>
                </a:spcBef>
              </a:pPr>
              <a:t>2</a:t>
            </a:fld>
            <a:endParaRPr lang="en-US" altLang="en-PK" sz="1200" i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63C376B8-7F3B-7E34-C464-A2D0BE913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632" y="114300"/>
            <a:ext cx="7315200" cy="1143000"/>
          </a:xfrm>
          <a:noFill/>
        </p:spPr>
        <p:txBody>
          <a:bodyPr/>
          <a:lstStyle/>
          <a:p>
            <a:pPr eaLnBrk="1" hangingPunct="1"/>
            <a:r>
              <a:rPr lang="en-US" altLang="en-PK" dirty="0">
                <a:solidFill>
                  <a:schemeClr val="bg1"/>
                </a:solidFill>
                <a:ea typeface="ＭＳ Ｐゴシック" panose="020B0600070205080204" pitchFamily="34" charset="-128"/>
              </a:rPr>
              <a:t>Sequential Containers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B4EB2248-199C-FD5A-0623-487487DB6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057400"/>
            <a:ext cx="8153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60000"/>
              </a:spcBef>
              <a:buClr>
                <a:schemeClr val="tx1"/>
              </a:buClr>
              <a:tabLst>
                <a:tab pos="346075" algn="l"/>
              </a:tabLst>
              <a:defRPr/>
            </a:pPr>
            <a:r>
              <a:rPr kumimoji="1" lang="en-US" sz="2800" dirty="0">
                <a:latin typeface="Tahoma" pitchFamily="-107" charset="0"/>
                <a:ea typeface="ＭＳ Ｐゴシック" pitchFamily="-107" charset="-128"/>
              </a:rPr>
              <a:t>C++ provides several in-memory containers for storing and processing sequences of values of the same type.  The candidates here are:</a:t>
            </a:r>
          </a:p>
          <a:p>
            <a:pPr>
              <a:spcBef>
                <a:spcPct val="50000"/>
              </a:spcBef>
              <a:buClr>
                <a:schemeClr val="tx1"/>
              </a:buClr>
              <a:tabLst>
                <a:tab pos="346075" algn="l"/>
              </a:tabLst>
              <a:defRPr/>
            </a:pPr>
            <a:r>
              <a:rPr kumimoji="1" lang="en-US" sz="2800" dirty="0">
                <a:solidFill>
                  <a:srgbClr val="000090"/>
                </a:solidFill>
                <a:latin typeface="Tahoma" pitchFamily="-107" charset="0"/>
                <a:ea typeface="ＭＳ Ｐゴシック" pitchFamily="-107" charset="-128"/>
              </a:rPr>
              <a:t>	</a:t>
            </a:r>
            <a:r>
              <a:rPr kumimoji="1" lang="en-US" sz="2600" dirty="0">
                <a:solidFill>
                  <a:srgbClr val="000090"/>
                </a:solidFill>
                <a:ea typeface="ＭＳ Ｐゴシック" pitchFamily="-107" charset="-128"/>
                <a:cs typeface="Tahoma" pitchFamily="34" charset="0"/>
              </a:rPr>
              <a:t>Arrays (from C)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58672AF3-DBE6-A231-CE11-E9FFE6F06BA4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572000"/>
            <a:ext cx="6705600" cy="838200"/>
            <a:chOff x="1344" y="2880"/>
            <a:chExt cx="4224" cy="528"/>
          </a:xfrm>
        </p:grpSpPr>
        <p:sp>
          <p:nvSpPr>
            <p:cNvPr id="7176" name="AutoShape 6">
              <a:hlinkClick r:id="rId3"/>
              <a:extLst>
                <a:ext uri="{FF2B5EF4-FFF2-40B4-BE49-F238E27FC236}">
                  <a16:creationId xmlns:a16="http://schemas.microsoft.com/office/drawing/2014/main" id="{277C9A54-ECA5-6B91-889C-B8D806F1E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880"/>
              <a:ext cx="1872" cy="528"/>
            </a:xfrm>
            <a:prstGeom prst="octagon">
              <a:avLst>
                <a:gd name="adj" fmla="val 16042"/>
              </a:avLst>
            </a:prstGeom>
            <a:solidFill>
              <a:srgbClr val="C9E7E9">
                <a:alpha val="70195"/>
              </a:srgbClr>
            </a:solidFill>
            <a:ln w="9525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i="1">
                  <a:solidFill>
                    <a:srgbClr val="3366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 i="1">
                  <a:solidFill>
                    <a:srgbClr val="3366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 i="1">
                  <a:solidFill>
                    <a:srgbClr val="3366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 i="1">
                  <a:solidFill>
                    <a:srgbClr val="3366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 i="1">
                  <a:solidFill>
                    <a:srgbClr val="3366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rgbClr val="3366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rgbClr val="3366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rgbClr val="3366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rgbClr val="3366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1" lang="en-US" altLang="en-PK" sz="1600" b="1" i="0">
                  <a:solidFill>
                    <a:srgbClr val="0000CC"/>
                  </a:solidFill>
                </a:rPr>
                <a:t>One of the containers in STL</a:t>
              </a:r>
              <a:br>
                <a:rPr kumimoji="1" lang="en-US" altLang="en-PK" sz="1600" b="1" i="0">
                  <a:solidFill>
                    <a:srgbClr val="0000CC"/>
                  </a:solidFill>
                </a:rPr>
              </a:br>
              <a:r>
                <a:rPr kumimoji="1" lang="en-US" altLang="en-PK" sz="1600" b="1" i="0">
                  <a:solidFill>
                    <a:srgbClr val="0000CC"/>
                  </a:solidFill>
                </a:rPr>
                <a:t>(Standard Template Library)</a:t>
              </a:r>
              <a:br>
                <a:rPr kumimoji="1" lang="en-US" altLang="en-PK" sz="1600" b="1" i="0">
                  <a:solidFill>
                    <a:srgbClr val="0000CC"/>
                  </a:solidFill>
                </a:rPr>
              </a:br>
              <a:r>
                <a:rPr kumimoji="1" lang="en-US" altLang="en-PK" sz="1600" b="1" i="0">
                  <a:solidFill>
                    <a:srgbClr val="0000CC"/>
                  </a:solidFill>
                </a:rPr>
                <a:t>www.sgi.com/tech/stl</a:t>
              </a:r>
            </a:p>
          </p:txBody>
        </p:sp>
        <p:sp>
          <p:nvSpPr>
            <p:cNvPr id="7177" name="Line 10">
              <a:extLst>
                <a:ext uri="{FF2B5EF4-FFF2-40B4-BE49-F238E27FC236}">
                  <a16:creationId xmlns:a16="http://schemas.microsoft.com/office/drawing/2014/main" id="{1FB4F479-A648-DB43-AEEC-0025C5F14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3120"/>
              <a:ext cx="235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PK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 bldLvl="2" autoUpdateAnimBg="0"/>
      <p:bldP spid="7173" grpId="0" build="p" bldLvl="2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9616BB8-CFBF-33B2-5212-B9399C72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Introduction to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8EAD-2B5A-FBCD-5204-608C0338B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Definition: A vector is a dynamic array provided by the Standard Template Library (STL) in C++.</a:t>
            </a:r>
          </a:p>
          <a:p>
            <a:pPr>
              <a:defRPr/>
            </a:pPr>
            <a:r>
              <a:rPr lang="en-US" dirty="0"/>
              <a:t>Key Features:</a:t>
            </a:r>
          </a:p>
          <a:p>
            <a:pPr lvl="1">
              <a:defRPr/>
            </a:pPr>
            <a:r>
              <a:rPr lang="en-US" dirty="0"/>
              <a:t>Resizable array</a:t>
            </a:r>
          </a:p>
          <a:p>
            <a:pPr lvl="1">
              <a:defRPr/>
            </a:pPr>
            <a:r>
              <a:rPr lang="en-US" dirty="0"/>
              <a:t>Automatically manages memory</a:t>
            </a:r>
          </a:p>
          <a:p>
            <a:pPr lvl="1">
              <a:defRPr/>
            </a:pPr>
            <a:r>
              <a:rPr lang="en-US" dirty="0"/>
              <a:t>Supports random access</a:t>
            </a:r>
          </a:p>
        </p:txBody>
      </p:sp>
    </p:spTree>
    <p:extLst>
      <p:ext uri="{BB962C8B-B14F-4D97-AF65-F5344CB8AC3E}">
        <p14:creationId xmlns:p14="http://schemas.microsoft.com/office/powerpoint/2010/main" val="407342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9616BB8-CFBF-33B2-5212-B9399C72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Vector Declaration and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8EAD-2B5A-FBCD-5204-608C0338B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Declaration: </a:t>
            </a:r>
          </a:p>
          <a:p>
            <a:pPr lvl="1">
              <a:defRPr/>
            </a:pPr>
            <a:r>
              <a:rPr lang="en-US" dirty="0"/>
              <a:t>std::vector&lt;int&gt; </a:t>
            </a:r>
            <a:r>
              <a:rPr lang="en-US" dirty="0" err="1"/>
              <a:t>vec</a:t>
            </a:r>
            <a:r>
              <a:rPr lang="en-US" dirty="0"/>
              <a:t>;</a:t>
            </a:r>
          </a:p>
          <a:p>
            <a:pPr>
              <a:defRPr/>
            </a:pPr>
            <a:r>
              <a:rPr lang="en-US" dirty="0"/>
              <a:t>Initialization: </a:t>
            </a:r>
          </a:p>
          <a:p>
            <a:pPr lvl="1">
              <a:defRPr/>
            </a:pPr>
            <a:r>
              <a:rPr lang="sv-SE" dirty="0"/>
              <a:t>std::vector&lt;int&gt; vec = {1, 2, 3, 4};</a:t>
            </a:r>
          </a:p>
          <a:p>
            <a:pPr>
              <a:defRPr/>
            </a:pPr>
            <a:r>
              <a:rPr lang="en-US" dirty="0"/>
              <a:t>Can also be initialized by fixed size:</a:t>
            </a:r>
          </a:p>
          <a:p>
            <a:pPr lvl="1">
              <a:defRPr/>
            </a:pPr>
            <a:r>
              <a:rPr lang="en-US" dirty="0"/>
              <a:t>std::vector&lt;int&gt; </a:t>
            </a:r>
            <a:r>
              <a:rPr lang="en-US" dirty="0" err="1"/>
              <a:t>vec</a:t>
            </a:r>
            <a:r>
              <a:rPr lang="en-US" dirty="0"/>
              <a:t>(5, 10);  // 5 elements, each initialized to 10</a:t>
            </a:r>
          </a:p>
          <a:p>
            <a:pPr lvl="1">
              <a:defRPr/>
            </a:pPr>
            <a:r>
              <a:rPr lang="en-US" dirty="0"/>
              <a:t>std::vector&lt;int&gt; </a:t>
            </a:r>
            <a:r>
              <a:rPr lang="en-US" dirty="0" err="1"/>
              <a:t>vec</a:t>
            </a:r>
            <a:r>
              <a:rPr lang="en-US" dirty="0"/>
              <a:t>(5);  // Declares a vector of size 5 with default-initialized elements</a:t>
            </a:r>
          </a:p>
          <a:p>
            <a:pPr lvl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2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D15D-41EC-5B02-88EB-91767C96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2097"/>
            <a:ext cx="10515600" cy="132556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Basic Operation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81A4E25D-357B-D488-478C-6DA016ABD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700" dirty="0"/>
              <a:t>Access:</a:t>
            </a:r>
          </a:p>
          <a:p>
            <a:pPr lvl="1"/>
            <a:r>
              <a:rPr lang="en-US" altLang="en-US" sz="2341" dirty="0" err="1"/>
              <a:t>vec</a:t>
            </a:r>
            <a:r>
              <a:rPr lang="en-US" altLang="en-US" sz="2341" dirty="0"/>
              <a:t>[</a:t>
            </a:r>
            <a:r>
              <a:rPr lang="en-US" altLang="en-US" sz="2341" dirty="0" err="1"/>
              <a:t>i</a:t>
            </a:r>
            <a:r>
              <a:rPr lang="en-US" altLang="en-US" sz="2341" dirty="0"/>
              <a:t>];   // Direct access</a:t>
            </a:r>
          </a:p>
          <a:p>
            <a:pPr lvl="1"/>
            <a:r>
              <a:rPr lang="en-US" altLang="en-US" sz="2341" dirty="0"/>
              <a:t>vec.at(</a:t>
            </a:r>
            <a:r>
              <a:rPr lang="en-US" altLang="en-US" sz="2341" dirty="0" err="1"/>
              <a:t>i</a:t>
            </a:r>
            <a:r>
              <a:rPr lang="en-US" altLang="en-US" sz="2341" dirty="0"/>
              <a:t>);  // Checked access</a:t>
            </a:r>
          </a:p>
          <a:p>
            <a:r>
              <a:rPr lang="en-US" altLang="en-US" sz="2700" dirty="0"/>
              <a:t>Add Elements:</a:t>
            </a:r>
          </a:p>
          <a:p>
            <a:pPr lvl="1"/>
            <a:r>
              <a:rPr lang="en-US" altLang="en-US" sz="2341" dirty="0" err="1"/>
              <a:t>vec.push_back</a:t>
            </a:r>
            <a:r>
              <a:rPr lang="en-US" altLang="en-US" sz="2341" dirty="0"/>
              <a:t>(6);   // Adds 6 at the end</a:t>
            </a:r>
          </a:p>
          <a:p>
            <a:r>
              <a:rPr lang="en-US" altLang="en-US" sz="2700" dirty="0"/>
              <a:t>Remove Elements</a:t>
            </a:r>
          </a:p>
          <a:p>
            <a:pPr lvl="1"/>
            <a:r>
              <a:rPr lang="en-US" altLang="en-US" sz="2341" dirty="0" err="1"/>
              <a:t>vec.pop_back</a:t>
            </a:r>
            <a:r>
              <a:rPr lang="en-US" altLang="en-US" sz="2341" dirty="0"/>
              <a:t>();   // Removes the last element</a:t>
            </a:r>
          </a:p>
          <a:p>
            <a:pPr lvl="1"/>
            <a:endParaRPr lang="en-US" altLang="en-US" sz="2341" dirty="0"/>
          </a:p>
        </p:txBody>
      </p:sp>
    </p:spTree>
    <p:extLst>
      <p:ext uri="{BB962C8B-B14F-4D97-AF65-F5344CB8AC3E}">
        <p14:creationId xmlns:p14="http://schemas.microsoft.com/office/powerpoint/2010/main" val="152688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D15D-41EC-5B02-88EB-91767C96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2097"/>
            <a:ext cx="10515600" cy="132556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Size &amp; Capacity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81A4E25D-357B-D488-478C-6DA016ABD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sz="2341" dirty="0"/>
              <a:t>Size:</a:t>
            </a:r>
          </a:p>
          <a:p>
            <a:pPr lvl="2"/>
            <a:r>
              <a:rPr lang="en-US" altLang="en-US" sz="1621" dirty="0" err="1"/>
              <a:t>vec.size</a:t>
            </a:r>
            <a:r>
              <a:rPr lang="en-US" altLang="en-US" sz="1621" dirty="0"/>
              <a:t>();  // Returns number of elements in the vector</a:t>
            </a:r>
          </a:p>
          <a:p>
            <a:pPr lvl="1"/>
            <a:r>
              <a:rPr lang="en-US" altLang="en-US" sz="1981" dirty="0"/>
              <a:t>Capacity:</a:t>
            </a:r>
          </a:p>
          <a:p>
            <a:pPr lvl="2"/>
            <a:r>
              <a:rPr lang="en-US" altLang="en-US" sz="1621" dirty="0"/>
              <a:t>capacity();  // Returns the allocated storage capacity</a:t>
            </a:r>
          </a:p>
          <a:p>
            <a:pPr lvl="1"/>
            <a:r>
              <a:rPr lang="en-US" altLang="en-US" sz="1981" dirty="0"/>
              <a:t>Resize:</a:t>
            </a:r>
          </a:p>
          <a:p>
            <a:pPr lvl="2"/>
            <a:r>
              <a:rPr lang="en-US" altLang="en-US" sz="1621" dirty="0"/>
              <a:t>resize(10);  // Resizes to hold 10 elements</a:t>
            </a:r>
          </a:p>
        </p:txBody>
      </p:sp>
    </p:spTree>
    <p:extLst>
      <p:ext uri="{BB962C8B-B14F-4D97-AF65-F5344CB8AC3E}">
        <p14:creationId xmlns:p14="http://schemas.microsoft.com/office/powerpoint/2010/main" val="164672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B98D582-FE52-562A-D482-97B48E81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751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Vector Iteration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AAB825C-7E5F-A754-3490-404A43F37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For Loop:</a:t>
            </a:r>
          </a:p>
          <a:p>
            <a:pPr marL="411039" lvl="1" indent="0">
              <a:buNone/>
            </a:pPr>
            <a:r>
              <a:rPr lang="nn-NO" altLang="en-US" dirty="0"/>
              <a:t>for (int i = 0; i &lt; vec.size(); i++) {</a:t>
            </a:r>
          </a:p>
          <a:p>
            <a:pPr marL="411039" lvl="1" indent="0">
              <a:buNone/>
            </a:pPr>
            <a:r>
              <a:rPr lang="nn-NO" altLang="en-US" dirty="0"/>
              <a:t>    std::cout &lt;&lt; vec[i] &lt;&lt; " ";</a:t>
            </a:r>
          </a:p>
          <a:p>
            <a:pPr marL="411039" lvl="1" indent="0">
              <a:buNone/>
            </a:pPr>
            <a:r>
              <a:rPr lang="nn-NO" altLang="en-US" dirty="0"/>
              <a:t>}</a:t>
            </a:r>
          </a:p>
          <a:p>
            <a:r>
              <a:rPr lang="nn-NO" altLang="en-US" dirty="0"/>
              <a:t>Using an Iterator</a:t>
            </a:r>
          </a:p>
          <a:p>
            <a:pPr marL="411039" lvl="1" indent="0">
              <a:buNone/>
            </a:pPr>
            <a:r>
              <a:rPr lang="en-US" altLang="en-US" dirty="0"/>
              <a:t>for (std::vector&lt;int&gt;::iterator it = </a:t>
            </a:r>
            <a:r>
              <a:rPr lang="en-US" altLang="en-US" dirty="0" err="1"/>
              <a:t>vec.begin</a:t>
            </a:r>
            <a:r>
              <a:rPr lang="en-US" altLang="en-US" dirty="0"/>
              <a:t>(); it != </a:t>
            </a:r>
            <a:r>
              <a:rPr lang="en-US" altLang="en-US" dirty="0" err="1"/>
              <a:t>vec.end</a:t>
            </a:r>
            <a:r>
              <a:rPr lang="en-US" altLang="en-US" dirty="0"/>
              <a:t>(); it++) {</a:t>
            </a:r>
          </a:p>
          <a:p>
            <a:pPr marL="411039" lvl="1" indent="0">
              <a:buNone/>
            </a:pPr>
            <a:r>
              <a:rPr lang="en-US" altLang="en-US" dirty="0"/>
              <a:t>    std::</a:t>
            </a:r>
            <a:r>
              <a:rPr lang="en-US" altLang="en-US" dirty="0" err="1"/>
              <a:t>cout</a:t>
            </a:r>
            <a:r>
              <a:rPr lang="en-US" altLang="en-US" dirty="0"/>
              <a:t> &lt;&lt; *it &lt;&lt; " ";</a:t>
            </a:r>
          </a:p>
          <a:p>
            <a:pPr marL="411039" lvl="1" indent="0">
              <a:buNone/>
            </a:pPr>
            <a:r>
              <a:rPr lang="en-US" altLang="en-US" dirty="0"/>
              <a:t>}</a:t>
            </a:r>
          </a:p>
          <a:p>
            <a:pPr lvl="1"/>
            <a:endParaRPr lang="nn-NO" altLang="en-US" dirty="0"/>
          </a:p>
          <a:p>
            <a:pPr lvl="1"/>
            <a:endParaRPr lang="en-US" altLang="en-US" dirty="0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026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>
            <a:extLst>
              <a:ext uri="{FF2B5EF4-FFF2-40B4-BE49-F238E27FC236}">
                <a16:creationId xmlns:a16="http://schemas.microsoft.com/office/drawing/2014/main" id="{F93617C7-C89C-94C6-E703-1FCCDCDC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K"/>
              <a:t>C++ Programming: From Problem Analysis to Program Design, Fourth Edition</a:t>
            </a:r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FD7C2380-A509-D40B-0605-1B703D07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32B45B0-5776-411E-907F-6941F3BAAB5C}" type="slidenum">
              <a:rPr lang="en-US" altLang="en-PK"/>
              <a:pPr eaLnBrk="1" hangingPunct="1"/>
              <a:t>8</a:t>
            </a:fld>
            <a:endParaRPr lang="en-US" altLang="en-PK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F91C40CB-95DF-254A-4B85-8F42D1BEF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8323" y="18254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PK" dirty="0">
                <a:solidFill>
                  <a:schemeClr val="bg1"/>
                </a:solidFill>
                <a:latin typeface="Courier New" panose="02070309020205020404" pitchFamily="49" charset="0"/>
              </a:rPr>
              <a:t>Common Function</a:t>
            </a:r>
            <a:endParaRPr lang="en-US" altLang="en-PK" dirty="0">
              <a:solidFill>
                <a:schemeClr val="bg1"/>
              </a:solidFill>
            </a:endParaRP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496060A9-B93A-4ABE-E4FE-76C7308BE0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PK" dirty="0"/>
              <a:t>Front and back:</a:t>
            </a:r>
          </a:p>
          <a:p>
            <a:pPr lvl="1"/>
            <a:r>
              <a:rPr lang="en-US" altLang="en-PK" dirty="0" err="1"/>
              <a:t>vec.front</a:t>
            </a:r>
            <a:r>
              <a:rPr lang="en-US" altLang="en-PK" dirty="0"/>
              <a:t>();  // First element</a:t>
            </a:r>
          </a:p>
          <a:p>
            <a:pPr lvl="1"/>
            <a:r>
              <a:rPr lang="en-US" altLang="en-PK" dirty="0" err="1"/>
              <a:t>vec.back</a:t>
            </a:r>
            <a:r>
              <a:rPr lang="en-US" altLang="en-PK" dirty="0"/>
              <a:t>();   // Last element</a:t>
            </a:r>
          </a:p>
          <a:p>
            <a:r>
              <a:rPr lang="en-US" altLang="en-PK" dirty="0"/>
              <a:t>Empty Check</a:t>
            </a:r>
          </a:p>
          <a:p>
            <a:pPr lvl="1"/>
            <a:r>
              <a:rPr lang="en-US" altLang="en-PK" dirty="0" err="1"/>
              <a:t>vec.empty</a:t>
            </a:r>
            <a:r>
              <a:rPr lang="en-US" altLang="en-PK" dirty="0"/>
              <a:t>();  // Returns true if the vector is empty</a:t>
            </a:r>
          </a:p>
          <a:p>
            <a:pPr lvl="1"/>
            <a:endParaRPr lang="en-US" altLang="en-PK" dirty="0"/>
          </a:p>
          <a:p>
            <a:pPr lvl="1"/>
            <a:endParaRPr lang="en-US" altLang="en-PK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BD03-BF2F-0205-EA2D-BFC6EA16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90" y="94539"/>
            <a:ext cx="9668069" cy="97848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Vector vs Array</a:t>
            </a:r>
            <a:endParaRPr lang="en-PK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0EDC9B-111D-4A13-0A44-888BDAA285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758894"/>
              </p:ext>
            </p:extLst>
          </p:nvPr>
        </p:nvGraphicFramePr>
        <p:xfrm>
          <a:off x="744538" y="2547257"/>
          <a:ext cx="10414875" cy="185066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471625">
                  <a:extLst>
                    <a:ext uri="{9D8B030D-6E8A-4147-A177-3AD203B41FA5}">
                      <a16:colId xmlns:a16="http://schemas.microsoft.com/office/drawing/2014/main" val="1482044268"/>
                    </a:ext>
                  </a:extLst>
                </a:gridCol>
                <a:gridCol w="3471625">
                  <a:extLst>
                    <a:ext uri="{9D8B030D-6E8A-4147-A177-3AD203B41FA5}">
                      <a16:colId xmlns:a16="http://schemas.microsoft.com/office/drawing/2014/main" val="1673484917"/>
                    </a:ext>
                  </a:extLst>
                </a:gridCol>
                <a:gridCol w="3471625">
                  <a:extLst>
                    <a:ext uri="{9D8B030D-6E8A-4147-A177-3AD203B41FA5}">
                      <a16:colId xmlns:a16="http://schemas.microsoft.com/office/drawing/2014/main" val="1999747408"/>
                    </a:ext>
                  </a:extLst>
                </a:gridCol>
              </a:tblGrid>
              <a:tr h="462665">
                <a:tc>
                  <a:txBody>
                    <a:bodyPr/>
                    <a:lstStyle/>
                    <a:p>
                      <a:r>
                        <a:rPr lang="en-US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240028"/>
                  </a:ext>
                </a:extLst>
              </a:tr>
              <a:tr h="462665">
                <a:tc>
                  <a:txBody>
                    <a:bodyPr/>
                    <a:lstStyle/>
                    <a:p>
                      <a:r>
                        <a:rPr lang="en-US" b="1"/>
                        <a:t>Size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Dynamic (can change)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Fixed at declaration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478310"/>
                  </a:ext>
                </a:extLst>
              </a:tr>
              <a:tr h="462665">
                <a:tc>
                  <a:txBody>
                    <a:bodyPr/>
                    <a:lstStyle/>
                    <a:p>
                      <a:r>
                        <a:rPr lang="en-US" b="1"/>
                        <a:t>Memory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Managed automatically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Manual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091355"/>
                  </a:ext>
                </a:extLst>
              </a:tr>
              <a:tr h="462665">
                <a:tc>
                  <a:txBody>
                    <a:bodyPr/>
                    <a:lstStyle/>
                    <a:p>
                      <a:r>
                        <a:rPr lang="en-US" b="1"/>
                        <a:t>Safety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Bounds checked (with at())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bounds checking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955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21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3B245EEC-A678-9065-35D9-C953A01B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62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Vector 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43CD3-ACFC-F3AF-9EA2-F78CF9BC0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Vector Growth: When capacity is reached, vector reallocates memory (usually doubles its size).</a:t>
            </a:r>
          </a:p>
          <a:p>
            <a:pPr>
              <a:defRPr/>
            </a:pPr>
            <a:r>
              <a:rPr lang="en-US" dirty="0"/>
              <a:t>Avoiding Frequent Resizing: Use reserve() to pre-allocate </a:t>
            </a:r>
          </a:p>
          <a:p>
            <a:pPr lvl="1">
              <a:defRPr/>
            </a:pPr>
            <a:r>
              <a:rPr lang="en-US" dirty="0" err="1"/>
              <a:t>vec.reserve</a:t>
            </a:r>
            <a:r>
              <a:rPr lang="en-US" dirty="0"/>
              <a:t>(100);  // Reserves space for 100 elements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EB42C1B5-1E7C-6F5F-0201-41ADB955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24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Advance Option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2A9EF02-3EBB-ED3E-E7B5-6D801075C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Insert:	</a:t>
            </a:r>
          </a:p>
          <a:p>
            <a:pPr lvl="1"/>
            <a:r>
              <a:rPr lang="en-US" altLang="en-US" dirty="0"/>
              <a:t>insert(</a:t>
            </a:r>
            <a:r>
              <a:rPr lang="en-US" altLang="en-US" dirty="0" err="1"/>
              <a:t>vec.begin</a:t>
            </a:r>
            <a:r>
              <a:rPr lang="en-US" altLang="en-US" dirty="0"/>
              <a:t>() + 2, 8);  // Insert 8 at index </a:t>
            </a:r>
          </a:p>
          <a:p>
            <a:r>
              <a:rPr lang="en-US" altLang="en-US" dirty="0"/>
              <a:t>Erase</a:t>
            </a:r>
          </a:p>
          <a:p>
            <a:pPr lvl="1"/>
            <a:r>
              <a:rPr lang="en-US" altLang="en-US" dirty="0" err="1"/>
              <a:t>vec.erase</a:t>
            </a:r>
            <a:r>
              <a:rPr lang="en-US" altLang="en-US" dirty="0"/>
              <a:t>(</a:t>
            </a:r>
            <a:r>
              <a:rPr lang="en-US" altLang="en-US" dirty="0" err="1"/>
              <a:t>vec.begin</a:t>
            </a:r>
            <a:r>
              <a:rPr lang="en-US" altLang="en-US" dirty="0"/>
              <a:t>() + 1);  // Erase the second element</a:t>
            </a:r>
          </a:p>
          <a:p>
            <a:r>
              <a:rPr lang="en-US" altLang="en-US" dirty="0"/>
              <a:t>Clear:</a:t>
            </a:r>
          </a:p>
          <a:p>
            <a:pPr lvl="1"/>
            <a:r>
              <a:rPr lang="en-US" altLang="en-US" dirty="0" err="1"/>
              <a:t>vec.clear</a:t>
            </a:r>
            <a:r>
              <a:rPr lang="en-US" altLang="en-US" dirty="0"/>
              <a:t>();  // Removes all elements from the vector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CB023-1921-5FE6-E677-110C59AA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Discussing codes in </a:t>
            </a:r>
            <a:r>
              <a:rPr lang="en-US" dirty="0" err="1"/>
              <a:t>vscode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3107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CD6B-59EC-F531-CC8B-DA70637AC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Sorting Vector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0FC00-0A25-ABE8-17F8-58119D252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#include &lt;vector&gt;</a:t>
            </a:r>
          </a:p>
          <a:p>
            <a:pPr marL="0" indent="0">
              <a:buNone/>
            </a:pPr>
            <a:r>
              <a:rPr lang="en-US" dirty="0"/>
              <a:t>#include &lt;algorithm&gt;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std::vector&lt;int&gt; numbers = {25, 10, 30, 5, 15};</a:t>
            </a:r>
          </a:p>
          <a:p>
            <a:pPr marL="0" indent="0">
              <a:buNone/>
            </a:pPr>
            <a:r>
              <a:rPr lang="en-US" dirty="0"/>
              <a:t>    std::sort(</a:t>
            </a:r>
            <a:r>
              <a:rPr lang="en-US" dirty="0" err="1"/>
              <a:t>numbers.begin</a:t>
            </a:r>
            <a:r>
              <a:rPr lang="en-US" dirty="0"/>
              <a:t>(), </a:t>
            </a:r>
            <a:r>
              <a:rPr lang="en-US" dirty="0" err="1"/>
              <a:t>numbers.end</a:t>
            </a:r>
            <a:r>
              <a:rPr lang="en-US" dirty="0"/>
              <a:t>()); // ascending order sorting</a:t>
            </a:r>
          </a:p>
          <a:p>
            <a:pPr marL="0" indent="0">
              <a:buNone/>
            </a:pPr>
            <a:r>
              <a:rPr lang="en-US" dirty="0"/>
              <a:t>     std::sort(</a:t>
            </a:r>
            <a:r>
              <a:rPr lang="en-US" dirty="0" err="1"/>
              <a:t>numbers.begin</a:t>
            </a:r>
            <a:r>
              <a:rPr lang="en-US" dirty="0"/>
              <a:t>(), </a:t>
            </a:r>
            <a:r>
              <a:rPr lang="en-US" dirty="0" err="1"/>
              <a:t>numbers.end</a:t>
            </a:r>
            <a:r>
              <a:rPr lang="en-US" dirty="0"/>
              <a:t>(), std::greater&lt;int&gt;());  //descending order sorting</a:t>
            </a:r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"Size: " &lt;&lt; </a:t>
            </a:r>
            <a:r>
              <a:rPr lang="en-US" dirty="0" err="1"/>
              <a:t>numbers.size</a:t>
            </a:r>
            <a:r>
              <a:rPr lang="en-US" dirty="0"/>
              <a:t>()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numbers.size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 std::</a:t>
            </a:r>
            <a:r>
              <a:rPr lang="en-US" dirty="0" err="1"/>
              <a:t>cout</a:t>
            </a:r>
            <a:r>
              <a:rPr lang="en-US" dirty="0"/>
              <a:t> &lt;&lt; numbers[</a:t>
            </a:r>
            <a:r>
              <a:rPr lang="en-US" dirty="0" err="1"/>
              <a:t>i</a:t>
            </a:r>
            <a:r>
              <a:rPr lang="en-US" dirty="0"/>
              <a:t>] &lt;&lt; " 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8891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CD6B-59EC-F531-CC8B-DA70637AC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1825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Searching Vector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0FC00-0A25-ABE8-17F8-58119D252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1343816"/>
            <a:ext cx="5991808" cy="54959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/>
              <a:t>#include &lt;iostream&gt;</a:t>
            </a:r>
          </a:p>
          <a:p>
            <a:pPr marL="0" indent="0">
              <a:buNone/>
            </a:pPr>
            <a:r>
              <a:rPr lang="en-US" sz="1600" dirty="0"/>
              <a:t>#include &lt;vector&gt;</a:t>
            </a:r>
          </a:p>
          <a:p>
            <a:pPr marL="0" indent="0">
              <a:buNone/>
            </a:pPr>
            <a:r>
              <a:rPr lang="en-US" sz="1600" dirty="0"/>
              <a:t>#include &lt;algorithm&gt;</a:t>
            </a:r>
          </a:p>
          <a:p>
            <a:pPr marL="0" indent="0">
              <a:buNone/>
            </a:pPr>
            <a:r>
              <a:rPr lang="en-US" sz="1600" dirty="0"/>
              <a:t>int main() {</a:t>
            </a:r>
          </a:p>
          <a:p>
            <a:pPr marL="0" indent="0">
              <a:buNone/>
            </a:pPr>
            <a:r>
              <a:rPr lang="en-US" sz="1600" dirty="0"/>
              <a:t>    std::vector&lt;int&gt; numbers = {5, 10, 15, 20, 25};</a:t>
            </a:r>
          </a:p>
          <a:p>
            <a:pPr marL="0" indent="0">
              <a:buNone/>
            </a:pPr>
            <a:r>
              <a:rPr lang="en-US" sz="1600" dirty="0"/>
              <a:t>    int target = 15;</a:t>
            </a:r>
          </a:p>
          <a:p>
            <a:pPr marL="0" indent="0">
              <a:buNone/>
            </a:pPr>
            <a:r>
              <a:rPr lang="en-US" sz="1600" dirty="0"/>
              <a:t>bool found = false;</a:t>
            </a:r>
          </a:p>
          <a:p>
            <a:pPr marL="0" indent="0">
              <a:buNone/>
            </a:pPr>
            <a:r>
              <a:rPr lang="en-US" sz="1600" dirty="0"/>
              <a:t>    for (int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 </a:t>
            </a:r>
            <a:r>
              <a:rPr lang="en-US" sz="1600" dirty="0" err="1"/>
              <a:t>numbers.size</a:t>
            </a:r>
            <a:r>
              <a:rPr lang="en-US" sz="1600" dirty="0"/>
              <a:t>(); </a:t>
            </a:r>
            <a:r>
              <a:rPr lang="en-US" sz="1600" dirty="0" err="1"/>
              <a:t>i</a:t>
            </a:r>
            <a:r>
              <a:rPr lang="en-US" sz="1600" dirty="0"/>
              <a:t>++) {</a:t>
            </a:r>
          </a:p>
          <a:p>
            <a:pPr marL="0" indent="0">
              <a:buNone/>
            </a:pPr>
            <a:r>
              <a:rPr lang="en-US" sz="1600" dirty="0"/>
              <a:t>        if (numbers[</a:t>
            </a:r>
            <a:r>
              <a:rPr lang="en-US" sz="1600" dirty="0" err="1"/>
              <a:t>i</a:t>
            </a:r>
            <a:r>
              <a:rPr lang="en-US" sz="1600" dirty="0"/>
              <a:t>] == target) {</a:t>
            </a:r>
          </a:p>
          <a:p>
            <a:pPr marL="0" indent="0">
              <a:buNone/>
            </a:pPr>
            <a:r>
              <a:rPr lang="en-US" sz="1600" dirty="0"/>
              <a:t>            std::</a:t>
            </a:r>
            <a:r>
              <a:rPr lang="en-US" sz="1600" dirty="0" err="1"/>
              <a:t>cout</a:t>
            </a:r>
            <a:r>
              <a:rPr lang="en-US" sz="1600" dirty="0"/>
              <a:t> &lt;&lt; "Element " &lt;&lt; target &lt;&lt; " found at index: " &lt;&lt; </a:t>
            </a:r>
            <a:r>
              <a:rPr lang="en-US" sz="1600" dirty="0" err="1"/>
              <a:t>i</a:t>
            </a:r>
            <a:r>
              <a:rPr lang="en-US" sz="1600" dirty="0"/>
              <a:t> &lt;&lt; std::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            found = true;</a:t>
            </a:r>
          </a:p>
          <a:p>
            <a:pPr marL="0" indent="0">
              <a:buNone/>
            </a:pPr>
            <a:r>
              <a:rPr lang="en-US" sz="1600" dirty="0"/>
              <a:t>            break;</a:t>
            </a:r>
          </a:p>
          <a:p>
            <a:pPr marL="0" indent="0">
              <a:buNone/>
            </a:pPr>
            <a:r>
              <a:rPr lang="en-US" sz="1600" dirty="0"/>
              <a:t>        } }</a:t>
            </a:r>
          </a:p>
          <a:p>
            <a:pPr marL="0" indent="0">
              <a:buNone/>
            </a:pPr>
            <a:r>
              <a:rPr lang="en-US" sz="1600" dirty="0"/>
              <a:t>    if (!found) {</a:t>
            </a:r>
          </a:p>
          <a:p>
            <a:pPr marL="0" indent="0">
              <a:buNone/>
            </a:pPr>
            <a:r>
              <a:rPr lang="en-US" sz="1600" dirty="0"/>
              <a:t>        std::</a:t>
            </a:r>
            <a:r>
              <a:rPr lang="en-US" sz="1600" dirty="0" err="1"/>
              <a:t>cout</a:t>
            </a:r>
            <a:r>
              <a:rPr lang="en-US" sz="1600" dirty="0"/>
              <a:t> &lt;&lt; "Element " &lt;&lt; target &lt;&lt; " not found." &lt;&lt; std::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    return 0;}</a:t>
            </a:r>
          </a:p>
          <a:p>
            <a:pPr marL="0" indent="0">
              <a:buNone/>
            </a:pPr>
            <a:endParaRPr lang="en-PK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CBF1D-9FEC-29FB-75DA-0B9DE86A9D2A}"/>
              </a:ext>
            </a:extLst>
          </p:cNvPr>
          <p:cNvSpPr txBox="1"/>
          <p:nvPr/>
        </p:nvSpPr>
        <p:spPr>
          <a:xfrm>
            <a:off x="6223518" y="1707502"/>
            <a:ext cx="504786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Or you can use iterator</a:t>
            </a:r>
          </a:p>
          <a:p>
            <a:pPr marL="0" indent="0">
              <a:buNone/>
            </a:pPr>
            <a:r>
              <a:rPr lang="en-US" sz="1500" dirty="0"/>
              <a:t> auto it = std::find(</a:t>
            </a:r>
            <a:r>
              <a:rPr lang="en-US" sz="1500" dirty="0" err="1"/>
              <a:t>numbers.begin</a:t>
            </a:r>
            <a:r>
              <a:rPr lang="en-US" sz="1500" dirty="0"/>
              <a:t>(), </a:t>
            </a:r>
            <a:r>
              <a:rPr lang="en-US" sz="1500" dirty="0" err="1"/>
              <a:t>numbers.end</a:t>
            </a:r>
            <a:r>
              <a:rPr lang="en-US" sz="1500" dirty="0"/>
              <a:t>(), target);</a:t>
            </a:r>
          </a:p>
          <a:p>
            <a:pPr marL="0" indent="0">
              <a:buNone/>
            </a:pPr>
            <a:r>
              <a:rPr lang="en-US" sz="1500" dirty="0"/>
              <a:t>    if (it != </a:t>
            </a:r>
            <a:r>
              <a:rPr lang="en-US" sz="1500" dirty="0" err="1"/>
              <a:t>numbers.end</a:t>
            </a:r>
            <a:r>
              <a:rPr lang="en-US" sz="1500" dirty="0"/>
              <a:t>()) {</a:t>
            </a:r>
          </a:p>
          <a:p>
            <a:pPr marL="0" indent="0">
              <a:buNone/>
            </a:pPr>
            <a:r>
              <a:rPr lang="en-US" sz="1500" dirty="0"/>
              <a:t>        std::</a:t>
            </a:r>
            <a:r>
              <a:rPr lang="en-US" sz="1500" dirty="0" err="1"/>
              <a:t>cout</a:t>
            </a:r>
            <a:r>
              <a:rPr lang="en-US" sz="1500" dirty="0"/>
              <a:t> &lt;&lt; "Element " &lt;&lt; target &lt;&lt; " found at index: " &lt;&lt; std::distance(</a:t>
            </a:r>
            <a:r>
              <a:rPr lang="en-US" sz="1500" dirty="0" err="1"/>
              <a:t>numbers.begin</a:t>
            </a:r>
            <a:r>
              <a:rPr lang="en-US" sz="1500" dirty="0"/>
              <a:t>(), it) &lt;&lt; std::</a:t>
            </a:r>
            <a:r>
              <a:rPr lang="en-US" sz="1500" dirty="0" err="1"/>
              <a:t>endl</a:t>
            </a:r>
            <a:r>
              <a:rPr lang="en-US" sz="1500" dirty="0"/>
              <a:t>;</a:t>
            </a:r>
          </a:p>
          <a:p>
            <a:pPr marL="0" indent="0">
              <a:buNone/>
            </a:pPr>
            <a:r>
              <a:rPr lang="en-US" sz="1500" dirty="0"/>
              <a:t>    } else {</a:t>
            </a:r>
          </a:p>
          <a:p>
            <a:pPr marL="0" indent="0">
              <a:buNone/>
            </a:pPr>
            <a:r>
              <a:rPr lang="en-US" sz="1500" dirty="0"/>
              <a:t>        std::</a:t>
            </a:r>
            <a:r>
              <a:rPr lang="en-US" sz="1500" dirty="0" err="1"/>
              <a:t>cout</a:t>
            </a:r>
            <a:r>
              <a:rPr lang="en-US" sz="1500" dirty="0"/>
              <a:t> &lt;&lt; "Element " &lt;&lt; target &lt;&lt; " not found." &lt;&lt; std::</a:t>
            </a:r>
            <a:r>
              <a:rPr lang="en-US" sz="1500" dirty="0" err="1"/>
              <a:t>endl</a:t>
            </a:r>
            <a:r>
              <a:rPr lang="en-US" sz="1500" dirty="0"/>
              <a:t>;</a:t>
            </a:r>
          </a:p>
          <a:p>
            <a:pPr marL="0" indent="0">
              <a:buNone/>
            </a:pPr>
            <a:r>
              <a:rPr lang="en-US" sz="1500" dirty="0"/>
              <a:t>    }</a:t>
            </a:r>
            <a:endParaRPr lang="en-PK" sz="1500" dirty="0"/>
          </a:p>
        </p:txBody>
      </p:sp>
    </p:spTree>
    <p:extLst>
      <p:ext uri="{BB962C8B-B14F-4D97-AF65-F5344CB8AC3E}">
        <p14:creationId xmlns:p14="http://schemas.microsoft.com/office/powerpoint/2010/main" val="285660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3441-19B7-1379-8FB9-59EFCB4D7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22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Common Mistakes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D79F5-D797-BC3D-35BB-123C21931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Forgetting to use .size() for the loop condition</a:t>
            </a:r>
          </a:p>
          <a:p>
            <a:pPr marL="411039" lvl="1" indent="0">
              <a:buNone/>
            </a:pPr>
            <a:r>
              <a:rPr lang="en-US" dirty="0"/>
              <a:t>std::vector&lt;int&gt; </a:t>
            </a:r>
            <a:r>
              <a:rPr lang="en-US" dirty="0" err="1"/>
              <a:t>vec</a:t>
            </a:r>
            <a:r>
              <a:rPr lang="en-US" dirty="0"/>
              <a:t> = {10, 20, 30, 40};</a:t>
            </a:r>
          </a:p>
          <a:p>
            <a:pPr marL="411039" lvl="1" indent="0">
              <a:buNone/>
            </a:pPr>
            <a:endParaRPr lang="en-US" dirty="0"/>
          </a:p>
          <a:p>
            <a:pPr marL="411039" lvl="1" indent="0">
              <a:buNone/>
            </a:pPr>
            <a:r>
              <a:rPr lang="en-US" dirty="0"/>
              <a:t>// Mistake: Using a hard-coded loop bound</a:t>
            </a:r>
          </a:p>
          <a:p>
            <a:pPr marL="411039" lvl="1" indent="0">
              <a:buNone/>
            </a:pPr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10;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411039" lvl="1" indent="0">
              <a:buNone/>
            </a:pPr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vec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&lt;&lt; " ";  // Potentially accessing out-of-bounds elements</a:t>
            </a:r>
          </a:p>
          <a:p>
            <a:pPr marL="411039" lvl="1" indent="0">
              <a:buNone/>
            </a:pPr>
            <a:r>
              <a:rPr lang="en-US" dirty="0"/>
              <a:t>}</a:t>
            </a:r>
          </a:p>
          <a:p>
            <a:r>
              <a:rPr lang="en-US" b="1" dirty="0"/>
              <a:t>Using invalid iterators after modifying the vector</a:t>
            </a:r>
          </a:p>
          <a:p>
            <a:pPr marL="411039" lvl="1" indent="0">
              <a:buNone/>
            </a:pPr>
            <a:r>
              <a:rPr lang="en-US" dirty="0"/>
              <a:t>std::vector&lt;int&gt; </a:t>
            </a:r>
            <a:r>
              <a:rPr lang="en-US" dirty="0" err="1"/>
              <a:t>vec</a:t>
            </a:r>
            <a:r>
              <a:rPr lang="en-US" dirty="0"/>
              <a:t> = {10, 20, 30, 40};</a:t>
            </a:r>
          </a:p>
          <a:p>
            <a:pPr marL="411039" lvl="1" indent="0">
              <a:buNone/>
            </a:pPr>
            <a:r>
              <a:rPr lang="en-US" dirty="0"/>
              <a:t>std::vector&lt;int&gt;::iterator it = </a:t>
            </a:r>
            <a:r>
              <a:rPr lang="en-US" dirty="0" err="1"/>
              <a:t>vec.begin</a:t>
            </a:r>
            <a:r>
              <a:rPr lang="en-US" dirty="0"/>
              <a:t>();</a:t>
            </a:r>
          </a:p>
          <a:p>
            <a:pPr marL="411039" lvl="1" indent="0">
              <a:buNone/>
            </a:pPr>
            <a:r>
              <a:rPr lang="en-US" dirty="0" err="1"/>
              <a:t>vec.push_back</a:t>
            </a:r>
            <a:r>
              <a:rPr lang="en-US" dirty="0"/>
              <a:t>(50);  // Modifies the vector</a:t>
            </a:r>
          </a:p>
          <a:p>
            <a:pPr marL="411039" lvl="1" indent="0">
              <a:buNone/>
            </a:pPr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 &lt;&lt; *it &lt;&lt; std::</a:t>
            </a:r>
            <a:r>
              <a:rPr lang="en-US" dirty="0" err="1"/>
              <a:t>endl</a:t>
            </a:r>
            <a:r>
              <a:rPr lang="en-US" dirty="0"/>
              <a:t>;  // Mistake: using the old iterator (invalidated)</a:t>
            </a:r>
          </a:p>
          <a:p>
            <a:pPr marL="411039" lvl="1" indent="0">
              <a:buNone/>
            </a:pPr>
            <a:endParaRPr lang="en-US" dirty="0"/>
          </a:p>
          <a:p>
            <a:pPr marL="411039" lvl="1" indent="0">
              <a:buNone/>
            </a:pPr>
            <a:r>
              <a:rPr lang="en-US" dirty="0"/>
              <a:t>Correct Approach:</a:t>
            </a:r>
          </a:p>
          <a:p>
            <a:pPr marL="411039" lvl="1" indent="0">
              <a:buNone/>
            </a:pPr>
            <a:r>
              <a:rPr lang="en-US" dirty="0"/>
              <a:t>std::vector&lt;int&gt;::iterator it = </a:t>
            </a:r>
            <a:r>
              <a:rPr lang="en-US" dirty="0" err="1"/>
              <a:t>vec.begin</a:t>
            </a:r>
            <a:r>
              <a:rPr lang="en-US" dirty="0"/>
              <a:t>();</a:t>
            </a:r>
          </a:p>
          <a:p>
            <a:pPr marL="411039" lvl="1" indent="0">
              <a:buNone/>
            </a:pPr>
            <a:r>
              <a:rPr lang="en-US" dirty="0" err="1"/>
              <a:t>vec.push_back</a:t>
            </a:r>
            <a:r>
              <a:rPr lang="en-US" dirty="0"/>
              <a:t>(50);  // Modifies the vector</a:t>
            </a:r>
          </a:p>
          <a:p>
            <a:pPr marL="411039" lvl="1" indent="0">
              <a:buNone/>
            </a:pPr>
            <a:endParaRPr lang="en-US" dirty="0"/>
          </a:p>
          <a:p>
            <a:pPr marL="411039" lvl="1" indent="0">
              <a:buNone/>
            </a:pPr>
            <a:r>
              <a:rPr lang="en-US" dirty="0"/>
              <a:t>it = </a:t>
            </a:r>
            <a:r>
              <a:rPr lang="en-US" dirty="0" err="1"/>
              <a:t>vec.begin</a:t>
            </a:r>
            <a:r>
              <a:rPr lang="en-US" dirty="0"/>
              <a:t>();  // Reassign the iterator after modification</a:t>
            </a:r>
          </a:p>
          <a:p>
            <a:pPr marL="411039" lvl="1" indent="0">
              <a:buNone/>
            </a:pPr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 &lt;&lt; *it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b="1" dirty="0"/>
              <a:t>Confusing capacity with size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270301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C23A6-036F-1AB7-76EF-0E7DB4C54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0" y="150523"/>
            <a:ext cx="8940282" cy="85718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3FF4-8A31-8E56-1501-9D8ED4310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10" y="1399592"/>
            <a:ext cx="10563808" cy="482392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Q1. What will be the output of the following code after each step:</a:t>
            </a:r>
          </a:p>
          <a:p>
            <a:pPr marL="0" indent="0">
              <a:buNone/>
            </a:pPr>
            <a:r>
              <a:rPr lang="en-US" dirty="0"/>
              <a:t>int main() {   </a:t>
            </a:r>
          </a:p>
          <a:p>
            <a:pPr marL="0" indent="0">
              <a:buNone/>
            </a:pPr>
            <a:r>
              <a:rPr lang="en-US" dirty="0"/>
              <a:t> std::vector&lt;int&gt; numbers = {3, 7, 1, 9, 5};    </a:t>
            </a:r>
          </a:p>
          <a:p>
            <a:pPr marL="0" indent="0">
              <a:buNone/>
            </a:pPr>
            <a:r>
              <a:rPr lang="en-US" dirty="0"/>
              <a:t>// Step 1:</a:t>
            </a:r>
          </a:p>
          <a:p>
            <a:pPr marL="0" indent="0">
              <a:buNone/>
            </a:pPr>
            <a:r>
              <a:rPr lang="en-US" dirty="0" err="1"/>
              <a:t>numbers.push_back</a:t>
            </a:r>
            <a:r>
              <a:rPr lang="en-US" dirty="0"/>
              <a:t>(6);    </a:t>
            </a:r>
          </a:p>
          <a:p>
            <a:pPr marL="0" indent="0">
              <a:buNone/>
            </a:pPr>
            <a:r>
              <a:rPr lang="en-US" dirty="0"/>
              <a:t>// Step 2: </a:t>
            </a:r>
          </a:p>
          <a:p>
            <a:pPr marL="0" indent="0">
              <a:buNone/>
            </a:pPr>
            <a:r>
              <a:rPr lang="en-US" dirty="0"/>
              <a:t>numbers[2] = 10;    </a:t>
            </a:r>
          </a:p>
          <a:p>
            <a:pPr marL="0" indent="0">
              <a:buNone/>
            </a:pPr>
            <a:r>
              <a:rPr lang="en-US" dirty="0"/>
              <a:t>// Step 3: </a:t>
            </a:r>
          </a:p>
          <a:p>
            <a:pPr marL="0" indent="0">
              <a:buNone/>
            </a:pPr>
            <a:r>
              <a:rPr lang="en-US" dirty="0" err="1"/>
              <a:t>numbers.pop_back</a:t>
            </a:r>
            <a:r>
              <a:rPr lang="en-US" dirty="0"/>
              <a:t>();    </a:t>
            </a:r>
          </a:p>
          <a:p>
            <a:pPr marL="0" indent="0">
              <a:buNone/>
            </a:pPr>
            <a:r>
              <a:rPr lang="en-US" dirty="0"/>
              <a:t>// Step 4: </a:t>
            </a:r>
          </a:p>
          <a:p>
            <a:pPr marL="0" indent="0">
              <a:buNone/>
            </a:pPr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 &lt;&lt; "Size: " &lt;&lt; </a:t>
            </a:r>
            <a:r>
              <a:rPr lang="en-US" dirty="0" err="1"/>
              <a:t>numbers.size</a:t>
            </a:r>
            <a:r>
              <a:rPr lang="en-US" dirty="0"/>
              <a:t>() &lt;&lt; std::</a:t>
            </a:r>
            <a:r>
              <a:rPr lang="en-US" dirty="0" err="1"/>
              <a:t>endl</a:t>
            </a:r>
            <a:r>
              <a:rPr lang="en-US" dirty="0"/>
              <a:t>;    </a:t>
            </a:r>
          </a:p>
          <a:p>
            <a:pPr marL="0" indent="0">
              <a:buNone/>
            </a:pPr>
            <a:r>
              <a:rPr lang="en-US" dirty="0"/>
              <a:t>// Step 5:</a:t>
            </a:r>
          </a:p>
          <a:p>
            <a:pPr marL="0" indent="0">
              <a:buNone/>
            </a:pPr>
            <a:r>
              <a:rPr lang="en-US" dirty="0"/>
              <a:t>for (</a:t>
            </a:r>
            <a:r>
              <a:rPr lang="en-US" dirty="0" err="1"/>
              <a:t>size_t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numbers.size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      </a:t>
            </a:r>
          </a:p>
          <a:p>
            <a:pPr marL="0" indent="0">
              <a:buNone/>
            </a:pPr>
            <a:r>
              <a:rPr lang="en-US" dirty="0"/>
              <a:t> std::</a:t>
            </a:r>
            <a:r>
              <a:rPr lang="en-US" dirty="0" err="1"/>
              <a:t>cout</a:t>
            </a:r>
            <a:r>
              <a:rPr lang="en-US" dirty="0"/>
              <a:t> &lt;&lt; numbers[</a:t>
            </a:r>
            <a:r>
              <a:rPr lang="en-US" dirty="0" err="1"/>
              <a:t>i</a:t>
            </a:r>
            <a:r>
              <a:rPr lang="en-US" dirty="0"/>
              <a:t>] &lt;&lt; " ";    }   </a:t>
            </a:r>
          </a:p>
          <a:p>
            <a:pPr marL="0" indent="0">
              <a:buNone/>
            </a:pPr>
            <a:r>
              <a:rPr lang="en-US" dirty="0"/>
              <a:t> std::</a:t>
            </a:r>
            <a:r>
              <a:rPr lang="en-US" dirty="0" err="1"/>
              <a:t>cout</a:t>
            </a:r>
            <a:r>
              <a:rPr lang="en-US" dirty="0"/>
              <a:t> &lt;&lt; std::</a:t>
            </a:r>
            <a:r>
              <a:rPr lang="en-US" dirty="0" err="1"/>
              <a:t>endl</a:t>
            </a:r>
            <a:r>
              <a:rPr lang="en-US" dirty="0"/>
              <a:t>;       </a:t>
            </a:r>
          </a:p>
          <a:p>
            <a:pPr marL="0" indent="0">
              <a:buNone/>
            </a:pPr>
            <a:r>
              <a:rPr lang="en-US" dirty="0"/>
              <a:t> return 0;}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2010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C23A6-036F-1AB7-76EF-0E7DB4C54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0" y="150523"/>
            <a:ext cx="8940282" cy="85718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Question 2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3FF4-8A31-8E56-1501-9D8ED4310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12" y="1275119"/>
            <a:ext cx="10515600" cy="48830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int main() {</a:t>
            </a:r>
          </a:p>
          <a:p>
            <a:pPr marL="0" indent="0">
              <a:buNone/>
            </a:pPr>
            <a:r>
              <a:rPr lang="en-US" sz="1400" dirty="0"/>
              <a:t>    std::vector&lt;int&gt; values = {4, 2, 8, 6};</a:t>
            </a:r>
          </a:p>
          <a:p>
            <a:pPr marL="0" indent="0">
              <a:buNone/>
            </a:pPr>
            <a:r>
              <a:rPr lang="en-US" sz="1400" dirty="0"/>
              <a:t>    // Step 1: </a:t>
            </a:r>
          </a:p>
          <a:p>
            <a:pPr marL="0" indent="0">
              <a:buNone/>
            </a:pPr>
            <a:r>
              <a:rPr lang="en-US" sz="1400" dirty="0"/>
              <a:t>       </a:t>
            </a:r>
            <a:r>
              <a:rPr lang="en-US" sz="1400" dirty="0" err="1"/>
              <a:t>values.insert</a:t>
            </a:r>
            <a:r>
              <a:rPr lang="en-US" sz="1400" dirty="0"/>
              <a:t>(</a:t>
            </a:r>
            <a:r>
              <a:rPr lang="en-US" sz="1400" dirty="0" err="1"/>
              <a:t>values.begin</a:t>
            </a:r>
            <a:r>
              <a:rPr lang="en-US" sz="1400" dirty="0"/>
              <a:t>(), 10);</a:t>
            </a:r>
          </a:p>
          <a:p>
            <a:pPr marL="0" indent="0">
              <a:buNone/>
            </a:pPr>
            <a:r>
              <a:rPr lang="en-US" sz="1400" dirty="0"/>
              <a:t>    // Step 2: </a:t>
            </a:r>
          </a:p>
          <a:p>
            <a:pPr marL="0" indent="0">
              <a:buNone/>
            </a:pPr>
            <a:r>
              <a:rPr lang="en-US" sz="1400" dirty="0"/>
              <a:t>      </a:t>
            </a:r>
            <a:r>
              <a:rPr lang="en-US" sz="1400" dirty="0" err="1"/>
              <a:t>values.erase</a:t>
            </a:r>
            <a:r>
              <a:rPr lang="en-US" sz="1400" dirty="0"/>
              <a:t>(</a:t>
            </a:r>
            <a:r>
              <a:rPr lang="en-US" sz="1400" dirty="0" err="1"/>
              <a:t>values.begin</a:t>
            </a:r>
            <a:r>
              <a:rPr lang="en-US" sz="1400" dirty="0"/>
              <a:t>() + 3);</a:t>
            </a:r>
          </a:p>
          <a:p>
            <a:pPr marL="0" indent="0">
              <a:buNone/>
            </a:pPr>
            <a:r>
              <a:rPr lang="en-US" sz="1400" dirty="0"/>
              <a:t>    // Step 3: </a:t>
            </a:r>
          </a:p>
          <a:p>
            <a:pPr marL="0" indent="0">
              <a:buNone/>
            </a:pPr>
            <a:r>
              <a:rPr lang="en-US" sz="1400" dirty="0"/>
              <a:t>     </a:t>
            </a:r>
            <a:r>
              <a:rPr lang="en-US" sz="1400" dirty="0" err="1"/>
              <a:t>values.push_back</a:t>
            </a:r>
            <a:r>
              <a:rPr lang="en-US" sz="1400" dirty="0"/>
              <a:t>(12);</a:t>
            </a:r>
          </a:p>
          <a:p>
            <a:pPr marL="0" indent="0">
              <a:buNone/>
            </a:pPr>
            <a:r>
              <a:rPr lang="en-US" sz="1400" dirty="0"/>
              <a:t>    // Step 4:</a:t>
            </a:r>
          </a:p>
          <a:p>
            <a:pPr marL="0" indent="0">
              <a:buNone/>
            </a:pPr>
            <a:r>
              <a:rPr lang="en-US" sz="1400" dirty="0"/>
              <a:t>    std::</a:t>
            </a:r>
            <a:r>
              <a:rPr lang="en-US" sz="1400" dirty="0" err="1"/>
              <a:t>cout</a:t>
            </a:r>
            <a:r>
              <a:rPr lang="en-US" sz="1400" dirty="0"/>
              <a:t> &lt;&lt; "Size: " &lt;&lt; </a:t>
            </a:r>
            <a:r>
              <a:rPr lang="en-US" sz="1400" dirty="0" err="1"/>
              <a:t>values.size</a:t>
            </a:r>
            <a:r>
              <a:rPr lang="en-US" sz="1400" dirty="0"/>
              <a:t>() &lt;&lt; std::</a:t>
            </a:r>
            <a:r>
              <a:rPr lang="en-US" sz="1400" dirty="0" err="1"/>
              <a:t>endl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    Step 5:</a:t>
            </a:r>
          </a:p>
          <a:p>
            <a:pPr marL="0" indent="0">
              <a:buNone/>
            </a:pPr>
            <a:r>
              <a:rPr lang="en-US" sz="1400" dirty="0"/>
              <a:t>    int </a:t>
            </a:r>
            <a:r>
              <a:rPr lang="en-US" sz="1400" dirty="0" err="1"/>
              <a:t>i</a:t>
            </a:r>
            <a:r>
              <a:rPr lang="en-US" sz="1400" dirty="0"/>
              <a:t> = 0;</a:t>
            </a:r>
          </a:p>
          <a:p>
            <a:pPr marL="0" indent="0">
              <a:buNone/>
            </a:pPr>
            <a:r>
              <a:rPr lang="en-US" sz="1400" dirty="0"/>
              <a:t>    while (</a:t>
            </a:r>
            <a:r>
              <a:rPr lang="en-US" sz="1400" dirty="0" err="1"/>
              <a:t>i</a:t>
            </a:r>
            <a:r>
              <a:rPr lang="en-US" sz="1400" dirty="0"/>
              <a:t> &lt; </a:t>
            </a:r>
            <a:r>
              <a:rPr lang="en-US" sz="1400" dirty="0" err="1"/>
              <a:t>values.size</a:t>
            </a:r>
            <a:r>
              <a:rPr lang="en-US" sz="1400" dirty="0"/>
              <a:t>()) {</a:t>
            </a:r>
          </a:p>
          <a:p>
            <a:pPr marL="0" indent="0">
              <a:buNone/>
            </a:pPr>
            <a:r>
              <a:rPr lang="en-US" sz="1400" dirty="0"/>
              <a:t>        std::</a:t>
            </a:r>
            <a:r>
              <a:rPr lang="en-US" sz="1400" dirty="0" err="1"/>
              <a:t>cout</a:t>
            </a:r>
            <a:r>
              <a:rPr lang="en-US" sz="1400" dirty="0"/>
              <a:t> &lt;&lt; values[</a:t>
            </a:r>
            <a:r>
              <a:rPr lang="en-US" sz="1400" dirty="0" err="1"/>
              <a:t>i</a:t>
            </a:r>
            <a:r>
              <a:rPr lang="en-US" sz="1400" dirty="0"/>
              <a:t>] &lt;&lt; " ";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i</a:t>
            </a:r>
            <a:r>
              <a:rPr lang="en-US" sz="1400" dirty="0"/>
              <a:t>++;</a:t>
            </a:r>
          </a:p>
          <a:p>
            <a:pPr marL="0" indent="0">
              <a:buNone/>
            </a:pPr>
            <a:r>
              <a:rPr lang="en-US" sz="1400" dirty="0"/>
              <a:t>    }</a:t>
            </a:r>
          </a:p>
          <a:p>
            <a:pPr marL="0" indent="0">
              <a:buNone/>
            </a:pPr>
            <a:r>
              <a:rPr lang="en-US" sz="1400" dirty="0"/>
              <a:t>    std::</a:t>
            </a:r>
            <a:r>
              <a:rPr lang="en-US" sz="1400" dirty="0" err="1"/>
              <a:t>cout</a:t>
            </a:r>
            <a:r>
              <a:rPr lang="en-US" sz="1400" dirty="0"/>
              <a:t> &lt;&lt; std::</a:t>
            </a:r>
            <a:r>
              <a:rPr lang="en-US" sz="1400" dirty="0" err="1"/>
              <a:t>endl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    return 0;}</a:t>
            </a:r>
          </a:p>
        </p:txBody>
      </p:sp>
    </p:spTree>
    <p:extLst>
      <p:ext uri="{BB962C8B-B14F-4D97-AF65-F5344CB8AC3E}">
        <p14:creationId xmlns:p14="http://schemas.microsoft.com/office/powerpoint/2010/main" val="137788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7211-6A62-9306-217C-BCC750287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02" y="169183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Question 3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47CB4-DDAE-6420-A7BA-CBEEC074B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608"/>
            <a:ext cx="10515600" cy="48333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int main() {</a:t>
            </a:r>
          </a:p>
          <a:p>
            <a:pPr marL="0" indent="0">
              <a:buNone/>
            </a:pPr>
            <a:r>
              <a:rPr lang="en-US" sz="1800" dirty="0"/>
              <a:t>    std::vector&lt;int&gt; numbers = {10, 20, 30, 40, 50};</a:t>
            </a:r>
          </a:p>
          <a:p>
            <a:pPr marL="0" indent="0">
              <a:buNone/>
            </a:pPr>
            <a:r>
              <a:rPr lang="en-US" sz="1800" dirty="0"/>
              <a:t>    // Step 1: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numbers.front</a:t>
            </a:r>
            <a:r>
              <a:rPr lang="en-US" sz="1800" dirty="0"/>
              <a:t>() = 15;</a:t>
            </a:r>
          </a:p>
          <a:p>
            <a:pPr marL="0" indent="0">
              <a:buNone/>
            </a:pPr>
            <a:r>
              <a:rPr lang="en-US" sz="1800" dirty="0"/>
              <a:t>    // Step 2: 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numbers.back</a:t>
            </a:r>
            <a:r>
              <a:rPr lang="en-US" sz="1800" dirty="0"/>
              <a:t>() = 55;</a:t>
            </a:r>
          </a:p>
          <a:p>
            <a:pPr marL="0" indent="0">
              <a:buNone/>
            </a:pPr>
            <a:r>
              <a:rPr lang="en-US" sz="1800" dirty="0"/>
              <a:t>    // Step 3: </a:t>
            </a:r>
          </a:p>
          <a:p>
            <a:pPr marL="0" indent="0">
              <a:buNone/>
            </a:pPr>
            <a:r>
              <a:rPr lang="en-US" sz="1800" dirty="0"/>
              <a:t>       std::</a:t>
            </a:r>
            <a:r>
              <a:rPr lang="en-US" sz="1800" dirty="0" err="1"/>
              <a:t>cout</a:t>
            </a:r>
            <a:r>
              <a:rPr lang="en-US" sz="1800" dirty="0"/>
              <a:t> &lt;&lt; "Size: " &lt;&lt; </a:t>
            </a:r>
            <a:r>
              <a:rPr lang="en-US" sz="1800" dirty="0" err="1"/>
              <a:t>numbers.size</a:t>
            </a:r>
            <a:r>
              <a:rPr lang="en-US" sz="1800" dirty="0"/>
              <a:t>() &lt;&lt; std::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r>
              <a:rPr lang="en-US" sz="1800" dirty="0"/>
              <a:t>    // Step 4: </a:t>
            </a:r>
          </a:p>
          <a:p>
            <a:pPr marL="0" indent="0">
              <a:buNone/>
            </a:pPr>
            <a:r>
              <a:rPr lang="en-US" sz="1800" dirty="0"/>
              <a:t>    for (int </a:t>
            </a:r>
            <a:r>
              <a:rPr lang="en-US" sz="1800" dirty="0" err="1"/>
              <a:t>i</a:t>
            </a:r>
            <a:r>
              <a:rPr lang="en-US" sz="1800" dirty="0"/>
              <a:t> = 0; </a:t>
            </a:r>
            <a:r>
              <a:rPr lang="en-US" sz="1800" dirty="0" err="1"/>
              <a:t>i</a:t>
            </a:r>
            <a:r>
              <a:rPr lang="en-US" sz="1800" dirty="0"/>
              <a:t> &lt; </a:t>
            </a:r>
            <a:r>
              <a:rPr lang="en-US" sz="1800" dirty="0" err="1"/>
              <a:t>numbers.size</a:t>
            </a:r>
            <a:r>
              <a:rPr lang="en-US" sz="1800" dirty="0"/>
              <a:t>(); </a:t>
            </a:r>
            <a:r>
              <a:rPr lang="en-US" sz="1800" dirty="0" err="1"/>
              <a:t>i</a:t>
            </a:r>
            <a:r>
              <a:rPr lang="en-US" sz="1800" dirty="0"/>
              <a:t>++) {</a:t>
            </a:r>
          </a:p>
          <a:p>
            <a:pPr marL="0" indent="0">
              <a:buNone/>
            </a:pPr>
            <a:r>
              <a:rPr lang="en-US" sz="1800" dirty="0"/>
              <a:t>        std::</a:t>
            </a:r>
            <a:r>
              <a:rPr lang="en-US" sz="1800" dirty="0" err="1"/>
              <a:t>cout</a:t>
            </a:r>
            <a:r>
              <a:rPr lang="en-US" sz="1800" dirty="0"/>
              <a:t> &lt;&lt; numbers[</a:t>
            </a:r>
            <a:r>
              <a:rPr lang="en-US" sz="1800" dirty="0" err="1"/>
              <a:t>i</a:t>
            </a:r>
            <a:r>
              <a:rPr lang="en-US" sz="1800" dirty="0"/>
              <a:t>] &lt;&lt; " ";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    std::</a:t>
            </a:r>
            <a:r>
              <a:rPr lang="en-US" sz="1800" dirty="0" err="1"/>
              <a:t>cout</a:t>
            </a:r>
            <a:r>
              <a:rPr lang="en-US" sz="1800" dirty="0"/>
              <a:t> &lt;&lt; std::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r>
              <a:rPr lang="en-US" sz="1800" dirty="0"/>
              <a:t>    return 0;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43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8619-D18B-F72E-2457-E328960EE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06" y="13186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Question 4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69403-1ED1-C47C-D006-1FA4D36C5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 main() {    std::vector&lt;int&gt; </a:t>
            </a:r>
            <a:r>
              <a:rPr lang="en-US" dirty="0" err="1"/>
              <a:t>vec</a:t>
            </a:r>
            <a:r>
              <a:rPr lang="en-US" dirty="0"/>
              <a:t> = {5, 10, 15, 20};    </a:t>
            </a:r>
          </a:p>
          <a:p>
            <a:pPr marL="0" indent="0">
              <a:buNone/>
            </a:pPr>
            <a:r>
              <a:rPr lang="en-US" dirty="0"/>
              <a:t>// Step 1: </a:t>
            </a:r>
          </a:p>
          <a:p>
            <a:pPr marL="0" indent="0">
              <a:buNone/>
            </a:pPr>
            <a:r>
              <a:rPr lang="en-US" dirty="0" err="1"/>
              <a:t>vec.front</a:t>
            </a:r>
            <a:r>
              <a:rPr lang="en-US" dirty="0"/>
              <a:t>() *= 2;   </a:t>
            </a:r>
          </a:p>
          <a:p>
            <a:pPr marL="0" indent="0">
              <a:buNone/>
            </a:pPr>
            <a:r>
              <a:rPr lang="en-US" dirty="0"/>
              <a:t>// Step 2: </a:t>
            </a:r>
          </a:p>
          <a:p>
            <a:pPr marL="0" indent="0">
              <a:buNone/>
            </a:pPr>
            <a:r>
              <a:rPr lang="en-US" dirty="0" err="1"/>
              <a:t>vec.back</a:t>
            </a:r>
            <a:r>
              <a:rPr lang="en-US" dirty="0"/>
              <a:t>() = </a:t>
            </a:r>
            <a:r>
              <a:rPr lang="en-US" dirty="0" err="1"/>
              <a:t>vec.front</a:t>
            </a:r>
            <a:r>
              <a:rPr lang="en-US" dirty="0"/>
              <a:t>() + </a:t>
            </a:r>
            <a:r>
              <a:rPr lang="en-US" dirty="0" err="1"/>
              <a:t>vec.back</a:t>
            </a:r>
            <a:r>
              <a:rPr lang="en-US" dirty="0"/>
              <a:t>();    </a:t>
            </a:r>
          </a:p>
          <a:p>
            <a:pPr marL="0" indent="0">
              <a:buNone/>
            </a:pPr>
            <a:r>
              <a:rPr lang="en-US" dirty="0"/>
              <a:t>//Step 3: </a:t>
            </a:r>
          </a:p>
          <a:p>
            <a:pPr marL="0" indent="0">
              <a:buNone/>
            </a:pPr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vec.size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       </a:t>
            </a:r>
          </a:p>
          <a:p>
            <a:pPr marL="0" indent="0">
              <a:buNone/>
            </a:pPr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vec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&lt;&lt; " ";    }    </a:t>
            </a:r>
          </a:p>
          <a:p>
            <a:pPr marL="0" indent="0">
              <a:buNone/>
            </a:pPr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 &lt;&lt; std::</a:t>
            </a:r>
            <a:r>
              <a:rPr lang="en-US" dirty="0" err="1"/>
              <a:t>endl</a:t>
            </a:r>
            <a:r>
              <a:rPr lang="en-US" dirty="0"/>
              <a:t>;    return 0;}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1374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IBA Presentation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A Presentation_Template" id="{98B924F8-68F1-44C3-9B9B-B85D1985B6A8}" vid="{181EC76D-48F6-4716-A60D-DFF8614029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IBA Presentation_Template</Template>
  <TotalTime>17402</TotalTime>
  <Words>1617</Words>
  <Application>Microsoft Office PowerPoint</Application>
  <PresentationFormat>Widescreen</PresentationFormat>
  <Paragraphs>207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ＭＳ Ｐゴシック</vt:lpstr>
      <vt:lpstr>Arial</vt:lpstr>
      <vt:lpstr>Calibri</vt:lpstr>
      <vt:lpstr>Calibri Light</vt:lpstr>
      <vt:lpstr>Courier New</vt:lpstr>
      <vt:lpstr>Tahoma</vt:lpstr>
      <vt:lpstr>Times</vt:lpstr>
      <vt:lpstr>IBA Presentation_Template</vt:lpstr>
      <vt:lpstr>Introduction to Programming  (CSE-141) </vt:lpstr>
      <vt:lpstr>Sequential Containers</vt:lpstr>
      <vt:lpstr>Introduction to Vectors</vt:lpstr>
      <vt:lpstr>Vector Declaration and Initialization</vt:lpstr>
      <vt:lpstr>Basic Operation</vt:lpstr>
      <vt:lpstr>Size &amp; Capacity</vt:lpstr>
      <vt:lpstr>Vector Iteration</vt:lpstr>
      <vt:lpstr>Common Function</vt:lpstr>
      <vt:lpstr>Vector vs Array</vt:lpstr>
      <vt:lpstr>Vector Memory Management</vt:lpstr>
      <vt:lpstr>Advance Option</vt:lpstr>
      <vt:lpstr>Discussing codes in vscode</vt:lpstr>
      <vt:lpstr>Sorting Vector</vt:lpstr>
      <vt:lpstr>Searching Vector</vt:lpstr>
      <vt:lpstr>Common Mistakes</vt:lpstr>
      <vt:lpstr>Quiz</vt:lpstr>
      <vt:lpstr>Question 2</vt:lpstr>
      <vt:lpstr>Question 3</vt:lpstr>
      <vt:lpstr>Question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applications (MIS103)</dc:title>
  <dc:creator>Usman</dc:creator>
  <cp:lastModifiedBy>Maria Rahim Khowaja / Lecturer</cp:lastModifiedBy>
  <cp:revision>530</cp:revision>
  <dcterms:created xsi:type="dcterms:W3CDTF">2017-08-08T08:10:09Z</dcterms:created>
  <dcterms:modified xsi:type="dcterms:W3CDTF">2024-10-22T06:00:53Z</dcterms:modified>
</cp:coreProperties>
</file>