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7" r:id="rId4"/>
    <p:sldId id="288" r:id="rId5"/>
    <p:sldId id="289" r:id="rId6"/>
    <p:sldId id="295" r:id="rId7"/>
    <p:sldId id="291" r:id="rId8"/>
    <p:sldId id="293" r:id="rId9"/>
    <p:sldId id="294" r:id="rId10"/>
    <p:sldId id="292" r:id="rId11"/>
    <p:sldId id="283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B4BC-5523-6B15-E379-9D440B47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5498A-9F1B-6472-F519-710C8C9E6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2F0FC-0AA9-8136-10E0-988D9210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C1CA-0711-850D-5183-A2B5A213F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7137-DAE9-F53F-3928-0DAE159E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402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8FB6-9C6A-F2BD-6645-56D63385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D5916-DB56-3126-E08A-67B9C229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D3A2-2C6B-F220-0DE2-9B5C45FB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012E-03D3-4F84-BD86-3182884B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40CDA-08A8-25C9-7297-05C2A67E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9414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68DC-6682-82D9-962D-035F7D32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65487-DC41-AAD6-069E-90A856550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8284-1A15-F0BC-8397-CD51B490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893AF-8BEC-AE33-ECEA-BB06A731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F6908-FF3F-F647-EACB-D579D785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025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6D56-7FFB-4395-2EAE-ED2F7AB9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24702-43E3-2BCF-BC3A-243818AFC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050C7-B43B-1479-7A6D-930D37AF6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A581E-2932-1221-6837-84D3BBB0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042CD-9E35-5A28-DB43-BA1B0FFE9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2A5E5-B8E6-13FB-12FC-F3D17D09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6530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D583-DB59-9544-613C-A1399769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AB85D-86CC-130D-C73F-621488E2D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001A8-0867-70EE-F388-A67818577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61077-609E-F8EB-8394-BE4CEDE64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35E47-CD8C-DB62-FD58-1EEF1602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1C7D4-9A0D-DB05-F459-9A05E934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4244C-8711-3475-2C24-B68828AF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720E4-06AC-D540-526F-8C8A26FF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52679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6F68-FA65-13A7-E538-86D1C890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EB2FD-6FF5-9190-F51D-A2B20E81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E5D0B-E530-1D35-E485-E3C11586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7CE04-5E37-1D2C-C5A6-EF62A94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950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3DA80-AF75-88CC-15E0-1E5BDEE9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51D2A-1D2C-B7FC-A6F5-5CDA8DC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E0DF3-51D1-71EB-ED76-1AB58147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4423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47C7-DE01-6A7A-312D-4D28D27B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546E-840F-9AF8-2F81-CA4BE9DE9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E75C5-AB6D-14EF-A652-A55984E3B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FC8BD-2F12-5C44-0FC5-ABC9121D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E7D24-0E6F-B0D5-0D71-D95C68F1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03AAF-817F-139F-90B1-20FC95BB3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240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B2E5-7085-FB75-D49F-F337DF77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9D0CC7-AF0E-1711-DB56-74A343DAC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7E1F3-91E0-7B84-0605-A920031DE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04610-A74D-DC1A-BA25-94B156EA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83477-02EC-84FF-5133-4C9D85B7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DB61-9795-C268-8DDE-B6C6739B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391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2711-E1BD-6B80-C858-0A311024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84959-1478-670C-C72E-9C8B0460F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CB284-709D-1F57-4302-A7529E77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9DA95-CD40-59DB-4CFB-7C233183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B741-BA71-0A15-D65A-6E8BC96DC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5547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53C39-7EA2-3767-E74B-B5DEA81E4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AC98A-EAC6-73E0-715D-E8DB9B0DD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9B47-A405-4629-6DC4-DB23D8A3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816A-9DF9-75D2-9412-D000F9B5E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E42E3-AC87-BCB8-7238-014729178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938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1EC87-6256-86F0-014E-BDF9F92A4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6D71-80AA-6129-8460-409B3C6CC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10D4-AD59-D4C1-A2FF-26767DAA3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0094E-B332-4D10-94A6-BABBC3B412D6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BEF30-1C2F-B788-8AB2-B46802B72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DCA6-2752-1710-7943-3D916DA7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02868-8F07-44C6-8585-F716DEF9AF3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8309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C376-99DE-09E1-E01C-4FB0711BF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381C0-77CB-CA7A-41E6-36675421F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600" b="1" i="1" dirty="0">
                <a:latin typeface="+mj-lt"/>
              </a:rPr>
              <a:t>Linked Lists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9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94A2D-7A6A-FAD4-1C4F-72345294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types and data structures</a:t>
            </a:r>
            <a:endParaRPr lang="LID4096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B2FD9-A713-35DE-0187-F943F257D948}"/>
              </a:ext>
            </a:extLst>
          </p:cNvPr>
          <p:cNvSpPr txBox="1"/>
          <p:nvPr/>
        </p:nvSpPr>
        <p:spPr>
          <a:xfrm>
            <a:off x="705918" y="1502576"/>
            <a:ext cx="4836466" cy="1938992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Data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Set of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Set of operations on those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 are built into C++: </a:t>
            </a:r>
            <a:r>
              <a:rPr lang="en-US" sz="2000" dirty="0">
                <a:latin typeface="Consolas" panose="020B0609020204030204" pitchFamily="49" charset="0"/>
              </a:rPr>
              <a:t>int</a:t>
            </a:r>
            <a:r>
              <a:rPr lang="en-US" sz="2000" dirty="0"/>
              <a:t>, </a:t>
            </a:r>
            <a:r>
              <a:rPr lang="en-US" sz="2000" dirty="0">
                <a:latin typeface="Consolas" panose="020B0609020204030204" pitchFamily="49" charset="0"/>
              </a:rPr>
              <a:t>double</a:t>
            </a:r>
            <a:r>
              <a:rPr lang="en-US" sz="2000" dirty="0"/>
              <a:t>, …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 in standard library: </a:t>
            </a:r>
            <a:r>
              <a:rPr lang="en-US" sz="2000" dirty="0">
                <a:latin typeface="Consolas" panose="020B0609020204030204" pitchFamily="49" charset="0"/>
              </a:rPr>
              <a:t>string,</a:t>
            </a:r>
            <a:r>
              <a:rPr lang="en-US" sz="2000" dirty="0"/>
              <a:t> …</a:t>
            </a:r>
            <a:endParaRPr lang="en-US" sz="2000" dirty="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Most are not: user-defined types</a:t>
            </a: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697F4-6A78-FE2F-0D78-C35FF4F1E798}"/>
              </a:ext>
            </a:extLst>
          </p:cNvPr>
          <p:cNvSpPr txBox="1"/>
          <p:nvPr/>
        </p:nvSpPr>
        <p:spPr>
          <a:xfrm>
            <a:off x="5863991" y="1507607"/>
            <a:ext cx="5744045" cy="1631216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Data structures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Represent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Represent relationships among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 are built into C++: 1D arrays, 2D arrays,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Most are not: linked-lists, trees, graphs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E9AD90-D206-09E4-9715-8664AABEB23C}"/>
              </a:ext>
            </a:extLst>
          </p:cNvPr>
          <p:cNvGrpSpPr/>
          <p:nvPr/>
        </p:nvGrpSpPr>
        <p:grpSpPr>
          <a:xfrm>
            <a:off x="9659431" y="4450999"/>
            <a:ext cx="1488608" cy="167340"/>
            <a:chOff x="8500966" y="4653117"/>
            <a:chExt cx="2296813" cy="19544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11EBC6F-1FF7-5126-C415-B451A9B91575}"/>
                </a:ext>
              </a:extLst>
            </p:cNvPr>
            <p:cNvSpPr/>
            <p:nvPr/>
          </p:nvSpPr>
          <p:spPr>
            <a:xfrm>
              <a:off x="8500966" y="4653117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1E0A1C0-BD4E-0BE8-EDBB-CDA567828EDC}"/>
                </a:ext>
              </a:extLst>
            </p:cNvPr>
            <p:cNvSpPr/>
            <p:nvPr/>
          </p:nvSpPr>
          <p:spPr>
            <a:xfrm>
              <a:off x="9017159" y="4665685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3E3F41D-CFE1-0218-0EA0-E4947EB77A5F}"/>
                </a:ext>
              </a:extLst>
            </p:cNvPr>
            <p:cNvSpPr/>
            <p:nvPr/>
          </p:nvSpPr>
          <p:spPr>
            <a:xfrm>
              <a:off x="9533352" y="4665685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C2AB0F1-0364-8F66-F546-01EC06C589E4}"/>
                </a:ext>
              </a:extLst>
            </p:cNvPr>
            <p:cNvSpPr/>
            <p:nvPr/>
          </p:nvSpPr>
          <p:spPr>
            <a:xfrm>
              <a:off x="10098705" y="4657072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EB27982-3449-8432-8582-1F35BA4E60D2}"/>
                </a:ext>
              </a:extLst>
            </p:cNvPr>
            <p:cNvSpPr/>
            <p:nvPr/>
          </p:nvSpPr>
          <p:spPr>
            <a:xfrm>
              <a:off x="10614899" y="4665685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FB8AA99-DD30-375E-47A3-B2BD930C3961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8683846" y="4744557"/>
              <a:ext cx="333313" cy="125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AA32A0F-ADB5-EBA9-5B28-9F3A20C5EB46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 flipV="1">
              <a:off x="9200039" y="4750960"/>
              <a:ext cx="357893" cy="6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8D019CD-3197-5EBC-41A3-AAF4FE69F7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5646" y="4757125"/>
              <a:ext cx="357893" cy="6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68FA7CB-EAA6-786A-EEAD-A10445EC1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61921" y="4757003"/>
              <a:ext cx="357893" cy="6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F98546-1519-069A-B559-7A95DDECFE1C}"/>
              </a:ext>
            </a:extLst>
          </p:cNvPr>
          <p:cNvGrpSpPr/>
          <p:nvPr/>
        </p:nvGrpSpPr>
        <p:grpSpPr>
          <a:xfrm>
            <a:off x="10313471" y="4846236"/>
            <a:ext cx="1333685" cy="1363671"/>
            <a:chOff x="8407480" y="3441568"/>
            <a:chExt cx="1956692" cy="180028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D2D2BD-15B9-5A09-CA33-AD6B9EADCA05}"/>
                </a:ext>
              </a:extLst>
            </p:cNvPr>
            <p:cNvSpPr/>
            <p:nvPr/>
          </p:nvSpPr>
          <p:spPr>
            <a:xfrm>
              <a:off x="8711373" y="3667222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95DA9BC-16BF-A917-9B4D-382F3D2C9388}"/>
                </a:ext>
              </a:extLst>
            </p:cNvPr>
            <p:cNvSpPr/>
            <p:nvPr/>
          </p:nvSpPr>
          <p:spPr>
            <a:xfrm>
              <a:off x="9890262" y="3637722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CC8612E-482A-7EC2-3B7E-B38D6C73810D}"/>
                </a:ext>
              </a:extLst>
            </p:cNvPr>
            <p:cNvSpPr/>
            <p:nvPr/>
          </p:nvSpPr>
          <p:spPr>
            <a:xfrm>
              <a:off x="8407480" y="4186693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0115A8A-B6E8-47A4-6A9B-EA67064C60EB}"/>
                </a:ext>
              </a:extLst>
            </p:cNvPr>
            <p:cNvSpPr/>
            <p:nvPr/>
          </p:nvSpPr>
          <p:spPr>
            <a:xfrm>
              <a:off x="10181292" y="4186693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4255935-A09E-7771-348D-D107D41F3288}"/>
                </a:ext>
              </a:extLst>
            </p:cNvPr>
            <p:cNvSpPr/>
            <p:nvPr/>
          </p:nvSpPr>
          <p:spPr>
            <a:xfrm>
              <a:off x="9271819" y="3441568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F4E1AA7-0EEB-6BD5-0F7F-1398EEDB7393}"/>
                </a:ext>
              </a:extLst>
            </p:cNvPr>
            <p:cNvSpPr/>
            <p:nvPr/>
          </p:nvSpPr>
          <p:spPr>
            <a:xfrm>
              <a:off x="8711373" y="4755992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4A6E7F3-F17C-1437-89C6-C1732647D90C}"/>
                </a:ext>
              </a:extLst>
            </p:cNvPr>
            <p:cNvSpPr/>
            <p:nvPr/>
          </p:nvSpPr>
          <p:spPr>
            <a:xfrm>
              <a:off x="9890262" y="4765824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9B32D09-F2A2-A322-72F6-DD2DB78823A6}"/>
                </a:ext>
              </a:extLst>
            </p:cNvPr>
            <p:cNvSpPr/>
            <p:nvPr/>
          </p:nvSpPr>
          <p:spPr>
            <a:xfrm>
              <a:off x="9271819" y="5058976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4FA761C-643E-A5B5-A2ED-7AAE937A1FA0}"/>
                </a:ext>
              </a:extLst>
            </p:cNvPr>
            <p:cNvCxnSpPr>
              <a:stCxn id="22" idx="6"/>
              <a:endCxn id="19" idx="2"/>
            </p:cNvCxnSpPr>
            <p:nvPr/>
          </p:nvCxnSpPr>
          <p:spPr>
            <a:xfrm>
              <a:off x="9454699" y="3533008"/>
              <a:ext cx="435563" cy="1961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3940565-D408-0B32-E3AB-4040922DCB43}"/>
                </a:ext>
              </a:extLst>
            </p:cNvPr>
            <p:cNvCxnSpPr>
              <a:cxnSpLocks/>
              <a:stCxn id="19" idx="5"/>
              <a:endCxn id="21" idx="0"/>
            </p:cNvCxnSpPr>
            <p:nvPr/>
          </p:nvCxnSpPr>
          <p:spPr>
            <a:xfrm>
              <a:off x="10046360" y="3793820"/>
              <a:ext cx="226372" cy="3928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63A5BA6-8581-7485-DA0D-F04EB4F557B9}"/>
                </a:ext>
              </a:extLst>
            </p:cNvPr>
            <p:cNvCxnSpPr>
              <a:stCxn id="21" idx="4"/>
              <a:endCxn id="24" idx="7"/>
            </p:cNvCxnSpPr>
            <p:nvPr/>
          </p:nvCxnSpPr>
          <p:spPr>
            <a:xfrm flipH="1">
              <a:off x="10046360" y="4369573"/>
              <a:ext cx="226372" cy="4230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E5725D2-1725-30B1-F9A4-30C7F7E7555B}"/>
                </a:ext>
              </a:extLst>
            </p:cNvPr>
            <p:cNvCxnSpPr>
              <a:stCxn id="24" idx="3"/>
              <a:endCxn id="25" idx="6"/>
            </p:cNvCxnSpPr>
            <p:nvPr/>
          </p:nvCxnSpPr>
          <p:spPr>
            <a:xfrm flipH="1">
              <a:off x="9454699" y="4921922"/>
              <a:ext cx="462345" cy="2284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0E8384F-DC5A-F65C-0872-52990B2DE509}"/>
                </a:ext>
              </a:extLst>
            </p:cNvPr>
            <p:cNvCxnSpPr>
              <a:stCxn id="25" idx="2"/>
              <a:endCxn id="23" idx="5"/>
            </p:cNvCxnSpPr>
            <p:nvPr/>
          </p:nvCxnSpPr>
          <p:spPr>
            <a:xfrm flipH="1" flipV="1">
              <a:off x="8867471" y="4912090"/>
              <a:ext cx="404348" cy="2383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82EB346-F0B1-8B6D-0F87-A3EA8CC74EA9}"/>
                </a:ext>
              </a:extLst>
            </p:cNvPr>
            <p:cNvCxnSpPr>
              <a:cxnSpLocks/>
              <a:stCxn id="23" idx="1"/>
              <a:endCxn id="20" idx="4"/>
            </p:cNvCxnSpPr>
            <p:nvPr/>
          </p:nvCxnSpPr>
          <p:spPr>
            <a:xfrm flipH="1" flipV="1">
              <a:off x="8498920" y="4369573"/>
              <a:ext cx="239235" cy="4132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A0715E1-D2B7-046A-AB80-6378B8CC3A69}"/>
                </a:ext>
              </a:extLst>
            </p:cNvPr>
            <p:cNvCxnSpPr>
              <a:stCxn id="20" idx="0"/>
              <a:endCxn id="18" idx="3"/>
            </p:cNvCxnSpPr>
            <p:nvPr/>
          </p:nvCxnSpPr>
          <p:spPr>
            <a:xfrm flipV="1">
              <a:off x="8498920" y="3823320"/>
              <a:ext cx="239235" cy="3633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9EC0B26-C373-10E8-2AC8-D831CC92F6E7}"/>
                </a:ext>
              </a:extLst>
            </p:cNvPr>
            <p:cNvCxnSpPr>
              <a:stCxn id="18" idx="7"/>
              <a:endCxn id="22" idx="2"/>
            </p:cNvCxnSpPr>
            <p:nvPr/>
          </p:nvCxnSpPr>
          <p:spPr>
            <a:xfrm flipV="1">
              <a:off x="8867471" y="3533008"/>
              <a:ext cx="404348" cy="1609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81F777F-B29B-E3B1-35DE-C40573105C60}"/>
              </a:ext>
            </a:extLst>
          </p:cNvPr>
          <p:cNvGrpSpPr/>
          <p:nvPr/>
        </p:nvGrpSpPr>
        <p:grpSpPr>
          <a:xfrm>
            <a:off x="9129870" y="4990777"/>
            <a:ext cx="996878" cy="973544"/>
            <a:chOff x="10611951" y="3348313"/>
            <a:chExt cx="1151866" cy="101833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81E5AF5-B32C-D933-AAF3-8979F50BAA60}"/>
                </a:ext>
              </a:extLst>
            </p:cNvPr>
            <p:cNvSpPr/>
            <p:nvPr/>
          </p:nvSpPr>
          <p:spPr>
            <a:xfrm>
              <a:off x="11054889" y="3348313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6DA3102-365D-90FD-5E18-0EAAE74A164B}"/>
                </a:ext>
              </a:extLst>
            </p:cNvPr>
            <p:cNvSpPr/>
            <p:nvPr/>
          </p:nvSpPr>
          <p:spPr>
            <a:xfrm>
              <a:off x="10794831" y="3729162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A819296-F055-B150-05FE-C8E0DB40A489}"/>
                </a:ext>
              </a:extLst>
            </p:cNvPr>
            <p:cNvSpPr/>
            <p:nvPr/>
          </p:nvSpPr>
          <p:spPr>
            <a:xfrm>
              <a:off x="11353800" y="3758662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9EE31C1-A888-5C3D-071E-6E93CB805411}"/>
                </a:ext>
              </a:extLst>
            </p:cNvPr>
            <p:cNvSpPr/>
            <p:nvPr/>
          </p:nvSpPr>
          <p:spPr>
            <a:xfrm>
              <a:off x="11267522" y="4161369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A624620-C9CF-BDF9-A1B6-1371A10D04C2}"/>
                </a:ext>
              </a:extLst>
            </p:cNvPr>
            <p:cNvSpPr/>
            <p:nvPr/>
          </p:nvSpPr>
          <p:spPr>
            <a:xfrm>
              <a:off x="11580937" y="4170008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DE750AC-0822-7314-63F5-86E92354C8F8}"/>
                </a:ext>
              </a:extLst>
            </p:cNvPr>
            <p:cNvSpPr/>
            <p:nvPr/>
          </p:nvSpPr>
          <p:spPr>
            <a:xfrm>
              <a:off x="10611951" y="4175125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721EA28-6BEB-DFC1-0629-95DDF9006D87}"/>
                </a:ext>
              </a:extLst>
            </p:cNvPr>
            <p:cNvSpPr/>
            <p:nvPr/>
          </p:nvSpPr>
          <p:spPr>
            <a:xfrm>
              <a:off x="10925366" y="4183764"/>
              <a:ext cx="182880" cy="1828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B3DFD86-CC55-716C-5C23-BD1405DDF561}"/>
                </a:ext>
              </a:extLst>
            </p:cNvPr>
            <p:cNvCxnSpPr>
              <a:stCxn id="40" idx="0"/>
              <a:endCxn id="36" idx="3"/>
            </p:cNvCxnSpPr>
            <p:nvPr/>
          </p:nvCxnSpPr>
          <p:spPr>
            <a:xfrm flipV="1">
              <a:off x="10703391" y="3885260"/>
              <a:ext cx="118222" cy="289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B1A989D-5599-1BE9-6E98-E59EA7463781}"/>
                </a:ext>
              </a:extLst>
            </p:cNvPr>
            <p:cNvCxnSpPr>
              <a:stCxn id="36" idx="7"/>
              <a:endCxn id="35" idx="3"/>
            </p:cNvCxnSpPr>
            <p:nvPr/>
          </p:nvCxnSpPr>
          <p:spPr>
            <a:xfrm flipV="1">
              <a:off x="10950929" y="3504411"/>
              <a:ext cx="130742" cy="2515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6C4C7EE-2787-10EA-0DF6-C86E21C2F39C}"/>
                </a:ext>
              </a:extLst>
            </p:cNvPr>
            <p:cNvCxnSpPr>
              <a:stCxn id="37" idx="0"/>
              <a:endCxn id="35" idx="5"/>
            </p:cNvCxnSpPr>
            <p:nvPr/>
          </p:nvCxnSpPr>
          <p:spPr>
            <a:xfrm flipH="1" flipV="1">
              <a:off x="11210987" y="3504411"/>
              <a:ext cx="234253" cy="2542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5C4A4E2-2C71-1601-B8AF-05976E99D3E0}"/>
                </a:ext>
              </a:extLst>
            </p:cNvPr>
            <p:cNvCxnSpPr>
              <a:stCxn id="39" idx="1"/>
              <a:endCxn id="37" idx="5"/>
            </p:cNvCxnSpPr>
            <p:nvPr/>
          </p:nvCxnSpPr>
          <p:spPr>
            <a:xfrm flipH="1" flipV="1">
              <a:off x="11509898" y="3914760"/>
              <a:ext cx="97821" cy="2820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BDC4389-B948-3AA4-D9FD-DC062453FBD3}"/>
                </a:ext>
              </a:extLst>
            </p:cNvPr>
            <p:cNvCxnSpPr>
              <a:stCxn id="38" idx="0"/>
              <a:endCxn id="37" idx="4"/>
            </p:cNvCxnSpPr>
            <p:nvPr/>
          </p:nvCxnSpPr>
          <p:spPr>
            <a:xfrm flipV="1">
              <a:off x="11358962" y="3941542"/>
              <a:ext cx="86278" cy="2198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075C2B0-F666-309C-1D06-8D851AD594AD}"/>
                </a:ext>
              </a:extLst>
            </p:cNvPr>
            <p:cNvCxnSpPr>
              <a:stCxn id="41" idx="0"/>
              <a:endCxn id="36" idx="4"/>
            </p:cNvCxnSpPr>
            <p:nvPr/>
          </p:nvCxnSpPr>
          <p:spPr>
            <a:xfrm flipH="1" flipV="1">
              <a:off x="10886271" y="3912042"/>
              <a:ext cx="130535" cy="2717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3E2B707F-E485-6052-10B3-EC6D7F831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207393"/>
              </p:ext>
            </p:extLst>
          </p:nvPr>
        </p:nvGraphicFramePr>
        <p:xfrm>
          <a:off x="6885578" y="3874747"/>
          <a:ext cx="2904200" cy="323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420">
                  <a:extLst>
                    <a:ext uri="{9D8B030D-6E8A-4147-A177-3AD203B41FA5}">
                      <a16:colId xmlns:a16="http://schemas.microsoft.com/office/drawing/2014/main" val="2734893811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1684466818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3389178494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1967147010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311626049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4222200014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2107467999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3987547965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1531605583"/>
                    </a:ext>
                  </a:extLst>
                </a:gridCol>
                <a:gridCol w="290420">
                  <a:extLst>
                    <a:ext uri="{9D8B030D-6E8A-4147-A177-3AD203B41FA5}">
                      <a16:colId xmlns:a16="http://schemas.microsoft.com/office/drawing/2014/main" val="1467261694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744332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0081673B-B797-33B1-8423-EB4E3E7CE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939325"/>
              </p:ext>
            </p:extLst>
          </p:nvPr>
        </p:nvGraphicFramePr>
        <p:xfrm>
          <a:off x="6885578" y="4591397"/>
          <a:ext cx="1850436" cy="1325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348">
                  <a:extLst>
                    <a:ext uri="{9D8B030D-6E8A-4147-A177-3AD203B41FA5}">
                      <a16:colId xmlns:a16="http://schemas.microsoft.com/office/drawing/2014/main" val="2734893811"/>
                    </a:ext>
                  </a:extLst>
                </a:gridCol>
                <a:gridCol w="264348">
                  <a:extLst>
                    <a:ext uri="{9D8B030D-6E8A-4147-A177-3AD203B41FA5}">
                      <a16:colId xmlns:a16="http://schemas.microsoft.com/office/drawing/2014/main" val="2712280795"/>
                    </a:ext>
                  </a:extLst>
                </a:gridCol>
                <a:gridCol w="264348">
                  <a:extLst>
                    <a:ext uri="{9D8B030D-6E8A-4147-A177-3AD203B41FA5}">
                      <a16:colId xmlns:a16="http://schemas.microsoft.com/office/drawing/2014/main" val="3119394832"/>
                    </a:ext>
                  </a:extLst>
                </a:gridCol>
                <a:gridCol w="264348">
                  <a:extLst>
                    <a:ext uri="{9D8B030D-6E8A-4147-A177-3AD203B41FA5}">
                      <a16:colId xmlns:a16="http://schemas.microsoft.com/office/drawing/2014/main" val="2629285816"/>
                    </a:ext>
                  </a:extLst>
                </a:gridCol>
                <a:gridCol w="264348">
                  <a:extLst>
                    <a:ext uri="{9D8B030D-6E8A-4147-A177-3AD203B41FA5}">
                      <a16:colId xmlns:a16="http://schemas.microsoft.com/office/drawing/2014/main" val="4188827024"/>
                    </a:ext>
                  </a:extLst>
                </a:gridCol>
                <a:gridCol w="264348">
                  <a:extLst>
                    <a:ext uri="{9D8B030D-6E8A-4147-A177-3AD203B41FA5}">
                      <a16:colId xmlns:a16="http://schemas.microsoft.com/office/drawing/2014/main" val="1727276767"/>
                    </a:ext>
                  </a:extLst>
                </a:gridCol>
                <a:gridCol w="264348">
                  <a:extLst>
                    <a:ext uri="{9D8B030D-6E8A-4147-A177-3AD203B41FA5}">
                      <a16:colId xmlns:a16="http://schemas.microsoft.com/office/drawing/2014/main" val="1543578413"/>
                    </a:ext>
                  </a:extLst>
                </a:gridCol>
              </a:tblGrid>
              <a:tr h="331391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141207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524523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505144"/>
                  </a:ext>
                </a:extLst>
              </a:tr>
              <a:tr h="331391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744332"/>
                  </a:ext>
                </a:extLst>
              </a:tr>
            </a:tbl>
          </a:graphicData>
        </a:graphic>
      </p:graphicFrame>
      <p:pic>
        <p:nvPicPr>
          <p:cNvPr id="53" name="Picture 5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C7C97849-A395-B707-B8EE-E94C99073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0" b="19792"/>
          <a:stretch/>
        </p:blipFill>
        <p:spPr>
          <a:xfrm>
            <a:off x="741735" y="3642888"/>
            <a:ext cx="4764832" cy="261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70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E5BF5-D58E-E94B-F4DF-93189FA6C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the arrays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4750B-5002-3710-8635-AA4543A0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int* </a:t>
            </a:r>
            <a:r>
              <a:rPr lang="en-US" dirty="0" err="1"/>
              <a:t>tenInts</a:t>
            </a:r>
            <a:r>
              <a:rPr lang="en-US" dirty="0"/>
              <a:t> = new int[10];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2F919-1E01-2EBF-57DB-61FD7010B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06" y="2257721"/>
            <a:ext cx="8291278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3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33F5E-B066-95B6-AE2A-3B5B4813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Remove Operation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29C02E77-3064-060D-27A9-A25934FE1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53" y="1675227"/>
            <a:ext cx="10339293" cy="43941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BC3FF0-105F-63A8-2821-0528D567B844}"/>
              </a:ext>
            </a:extLst>
          </p:cNvPr>
          <p:cNvSpPr txBox="1"/>
          <p:nvPr/>
        </p:nvSpPr>
        <p:spPr>
          <a:xfrm>
            <a:off x="6447454" y="3774233"/>
            <a:ext cx="466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intend to remove the first index from the array. How can we do that?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1031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33F5E-B066-95B6-AE2A-3B5B4813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Remove Operation</a:t>
            </a:r>
          </a:p>
        </p:txBody>
      </p:sp>
      <p:pic>
        <p:nvPicPr>
          <p:cNvPr id="7" name="Content Placeholder 6" descr="A number and question marks&#10;&#10;Description automatically generated with medium confidence">
            <a:extLst>
              <a:ext uri="{FF2B5EF4-FFF2-40B4-BE49-F238E27FC236}">
                <a16:creationId xmlns:a16="http://schemas.microsoft.com/office/drawing/2014/main" id="{00BC0839-7DC3-F42C-BFAF-F07850BD4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994" y="1547187"/>
            <a:ext cx="8862060" cy="166116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AB4DAB-B973-8004-05DC-708385EF91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99"/>
          <a:stretch/>
        </p:blipFill>
        <p:spPr>
          <a:xfrm>
            <a:off x="1486361" y="3429000"/>
            <a:ext cx="8878069" cy="829096"/>
          </a:xfrm>
          <a:prstGeom prst="rect">
            <a:avLst/>
          </a:prstGeom>
        </p:spPr>
      </p:pic>
      <p:pic>
        <p:nvPicPr>
          <p:cNvPr id="12" name="Picture 11" descr="A grey and pink rectangular object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81FA88CF-039A-DC79-9D44-4F8F5EAB1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994" y="4352575"/>
            <a:ext cx="8862060" cy="16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33F5E-B066-95B6-AE2A-3B5B4813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Remove Operation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01FA4E-999D-247E-D49B-4FECCC5DB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562" y="2301762"/>
            <a:ext cx="8817104" cy="86113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A18A2-A857-364A-5D8C-60735775D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183" y="3695104"/>
            <a:ext cx="8809483" cy="861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2A98DA-BE59-4954-9305-38A83FCE8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562" y="4922851"/>
            <a:ext cx="8809483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63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5868-E094-BEB5-F26A-480BC54C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 Operation</a:t>
            </a:r>
          </a:p>
        </p:txBody>
      </p:sp>
      <p:pic>
        <p:nvPicPr>
          <p:cNvPr id="9" name="Content Placeholder 8" descr="A screenshot of a computer">
            <a:extLst>
              <a:ext uri="{FF2B5EF4-FFF2-40B4-BE49-F238E27FC236}">
                <a16:creationId xmlns:a16="http://schemas.microsoft.com/office/drawing/2014/main" id="{DC7EB7F8-7BF6-8570-DCA0-C384E6362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93"/>
          <a:stretch/>
        </p:blipFill>
        <p:spPr>
          <a:xfrm>
            <a:off x="1063689" y="1996750"/>
            <a:ext cx="10263673" cy="38998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071C50-CC0F-61FE-AF51-32B1AC270733}"/>
              </a:ext>
            </a:extLst>
          </p:cNvPr>
          <p:cNvSpPr txBox="1"/>
          <p:nvPr/>
        </p:nvSpPr>
        <p:spPr>
          <a:xfrm>
            <a:off x="6848669" y="3778898"/>
            <a:ext cx="3732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intend to insert an element at 0 index.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8522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33F5E-B066-95B6-AE2A-3B5B4813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 Operation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EE955CE-D676-3020-5DCE-75708DC26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239" y="1528208"/>
            <a:ext cx="8847587" cy="1562235"/>
          </a:xfrm>
          <a:prstGeom prst="rect">
            <a:avLst/>
          </a:prstGeom>
        </p:spPr>
      </p:pic>
      <p:pic>
        <p:nvPicPr>
          <p:cNvPr id="11" name="Picture 10" descr="A close-up of a number&#10;&#10;Description automatically generated">
            <a:extLst>
              <a:ext uri="{FF2B5EF4-FFF2-40B4-BE49-F238E27FC236}">
                <a16:creationId xmlns:a16="http://schemas.microsoft.com/office/drawing/2014/main" id="{EEBD3C97-06B1-9BC3-101C-827F5B2EC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263" y="2986440"/>
            <a:ext cx="8847587" cy="1562235"/>
          </a:xfrm>
          <a:prstGeom prst="rect">
            <a:avLst/>
          </a:prstGeom>
        </p:spPr>
      </p:pic>
      <p:pic>
        <p:nvPicPr>
          <p:cNvPr id="14" name="Picture 13" descr="A pink and blue squares with black numbers&#10;&#10;Description automatically generated">
            <a:extLst>
              <a:ext uri="{FF2B5EF4-FFF2-40B4-BE49-F238E27FC236}">
                <a16:creationId xmlns:a16="http://schemas.microsoft.com/office/drawing/2014/main" id="{1C810322-35C3-EAC6-B38A-D1F64DB07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238" y="4644013"/>
            <a:ext cx="8847587" cy="156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60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33F5E-B066-95B6-AE2A-3B5B4813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Insert Operation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7B904-9EC8-A743-7776-A1A86FDBA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499" y="2545003"/>
            <a:ext cx="8779001" cy="883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F2BFF-E6FF-9304-5194-23F9FE2C1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499" y="4124650"/>
            <a:ext cx="8855207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46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6E1E-865D-E7EB-8D7D-408A9C69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do better?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756C9-7D09-0E6C-A4B9-FAE194359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way to store elements as a sequence even if they’re not physically next to each other on the computer memory </a:t>
            </a:r>
          </a:p>
          <a:p>
            <a:r>
              <a:rPr lang="en-US" dirty="0"/>
              <a:t>So, we can easily insert new elements into the list</a:t>
            </a:r>
          </a:p>
          <a:p>
            <a:r>
              <a:rPr lang="en-US" dirty="0"/>
              <a:t>So, we can easily remove elements from the list</a:t>
            </a:r>
          </a:p>
          <a:p>
            <a:r>
              <a:rPr lang="en-US" dirty="0"/>
              <a:t>So, we can easily resize the list (So we don’t have to mass copy elements and shift them over or shift them into a new block of memory)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19979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D82FF-19E1-6A20-7BF2-D71E3B90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83FE-97C1-C9AF-A2DA-1F0ABCA8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structures: sequential vs. linked</a:t>
            </a:r>
            <a:endParaRPr lang="LID4096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AE142-F034-04EB-9BE1-17ADADA86BE3}"/>
              </a:ext>
            </a:extLst>
          </p:cNvPr>
          <p:cNvSpPr txBox="1"/>
          <p:nvPr/>
        </p:nvSpPr>
        <p:spPr>
          <a:xfrm>
            <a:off x="1054510" y="1704976"/>
            <a:ext cx="4018935" cy="2092881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1"/>
                </a:solidFill>
              </a:rPr>
              <a:t>Sequential data structure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Put objects next to one another.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Machine: consecutive memory cells.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C++: array of objects.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Fixed size, arbitrary access.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3A7912-9B84-C082-A7A6-7DFDA4074BC2}"/>
              </a:ext>
            </a:extLst>
          </p:cNvPr>
          <p:cNvSpPr txBox="1"/>
          <p:nvPr/>
        </p:nvSpPr>
        <p:spPr>
          <a:xfrm>
            <a:off x="5950974" y="1704976"/>
            <a:ext cx="5186515" cy="295465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1"/>
                </a:solidFill>
              </a:rPr>
              <a:t>Linked data structure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Associate with each object a link to another one.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Machine: link is memory address of next object.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C++: link is pointer to next object.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Variable size, sequential access.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Overlooked by novice programmers.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Flexible, widely used method for organizing data.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34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FF5F-6052-B5F2-027E-20DB993D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linked list?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68881-6B6D-DC88-BCB4-D0BAD0599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linked list is a chain of nodes. </a:t>
            </a:r>
          </a:p>
          <a:p>
            <a:r>
              <a:rPr lang="en-US" dirty="0"/>
              <a:t>Each node contains two pieces of information: </a:t>
            </a:r>
          </a:p>
          <a:p>
            <a:pPr lvl="1"/>
            <a:r>
              <a:rPr lang="en-US" dirty="0"/>
              <a:t>Some piece of data that is stored in the sequence </a:t>
            </a:r>
          </a:p>
          <a:p>
            <a:pPr lvl="1"/>
            <a:r>
              <a:rPr lang="en-US" dirty="0"/>
              <a:t>A link to the next node in the list 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A1119-C3F3-7D99-719D-D63B9356DCE7}"/>
              </a:ext>
            </a:extLst>
          </p:cNvPr>
          <p:cNvSpPr txBox="1"/>
          <p:nvPr/>
        </p:nvSpPr>
        <p:spPr>
          <a:xfrm>
            <a:off x="1862513" y="4145452"/>
            <a:ext cx="2175178" cy="107721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F0AF27-65A1-50D7-2C94-8C509ADE77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267"/>
          <a:stretch/>
        </p:blipFill>
        <p:spPr>
          <a:xfrm>
            <a:off x="6587412" y="3506305"/>
            <a:ext cx="1198191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99A4-83E4-1F47-1D6C-A5AA5B4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node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B5FAF5-82E9-993D-6CF2-5AB8AABDA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623" y="1675227"/>
            <a:ext cx="655275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22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99A4-83E4-1F47-1D6C-A5AA5B4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a node that points to a node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150A08-C314-C432-173B-0F2299893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9717" y="2755316"/>
            <a:ext cx="5372566" cy="2491956"/>
          </a:xfrm>
        </p:spPr>
      </p:pic>
    </p:spTree>
    <p:extLst>
      <p:ext uri="{BB962C8B-B14F-4D97-AF65-F5344CB8AC3E}">
        <p14:creationId xmlns:p14="http://schemas.microsoft.com/office/powerpoint/2010/main" val="1827212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99A4-83E4-1F47-1D6C-A5AA5B4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a node that points to a node that points to a node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04D56C-F122-281C-7A65-D88AF38FBB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514" y="3006798"/>
            <a:ext cx="7292972" cy="1988992"/>
          </a:xfrm>
        </p:spPr>
      </p:pic>
    </p:spTree>
    <p:extLst>
      <p:ext uri="{BB962C8B-B14F-4D97-AF65-F5344CB8AC3E}">
        <p14:creationId xmlns:p14="http://schemas.microsoft.com/office/powerpoint/2010/main" val="1994697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B99A4-83E4-1F47-1D6C-A5AA5B4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a node that points to a node that points to a node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16B7B8-13A3-EAEE-F6B4-FA9E8C131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935"/>
          <a:stretch/>
        </p:blipFill>
        <p:spPr>
          <a:xfrm>
            <a:off x="1824620" y="2877246"/>
            <a:ext cx="7608629" cy="2248095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719A91-E70B-D24E-4EC3-7A3F3A8C6476}"/>
              </a:ext>
            </a:extLst>
          </p:cNvPr>
          <p:cNvSpPr/>
          <p:nvPr/>
        </p:nvSpPr>
        <p:spPr>
          <a:xfrm>
            <a:off x="9433249" y="3429000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Null Pointer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566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F428B-A471-8B8B-42DD-2D82BE40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linked list?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DD4B-264E-3488-F4CB-B9DCA14A9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flexible than arrays!</a:t>
            </a:r>
          </a:p>
          <a:p>
            <a:pPr lvl="1"/>
            <a:r>
              <a:rPr lang="en-US" dirty="0"/>
              <a:t>Since they’re not contiguous, they’re easier to rearrange.</a:t>
            </a:r>
          </a:p>
          <a:p>
            <a:r>
              <a:rPr lang="en-US" dirty="0"/>
              <a:t>We can </a:t>
            </a:r>
            <a:r>
              <a:rPr lang="en-US"/>
              <a:t>efficiently slice </a:t>
            </a:r>
            <a:r>
              <a:rPr lang="en-US" dirty="0"/>
              <a:t>new elements into the list or remove existing elements anywhere in the list. (We’ll see how shortly!)</a:t>
            </a:r>
          </a:p>
          <a:p>
            <a:r>
              <a:rPr lang="en-US" dirty="0"/>
              <a:t>We never have to do a massive copy step.</a:t>
            </a:r>
          </a:p>
          <a:p>
            <a:r>
              <a:rPr lang="en-US" dirty="0"/>
              <a:t>But linked lists still have many tradeoffs and are not always the best data structure!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22287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54E02-0964-49C6-03B9-72A3225C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Node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4CFFE9-F0C3-B69E-137D-0C99B644A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804" y="1675227"/>
            <a:ext cx="993039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5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54E02-0964-49C6-03B9-72A3225C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Node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B0968D-C968-E536-697A-EE5B5A2E9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699" y="1675227"/>
            <a:ext cx="955260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49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54E02-0964-49C6-03B9-72A3225C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Node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DA1E0B-17F7-2885-0A13-335852468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758" y="2202818"/>
            <a:ext cx="8588484" cy="3596952"/>
          </a:xfrm>
        </p:spPr>
      </p:pic>
    </p:spTree>
    <p:extLst>
      <p:ext uri="{BB962C8B-B14F-4D97-AF65-F5344CB8AC3E}">
        <p14:creationId xmlns:p14="http://schemas.microsoft.com/office/powerpoint/2010/main" val="2628645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54E02-0964-49C6-03B9-72A3225C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Node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D255BF-1D1A-5B5A-2AFC-A37CBC77A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4239" y="2248542"/>
            <a:ext cx="7643522" cy="3505504"/>
          </a:xfrm>
        </p:spPr>
      </p:pic>
    </p:spTree>
    <p:extLst>
      <p:ext uri="{BB962C8B-B14F-4D97-AF65-F5344CB8AC3E}">
        <p14:creationId xmlns:p14="http://schemas.microsoft.com/office/powerpoint/2010/main" val="548362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54E02-0964-49C6-03B9-72A3225C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Node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6D8547-D466-2F84-AE1F-95275EF15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9483"/>
          <a:stretch/>
        </p:blipFill>
        <p:spPr>
          <a:xfrm>
            <a:off x="643467" y="1691313"/>
            <a:ext cx="8780451" cy="43620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56C5272-A9AB-BB34-A74D-1722F7B51726}"/>
              </a:ext>
            </a:extLst>
          </p:cNvPr>
          <p:cNvSpPr/>
          <p:nvPr/>
        </p:nvSpPr>
        <p:spPr>
          <a:xfrm>
            <a:off x="9423918" y="2684164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Null Pointer</a:t>
            </a: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8160DC-B5E4-156E-7287-AFDCC5D420A8}"/>
              </a:ext>
            </a:extLst>
          </p:cNvPr>
          <p:cNvSpPr txBox="1"/>
          <p:nvPr/>
        </p:nvSpPr>
        <p:spPr>
          <a:xfrm>
            <a:off x="7007290" y="4973216"/>
            <a:ext cx="3825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an easier way. What?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46214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computer code and a computer code&#10;&#10;Description automatically generated with medium confidence">
            <a:extLst>
              <a:ext uri="{FF2B5EF4-FFF2-40B4-BE49-F238E27FC236}">
                <a16:creationId xmlns:a16="http://schemas.microsoft.com/office/drawing/2014/main" id="{5B096B01-BC24-9F14-DCC0-5E2C642AD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533" y="1638907"/>
            <a:ext cx="8458933" cy="3703641"/>
          </a:xfr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54E02-0964-49C6-03B9-72A3225C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Pointer to Node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6C5272-A9AB-BB34-A74D-1722F7B51726}"/>
              </a:ext>
            </a:extLst>
          </p:cNvPr>
          <p:cNvSpPr/>
          <p:nvPr/>
        </p:nvSpPr>
        <p:spPr>
          <a:xfrm>
            <a:off x="8840550" y="2441395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68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41A6-6455-3A95-C865-2FB3CAD4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Stack using Linked List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7976A-ECF6-2295-44E6-25BAFC644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You could do this with an array! This is just for the sake of getting practice with linked lists.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05754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E403-8A3C-7315-CD86-D2774EC5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as Linked List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87997-7E80-9864-6115-E808DE6B0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We’ll keep a pointer Node* top that points to the “top” element in our stack. </a:t>
            </a:r>
          </a:p>
          <a:p>
            <a:pPr lvl="1"/>
            <a:r>
              <a:rPr lang="en-US" dirty="0"/>
              <a:t>This member var will get initialized to </a:t>
            </a:r>
            <a:r>
              <a:rPr lang="en-US" dirty="0" err="1"/>
              <a:t>nullptr</a:t>
            </a:r>
            <a:r>
              <a:rPr lang="en-US" dirty="0"/>
              <a:t> when our stack is empty! </a:t>
            </a:r>
          </a:p>
          <a:p>
            <a:r>
              <a:rPr lang="en-US" dirty="0"/>
              <a:t>Our linked list nodes will be connected from the top to the bottom of our stack. </a:t>
            </a:r>
          </a:p>
          <a:p>
            <a:r>
              <a:rPr lang="en-US" dirty="0"/>
              <a:t>Our stack will specifically hold integers, so our Node struct will hold an int type for our data field: </a:t>
            </a:r>
          </a:p>
          <a:p>
            <a:pPr marL="3657600" lvl="8" indent="0">
              <a:buNone/>
            </a:pPr>
            <a:r>
              <a:rPr lang="en-US" sz="2400" dirty="0"/>
              <a:t>struct Node { </a:t>
            </a:r>
          </a:p>
          <a:p>
            <a:pPr marL="3657600" lvl="8" indent="0">
              <a:buNone/>
            </a:pPr>
            <a:r>
              <a:rPr lang="en-US" sz="2400" dirty="0"/>
              <a:t>int data; </a:t>
            </a:r>
          </a:p>
          <a:p>
            <a:pPr marL="3657600" lvl="8" indent="0">
              <a:buNone/>
            </a:pPr>
            <a:r>
              <a:rPr lang="en-US" sz="2400" dirty="0"/>
              <a:t>Node* next; }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72364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7C989-9F93-8049-02AB-B641DCEB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Operation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853A8-08C7-1A8D-3763-13A3434CB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</a:t>
            </a:r>
          </a:p>
          <a:p>
            <a:r>
              <a:rPr lang="en-US" dirty="0"/>
              <a:t>Pop</a:t>
            </a:r>
          </a:p>
          <a:p>
            <a:r>
              <a:rPr lang="en-US" dirty="0"/>
              <a:t>Destructor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3675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FCD30-00EB-F441-ADE6-1E74F7A7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C9FEC-1F83-8182-EEE6-92CE3F6C1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the following Stack we want to push to:</a:t>
            </a:r>
          </a:p>
          <a:p>
            <a:pPr lvl="1"/>
            <a:r>
              <a:rPr lang="en-US" dirty="0"/>
              <a:t>Stack </a:t>
            </a:r>
            <a:r>
              <a:rPr lang="en-US" dirty="0" err="1"/>
              <a:t>myStack</a:t>
            </a:r>
            <a:r>
              <a:rPr lang="en-US" dirty="0"/>
              <a:t> = {9, 8}; // 8 is at the "top" of the stack</a:t>
            </a:r>
          </a:p>
          <a:p>
            <a:pPr lvl="1"/>
            <a:r>
              <a:rPr lang="en-US" dirty="0" err="1"/>
              <a:t>myStack.push</a:t>
            </a:r>
            <a:r>
              <a:rPr lang="en-US" dirty="0"/>
              <a:t>(7); // we want the result to be {9, 8, 7}</a:t>
            </a:r>
          </a:p>
          <a:p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6085FE-D6EC-DD2B-8005-9DBE6A5F8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554" y="3662334"/>
            <a:ext cx="6287045" cy="19966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28D937-3F28-5D15-C3B1-7FFC0C5621B1}"/>
              </a:ext>
            </a:extLst>
          </p:cNvPr>
          <p:cNvSpPr/>
          <p:nvPr/>
        </p:nvSpPr>
        <p:spPr>
          <a:xfrm>
            <a:off x="7906136" y="4147457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Null Pointer</a:t>
            </a:r>
            <a:endParaRPr lang="en-P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833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2F20-4850-7F61-5E0F-E99E0D34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Code Push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B51F4-65D6-1F12-6E8B-7100D0F4C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6383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9B9D7-5196-07A6-EC1D-D76B35A9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Node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A8AE-82F5-933C-DC69-6EE13EA62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Node *temp = new Node; </a:t>
            </a:r>
          </a:p>
          <a:p>
            <a:pPr marL="0" indent="0">
              <a:buNone/>
            </a:pPr>
            <a:r>
              <a:rPr lang="en-US" dirty="0"/>
              <a:t>temp-&gt;data = 7;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4FCDF-6A3B-5587-E1DC-CD29C8F60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352" y="3809172"/>
            <a:ext cx="3528366" cy="1143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8F286C-E4A0-6DBF-124B-6B377FB1599F}"/>
              </a:ext>
            </a:extLst>
          </p:cNvPr>
          <p:cNvSpPr txBox="1"/>
          <p:nvPr/>
        </p:nvSpPr>
        <p:spPr>
          <a:xfrm>
            <a:off x="1548882" y="5087208"/>
            <a:ext cx="94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76417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5C19-314A-9CF1-26D4-CEEE3F0C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204B9-37A2-DB4C-5F15-17CB0AE26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Node *temp = new Node; </a:t>
            </a:r>
          </a:p>
          <a:p>
            <a:pPr marL="0" indent="0">
              <a:buNone/>
            </a:pPr>
            <a:r>
              <a:rPr lang="en-US" dirty="0"/>
              <a:t>temp-&gt;data = 7; </a:t>
            </a:r>
          </a:p>
          <a:p>
            <a:pPr marL="0" indent="0">
              <a:buNone/>
            </a:pPr>
            <a:r>
              <a:rPr lang="en-US" dirty="0"/>
              <a:t>temp-&gt;next = top; </a:t>
            </a:r>
          </a:p>
          <a:p>
            <a:pPr marL="0" indent="0">
              <a:buNone/>
            </a:pPr>
            <a:r>
              <a:rPr lang="en-US" dirty="0"/>
              <a:t>top = temp;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25797-9118-CBB3-4AF2-415E9A1B9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13" y="4001294"/>
            <a:ext cx="7331075" cy="20042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6DAED5-D520-EF0B-7523-9839D9043C0F}"/>
              </a:ext>
            </a:extLst>
          </p:cNvPr>
          <p:cNvSpPr/>
          <p:nvPr/>
        </p:nvSpPr>
        <p:spPr>
          <a:xfrm>
            <a:off x="8696210" y="4419485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686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15CD-4AB0-914E-166F-E6769F89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33FF-56A4-1148-0062-0E4BDF187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want to remove the top value: ... </a:t>
            </a:r>
          </a:p>
          <a:p>
            <a:r>
              <a:rPr lang="en-US" dirty="0" err="1"/>
              <a:t>myStack.pop</a:t>
            </a:r>
            <a:r>
              <a:rPr lang="en-US" dirty="0"/>
              <a:t>(); // we want the result to be {9, 8} </a:t>
            </a:r>
          </a:p>
          <a:p>
            <a:endParaRPr lang="en-PK" dirty="0"/>
          </a:p>
        </p:txBody>
      </p:sp>
      <p:pic>
        <p:nvPicPr>
          <p:cNvPr id="5" name="Picture 4" descr="A diagram of a bag and a bottle of beer&#10;&#10;Description automatically generated">
            <a:extLst>
              <a:ext uri="{FF2B5EF4-FFF2-40B4-BE49-F238E27FC236}">
                <a16:creationId xmlns:a16="http://schemas.microsoft.com/office/drawing/2014/main" id="{7AF36DCA-52DD-CA72-A9B6-9372FB26E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785" y="3429000"/>
            <a:ext cx="7917866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481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2F20-4850-7F61-5E0F-E99E0D34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</a:t>
            </a:r>
            <a:r>
              <a:rPr lang="en-US"/>
              <a:t>Code Pop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B51F4-65D6-1F12-6E8B-7100D0F4C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9565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2367C-63FC-F6BB-6BCD-E4875145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B059-9D09-ADB0-C7E0-3D969BBD8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Node* temp = top;</a:t>
            </a:r>
          </a:p>
          <a:p>
            <a:pPr marL="0" indent="0">
              <a:buNone/>
            </a:pPr>
            <a:r>
              <a:rPr lang="en-US" dirty="0"/>
              <a:t>top = top-&gt;next;</a:t>
            </a:r>
          </a:p>
          <a:p>
            <a:pPr marL="0" indent="0">
              <a:buNone/>
            </a:pPr>
            <a:r>
              <a:rPr lang="en-US" dirty="0"/>
              <a:t>delete temp;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7671C-6082-B12E-CF41-A6F8E4435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18" y="3821345"/>
            <a:ext cx="7453006" cy="19585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5780D0-808E-DA6C-8C5E-A7F41A202945}"/>
              </a:ext>
            </a:extLst>
          </p:cNvPr>
          <p:cNvSpPr/>
          <p:nvPr/>
        </p:nvSpPr>
        <p:spPr>
          <a:xfrm>
            <a:off x="9066724" y="4288856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228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F3FD-4918-51F3-91AE-72D46ED2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0139A-F16F-BA08-CC47-19843F196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to make sure we delete all of the Nodes.</a:t>
            </a:r>
          </a:p>
          <a:p>
            <a:r>
              <a:rPr lang="en-US" dirty="0"/>
              <a:t>The top pointer should be </a:t>
            </a:r>
            <a:r>
              <a:rPr lang="en-US" dirty="0" err="1"/>
              <a:t>nullptr</a:t>
            </a:r>
            <a:r>
              <a:rPr lang="en-US" dirty="0"/>
              <a:t> when we’re done.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77411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1A75-278F-0E2A-C00F-E5B437A71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Code Destructor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36D2A-0CE8-BE8F-1552-C84C5B23E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45577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D6A5-8AF7-8A72-FB85-5A9A4C39D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the code?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B8549F-AD3A-91AD-F88D-37FBE3FCC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4420" y="1825625"/>
            <a:ext cx="5783159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8A2016-2EFD-2085-24CA-198E6D25FB75}"/>
              </a:ext>
            </a:extLst>
          </p:cNvPr>
          <p:cNvSpPr/>
          <p:nvPr/>
        </p:nvSpPr>
        <p:spPr>
          <a:xfrm>
            <a:off x="8987579" y="4960660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812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5F6E-6C0A-FB4C-4536-E7FA7778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Freeing Memory the Correct Way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E8D8C-DDE8-9C35-1778-1A66B2BF3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63"/>
          <a:stretch/>
        </p:blipFill>
        <p:spPr>
          <a:xfrm>
            <a:off x="3035132" y="1825625"/>
            <a:ext cx="6099537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EE052E-9283-8258-A35E-60C0F851915E}"/>
              </a:ext>
            </a:extLst>
          </p:cNvPr>
          <p:cNvSpPr/>
          <p:nvPr/>
        </p:nvSpPr>
        <p:spPr>
          <a:xfrm>
            <a:off x="9156868" y="5007314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411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92AFB-E479-689D-9B17-82F99F3DE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530" y="1055164"/>
            <a:ext cx="6690940" cy="47476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D2D94C-AB84-E92D-8173-18E0AC919623}"/>
              </a:ext>
            </a:extLst>
          </p:cNvPr>
          <p:cNvSpPr/>
          <p:nvPr/>
        </p:nvSpPr>
        <p:spPr>
          <a:xfrm>
            <a:off x="9441470" y="4559444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7827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E2A404-7347-2C7E-A114-C7813C194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235" y="1047543"/>
            <a:ext cx="5875529" cy="47629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82ED7D-FFB6-025B-8154-0D73BC98029B}"/>
              </a:ext>
            </a:extLst>
          </p:cNvPr>
          <p:cNvSpPr/>
          <p:nvPr/>
        </p:nvSpPr>
        <p:spPr>
          <a:xfrm>
            <a:off x="9033764" y="4494130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3701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3CFE3-139A-16A5-A86F-795FAADCA8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78"/>
          <a:stretch/>
        </p:blipFill>
        <p:spPr>
          <a:xfrm>
            <a:off x="3047736" y="1058975"/>
            <a:ext cx="6096528" cy="46700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01B655-40A0-9FD9-3D34-A87499BF9B1D}"/>
              </a:ext>
            </a:extLst>
          </p:cNvPr>
          <p:cNvSpPr/>
          <p:nvPr/>
        </p:nvSpPr>
        <p:spPr>
          <a:xfrm>
            <a:off x="9144264" y="4531452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7876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45736-F871-3C32-3559-38747E9D7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73" y="1047543"/>
            <a:ext cx="5921253" cy="47629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9EA4FE-A320-7BE9-40C4-26B594F1E3A9}"/>
              </a:ext>
            </a:extLst>
          </p:cNvPr>
          <p:cNvSpPr/>
          <p:nvPr/>
        </p:nvSpPr>
        <p:spPr>
          <a:xfrm>
            <a:off x="9056626" y="4559444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9508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B338A-82FD-EBB5-A220-F31D77594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580" y="1078026"/>
            <a:ext cx="5768840" cy="47019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4C44A6-E2FA-8FF3-FE32-D2030217AB57}"/>
              </a:ext>
            </a:extLst>
          </p:cNvPr>
          <p:cNvSpPr/>
          <p:nvPr/>
        </p:nvSpPr>
        <p:spPr>
          <a:xfrm>
            <a:off x="8980420" y="4512791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807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B4F53-AF20-AEF8-02B7-16CEBAD4E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252" y="1062785"/>
            <a:ext cx="5715495" cy="47324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A7B86C-7A97-C2EE-BEDF-6BDB1E352FBE}"/>
              </a:ext>
            </a:extLst>
          </p:cNvPr>
          <p:cNvSpPr/>
          <p:nvPr/>
        </p:nvSpPr>
        <p:spPr>
          <a:xfrm>
            <a:off x="8953747" y="4578105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723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409C0-4FAD-DBC0-05CA-0C3F83CB8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080" y="1074216"/>
            <a:ext cx="5989839" cy="47095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0080E4-2ADD-52E3-95B4-A10447059F1A}"/>
              </a:ext>
            </a:extLst>
          </p:cNvPr>
          <p:cNvSpPr/>
          <p:nvPr/>
        </p:nvSpPr>
        <p:spPr>
          <a:xfrm>
            <a:off x="9090919" y="4494129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6418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8261FC-BA23-1628-C1FC-C3D581C04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821" y="1093267"/>
            <a:ext cx="5738357" cy="46714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D71A96-B80D-BE1F-A029-F5D0A5321C3C}"/>
              </a:ext>
            </a:extLst>
          </p:cNvPr>
          <p:cNvSpPr/>
          <p:nvPr/>
        </p:nvSpPr>
        <p:spPr>
          <a:xfrm>
            <a:off x="8965178" y="4540783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996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00E2A7-FBB7-1DB7-EB4C-53795E8E6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924" y="1062785"/>
            <a:ext cx="5662151" cy="47324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C1BD38-708A-DCF2-4F2E-3A2FEE85AC5B}"/>
              </a:ext>
            </a:extLst>
          </p:cNvPr>
          <p:cNvSpPr/>
          <p:nvPr/>
        </p:nvSpPr>
        <p:spPr>
          <a:xfrm>
            <a:off x="8927075" y="4559444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4683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ED056FC2-1331-4EAF-9876-CF8F0FD6D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996" y="1093267"/>
            <a:ext cx="7232007" cy="46714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FF314CD-AA6E-066C-3860-9577F4246051}"/>
              </a:ext>
            </a:extLst>
          </p:cNvPr>
          <p:cNvSpPr/>
          <p:nvPr/>
        </p:nvSpPr>
        <p:spPr>
          <a:xfrm>
            <a:off x="8251798" y="4522121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3009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code with a black and white image&#10;&#10;Description automatically generated with medium confidence">
            <a:extLst>
              <a:ext uri="{FF2B5EF4-FFF2-40B4-BE49-F238E27FC236}">
                <a16:creationId xmlns:a16="http://schemas.microsoft.com/office/drawing/2014/main" id="{69DBCE58-62BE-DE68-DF83-973BBC34A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582" y="1222819"/>
            <a:ext cx="7094835" cy="44123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C7DEA0-66DD-391A-3101-42CEA47BC1CF}"/>
              </a:ext>
            </a:extLst>
          </p:cNvPr>
          <p:cNvSpPr/>
          <p:nvPr/>
        </p:nvSpPr>
        <p:spPr>
          <a:xfrm>
            <a:off x="8383784" y="4727396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465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ack and white text&#10;&#10;Description automatically generated">
            <a:extLst>
              <a:ext uri="{FF2B5EF4-FFF2-40B4-BE49-F238E27FC236}">
                <a16:creationId xmlns:a16="http://schemas.microsoft.com/office/drawing/2014/main" id="{F14A0475-B123-F70D-8868-745F834BD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34" y="1306646"/>
            <a:ext cx="7277731" cy="42447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5A965D-F380-D6A1-CD9A-BFC6A9630A65}"/>
              </a:ext>
            </a:extLst>
          </p:cNvPr>
          <p:cNvSpPr/>
          <p:nvPr/>
        </p:nvSpPr>
        <p:spPr>
          <a:xfrm>
            <a:off x="8382427" y="4727395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7135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DF069-EEEC-FB9F-1E14-E64443A54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838" y="1306646"/>
            <a:ext cx="5578323" cy="42447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52CF83-375B-24A2-4BDA-96C128E0D97A}"/>
              </a:ext>
            </a:extLst>
          </p:cNvPr>
          <p:cNvSpPr/>
          <p:nvPr/>
        </p:nvSpPr>
        <p:spPr>
          <a:xfrm>
            <a:off x="8885161" y="4806518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6503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64D1-0FCB-2264-5ACF-AD3847D5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List Function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F09061-5127-0395-87EE-82A00BF6E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0479" y="1958957"/>
            <a:ext cx="7171041" cy="408467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20022E-2392-0C22-2203-8C0CB5542FB5}"/>
              </a:ext>
            </a:extLst>
          </p:cNvPr>
          <p:cNvSpPr/>
          <p:nvPr/>
        </p:nvSpPr>
        <p:spPr>
          <a:xfrm>
            <a:off x="9681520" y="4774048"/>
            <a:ext cx="1259633" cy="7448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 Pointer</a:t>
            </a:r>
            <a:endParaRPr kumimoji="0" lang="en-P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397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15920</TotalTime>
  <Words>832</Words>
  <Application>Microsoft Office PowerPoint</Application>
  <PresentationFormat>Widescreen</PresentationFormat>
  <Paragraphs>134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Calibri Light</vt:lpstr>
      <vt:lpstr>Consolas</vt:lpstr>
      <vt:lpstr>Office Theme</vt:lpstr>
      <vt:lpstr>Introduction to Programming</vt:lpstr>
      <vt:lpstr>Data types and data structures</vt:lpstr>
      <vt:lpstr>Problem with the arrays</vt:lpstr>
      <vt:lpstr>Remove Operation</vt:lpstr>
      <vt:lpstr>Remove Operation</vt:lpstr>
      <vt:lpstr>Remove Operation</vt:lpstr>
      <vt:lpstr>Insert Operation</vt:lpstr>
      <vt:lpstr>Insert Operation</vt:lpstr>
      <vt:lpstr>Insert Operation</vt:lpstr>
      <vt:lpstr>Can we do better?</vt:lpstr>
      <vt:lpstr>Data structures: sequential vs. linked</vt:lpstr>
      <vt:lpstr>What is linked list?</vt:lpstr>
      <vt:lpstr>Pointer to node</vt:lpstr>
      <vt:lpstr>Pointer to a node that points to a node</vt:lpstr>
      <vt:lpstr>Pointer to a node that points to a node that points to a node</vt:lpstr>
      <vt:lpstr>Pointer to a node that points to a node that points to a node</vt:lpstr>
      <vt:lpstr>Why use linked list?</vt:lpstr>
      <vt:lpstr>Pointer to Node</vt:lpstr>
      <vt:lpstr>Pointer to Node</vt:lpstr>
      <vt:lpstr>Pointer to Node</vt:lpstr>
      <vt:lpstr>Pointer to Node</vt:lpstr>
      <vt:lpstr>Pointer to Node</vt:lpstr>
      <vt:lpstr>Pointer to Node</vt:lpstr>
      <vt:lpstr>Implementing Stack using Linked List</vt:lpstr>
      <vt:lpstr>Stack as Linked List</vt:lpstr>
      <vt:lpstr>Three Operation</vt:lpstr>
      <vt:lpstr>Push</vt:lpstr>
      <vt:lpstr>Lets Code Push</vt:lpstr>
      <vt:lpstr>New Node</vt:lpstr>
      <vt:lpstr>Push</vt:lpstr>
      <vt:lpstr>Pop</vt:lpstr>
      <vt:lpstr>Lets Code Pop</vt:lpstr>
      <vt:lpstr>Pop</vt:lpstr>
      <vt:lpstr>Destructor</vt:lpstr>
      <vt:lpstr>Lets Code Destructor</vt:lpstr>
      <vt:lpstr>What is wrong with the code?</vt:lpstr>
      <vt:lpstr>Freeing Memory the Correct 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Printing List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Imran Rauf</dc:creator>
  <cp:lastModifiedBy>Maria Rahim Khowaja / Lecturer</cp:lastModifiedBy>
  <cp:revision>1031</cp:revision>
  <dcterms:created xsi:type="dcterms:W3CDTF">2023-08-23T19:46:54Z</dcterms:created>
  <dcterms:modified xsi:type="dcterms:W3CDTF">2024-12-04T10:50:09Z</dcterms:modified>
</cp:coreProperties>
</file>