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B4BC-5523-6B15-E379-9D440B47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5498A-9F1B-6472-F519-710C8C9E6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2F0FC-0AA9-8136-10E0-988D9210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C1CA-0711-850D-5183-A2B5A213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7137-DAE9-F53F-3928-0DAE159E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402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8FB6-9C6A-F2BD-6645-56D63385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D5916-DB56-3126-E08A-67B9C229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7D3A2-2C6B-F220-0DE2-9B5C45FB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012E-03D3-4F84-BD86-3182884B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40CDA-08A8-25C9-7297-05C2A67E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7941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68DC-6682-82D9-962D-035F7D32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65487-DC41-AAD6-069E-90A856550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E8284-1A15-F0BC-8397-CD51B490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893AF-8BEC-AE33-ECEA-BB06A731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F6908-FF3F-F647-EACB-D579D785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025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6D56-7FFB-4395-2EAE-ED2F7AB9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4702-43E3-2BCF-BC3A-243818AFC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050C7-B43B-1479-7A6D-930D37AF6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A581E-2932-1221-6837-84D3BBB0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42CD-9E35-5A28-DB43-BA1B0FFE9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2A5E5-B8E6-13FB-12FC-F3D17D09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6530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D583-DB59-9544-613C-A1399769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AB85D-86CC-130D-C73F-621488E2D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001A8-0867-70EE-F388-A6781857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61077-609E-F8EB-8394-BE4CEDE64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35E47-CD8C-DB62-FD58-1EEF1602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1C7D4-9A0D-DB05-F459-9A05E934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4244C-8711-3475-2C24-B68828AF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720E4-06AC-D540-526F-8C8A26FF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5267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6F68-FA65-13A7-E538-86D1C890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EB2FD-6FF5-9190-F51D-A2B20E81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E5D0B-E530-1D35-E485-E3C11586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7CE04-5E37-1D2C-C5A6-EF62A94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950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A3DA80-AF75-88CC-15E0-1E5BDEE9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51D2A-1D2C-B7FC-A6F5-5CDA8DC6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E0DF3-51D1-71EB-ED76-1AB58147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423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47C7-DE01-6A7A-312D-4D28D27B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546E-840F-9AF8-2F81-CA4BE9DE9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E75C5-AB6D-14EF-A652-A55984E3B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FC8BD-2F12-5C44-0FC5-ABC9121D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E7D24-0E6F-B0D5-0D71-D95C68F1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03AAF-817F-139F-90B1-20FC95BB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40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B2E5-7085-FB75-D49F-F337DF77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D0CC7-AF0E-1711-DB56-74A343DAC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7E1F3-91E0-7B84-0605-A920031DE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04610-A74D-DC1A-BA25-94B156EA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83477-02EC-84FF-5133-4C9D85B7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DB61-9795-C268-8DDE-B6C6739B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391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2711-E1BD-6B80-C858-0A311024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84959-1478-670C-C72E-9C8B0460F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B284-709D-1F57-4302-A7529E77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DA95-CD40-59DB-4CFB-7C233183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CB741-BA71-0A15-D65A-6E8BC96DC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547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53C39-7EA2-3767-E74B-B5DEA81E4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AC98A-EAC6-73E0-715D-E8DB9B0DD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9B47-A405-4629-6DC4-DB23D8A3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816A-9DF9-75D2-9412-D000F9B5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E42E3-AC87-BCB8-7238-01472917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3938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1EC87-6256-86F0-014E-BDF9F92A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6D71-80AA-6129-8460-409B3C6C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10D4-AD59-D4C1-A2FF-26767DAA3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0094E-B332-4D10-94A6-BABBC3B412D6}" type="datetimeFigureOut">
              <a:rPr lang="en-PK" smtClean="0"/>
              <a:t>24/10/2024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BEF30-1C2F-B788-8AB2-B46802B72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DCA6-2752-1710-7943-3D916DA7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309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C376-99DE-09E1-E01C-4FB0711BF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381C0-77CB-CA7A-41E6-36675421F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600" b="1" i="1" dirty="0">
                <a:latin typeface="+mj-lt"/>
              </a:rPr>
              <a:t>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9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346D1-F04A-29F1-CCE6-DE0A52A5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2E3CC-DD83-95B1-970D-223B6D3C8060}"/>
              </a:ext>
            </a:extLst>
          </p:cNvPr>
          <p:cNvSpPr txBox="1"/>
          <p:nvPr/>
        </p:nvSpPr>
        <p:spPr>
          <a:xfrm>
            <a:off x="838200" y="1455575"/>
            <a:ext cx="5329985" cy="1323439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C++ functions (aka methods)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Takes zero or more input arguments.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Returns zero or one output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May cause side effects (e.g., output to screen).</a:t>
            </a:r>
            <a:endParaRPr lang="en-PK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D7A0E-79ED-22E8-3BBC-19F1A6667E13}"/>
              </a:ext>
            </a:extLst>
          </p:cNvPr>
          <p:cNvSpPr txBox="1"/>
          <p:nvPr/>
        </p:nvSpPr>
        <p:spPr>
          <a:xfrm>
            <a:off x="838200" y="3202064"/>
            <a:ext cx="6702476" cy="1323439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Scientists use mathematical functions to calculate formulas.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Programmers use functions to build modular programs.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use functions for both.</a:t>
            </a:r>
            <a:endParaRPr lang="en-P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1FD2D-1976-BF0D-CD67-9683ABC2F32D}"/>
              </a:ext>
            </a:extLst>
          </p:cNvPr>
          <p:cNvSpPr txBox="1"/>
          <p:nvPr/>
        </p:nvSpPr>
        <p:spPr>
          <a:xfrm>
            <a:off x="838199" y="4940665"/>
            <a:ext cx="7565469" cy="1323439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Examples seen so far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Standard library: </a:t>
            </a:r>
            <a:r>
              <a:rPr lang="en-US" dirty="0">
                <a:latin typeface="Consolas" panose="020B0609020204030204" pitchFamily="49" charset="0"/>
              </a:rPr>
              <a:t>rand(), abs(), </a:t>
            </a:r>
            <a:r>
              <a:rPr lang="en-US" dirty="0" err="1">
                <a:latin typeface="Consolas" panose="020B0609020204030204" pitchFamily="49" charset="0"/>
              </a:rPr>
              <a:t>to_string</a:t>
            </a:r>
            <a:r>
              <a:rPr lang="en-US" dirty="0">
                <a:latin typeface="Consolas" panose="020B0609020204030204" pitchFamily="49" charset="0"/>
              </a:rPr>
              <a:t>(), max(), min()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raylib</a:t>
            </a:r>
            <a:r>
              <a:rPr lang="en-US" sz="2000" dirty="0"/>
              <a:t>: </a:t>
            </a:r>
            <a:r>
              <a:rPr lang="en-US" dirty="0" err="1">
                <a:latin typeface="Consolas" panose="020B0609020204030204" pitchFamily="49" charset="0"/>
              </a:rPr>
              <a:t>DrawLine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DrawRectangle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DrawText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User-defined functions: </a:t>
            </a:r>
            <a:r>
              <a:rPr lang="en-US" dirty="0">
                <a:latin typeface="Consolas" panose="020B0609020204030204" pitchFamily="49" charset="0"/>
              </a:rPr>
              <a:t>main()</a:t>
            </a:r>
            <a:endParaRPr lang="en-PK" dirty="0">
              <a:latin typeface="Consolas" panose="020B0609020204030204" pitchFamily="49" charset="0"/>
            </a:endParaRPr>
          </a:p>
        </p:txBody>
      </p:sp>
      <p:pic>
        <p:nvPicPr>
          <p:cNvPr id="11" name="Picture 10" descr="A diagram of function&#10;&#10;Description automatically generated">
            <a:extLst>
              <a:ext uri="{FF2B5EF4-FFF2-40B4-BE49-F238E27FC236}">
                <a16:creationId xmlns:a16="http://schemas.microsoft.com/office/drawing/2014/main" id="{FBBDC902-21AF-2C58-C07C-A7C6B431F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718" y="1486718"/>
            <a:ext cx="3589331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1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Anatomy of a C++ method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4DA0A0-F630-B79C-25FA-7B8379645EF0}"/>
              </a:ext>
            </a:extLst>
          </p:cNvPr>
          <p:cNvSpPr txBox="1"/>
          <p:nvPr/>
        </p:nvSpPr>
        <p:spPr>
          <a:xfrm>
            <a:off x="502295" y="1547980"/>
            <a:ext cx="4559774" cy="193899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To define a function (method)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Create a </a:t>
            </a:r>
            <a:r>
              <a:rPr lang="en-US" sz="2000" i="1" dirty="0"/>
              <a:t>name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Declare type and name of </a:t>
            </a:r>
            <a:r>
              <a:rPr lang="en-US" sz="2000" i="1" dirty="0"/>
              <a:t>argument(s)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Specify type for </a:t>
            </a:r>
            <a:r>
              <a:rPr lang="en-US" sz="2000" i="1" dirty="0"/>
              <a:t>return value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Implement </a:t>
            </a:r>
            <a:r>
              <a:rPr lang="en-US" sz="2000" i="1" dirty="0"/>
              <a:t>body</a:t>
            </a:r>
            <a:r>
              <a:rPr lang="en-US" sz="2000" dirty="0"/>
              <a:t> of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Finish with </a:t>
            </a:r>
            <a:r>
              <a:rPr lang="en-US" sz="2000" i="1" dirty="0"/>
              <a:t>return</a:t>
            </a:r>
            <a:r>
              <a:rPr lang="en-US" sz="2000" dirty="0"/>
              <a:t> statement.</a:t>
            </a:r>
            <a:endParaRPr lang="en-PK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5344879" y="3716092"/>
            <a:ext cx="6375699" cy="25068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 factorial(int n) {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int result = 1;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nn-NO" dirty="0">
                <a:latin typeface="Consolas" panose="020B0609020204030204" pitchFamily="49" charset="0"/>
              </a:rPr>
              <a:t>for(int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result *=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return result; </a:t>
            </a:r>
          </a:p>
          <a:p>
            <a:r>
              <a:rPr lang="en-US" dirty="0">
                <a:latin typeface="Consolas" panose="020B0609020204030204" pitchFamily="49" charset="0"/>
              </a:rPr>
              <a:t>}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B810B-11B8-DC93-69C3-A77D71669B65}"/>
              </a:ext>
            </a:extLst>
          </p:cNvPr>
          <p:cNvSpPr txBox="1"/>
          <p:nvPr/>
        </p:nvSpPr>
        <p:spPr>
          <a:xfrm>
            <a:off x="3053987" y="3814475"/>
            <a:ext cx="2092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the method’s signature</a:t>
            </a:r>
            <a:endParaRPr lang="en-PK" sz="16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3BF2A-DAD0-87E7-0BE7-977C14747F41}"/>
              </a:ext>
            </a:extLst>
          </p:cNvPr>
          <p:cNvSpPr txBox="1"/>
          <p:nvPr/>
        </p:nvSpPr>
        <p:spPr>
          <a:xfrm>
            <a:off x="7473262" y="2914662"/>
            <a:ext cx="1239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argument declarations</a:t>
            </a:r>
            <a:endParaRPr lang="en-PK" sz="1600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D2B8E-2145-307E-5BAE-6CAE6F010162}"/>
              </a:ext>
            </a:extLst>
          </p:cNvPr>
          <p:cNvSpPr txBox="1"/>
          <p:nvPr/>
        </p:nvSpPr>
        <p:spPr>
          <a:xfrm>
            <a:off x="6236610" y="2970157"/>
            <a:ext cx="884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method name</a:t>
            </a:r>
            <a:endParaRPr lang="en-PK" sz="1600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D888C5-42BA-59ED-960E-F4D6807111D7}"/>
              </a:ext>
            </a:extLst>
          </p:cNvPr>
          <p:cNvSpPr txBox="1"/>
          <p:nvPr/>
        </p:nvSpPr>
        <p:spPr>
          <a:xfrm>
            <a:off x="5375982" y="2960827"/>
            <a:ext cx="732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return type</a:t>
            </a:r>
            <a:endParaRPr lang="en-PK" sz="1600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2716A6-9E7A-CAE0-E55C-31C76D1272DB}"/>
              </a:ext>
            </a:extLst>
          </p:cNvPr>
          <p:cNvSpPr txBox="1"/>
          <p:nvPr/>
        </p:nvSpPr>
        <p:spPr>
          <a:xfrm>
            <a:off x="3444086" y="5753278"/>
            <a:ext cx="16487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return statement</a:t>
            </a:r>
            <a:endParaRPr lang="en-PK" sz="1600" dirty="0">
              <a:solidFill>
                <a:schemeClr val="accent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91667E-51E4-7C5E-E02C-1543A11D2EA9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146163" y="3983752"/>
            <a:ext cx="293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1E46BC-8E39-00F1-60F8-74DA3D764447}"/>
              </a:ext>
            </a:extLst>
          </p:cNvPr>
          <p:cNvCxnSpPr>
            <a:cxnSpLocks/>
          </p:cNvCxnSpPr>
          <p:nvPr/>
        </p:nvCxnSpPr>
        <p:spPr>
          <a:xfrm>
            <a:off x="5146163" y="5922555"/>
            <a:ext cx="7229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678DDD-9D51-1EBB-0B9C-ED9C41D9C8B5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742315" y="3545602"/>
            <a:ext cx="0" cy="268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97C32D-F257-944A-7C6C-166D19795E5E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678983" y="3554932"/>
            <a:ext cx="0" cy="268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37C536-BD7E-C3EB-8B46-82A4176D04E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558597" y="3499437"/>
            <a:ext cx="534656" cy="36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6C1B059-58B9-E08D-0E06-8F44FF58E15D}"/>
              </a:ext>
            </a:extLst>
          </p:cNvPr>
          <p:cNvSpPr/>
          <p:nvPr/>
        </p:nvSpPr>
        <p:spPr>
          <a:xfrm>
            <a:off x="5742314" y="4399251"/>
            <a:ext cx="4707969" cy="1972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CB8DDF-8280-AE05-8FF5-DEAD461D7DB3}"/>
              </a:ext>
            </a:extLst>
          </p:cNvPr>
          <p:cNvSpPr txBox="1"/>
          <p:nvPr/>
        </p:nvSpPr>
        <p:spPr>
          <a:xfrm>
            <a:off x="10719415" y="5216223"/>
            <a:ext cx="1018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body </a:t>
            </a:r>
            <a:endParaRPr lang="en-PK" sz="1600" dirty="0">
              <a:solidFill>
                <a:schemeClr val="accent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A5B0326-8BC7-E2D4-B518-60EB585CE644}"/>
              </a:ext>
            </a:extLst>
          </p:cNvPr>
          <p:cNvCxnSpPr>
            <a:cxnSpLocks/>
            <a:endCxn id="28" idx="3"/>
          </p:cNvCxnSpPr>
          <p:nvPr/>
        </p:nvCxnSpPr>
        <p:spPr>
          <a:xfrm flipH="1">
            <a:off x="10450283" y="5385500"/>
            <a:ext cx="25203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14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 declaration and definition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5960702" y="3100272"/>
            <a:ext cx="5096074" cy="25068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 factorial(int n) 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int result = 1;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nn-NO" dirty="0">
                <a:latin typeface="Consolas" panose="020B0609020204030204" pitchFamily="49" charset="0"/>
              </a:rPr>
              <a:t>for(int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result *=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return result; </a:t>
            </a:r>
          </a:p>
          <a:p>
            <a:r>
              <a:rPr lang="en-US" dirty="0">
                <a:latin typeface="Consolas" panose="020B0609020204030204" pitchFamily="49" charset="0"/>
              </a:rPr>
              <a:t>} 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89688-AB8E-2E0E-7F96-A4DDB3DD3076}"/>
              </a:ext>
            </a:extLst>
          </p:cNvPr>
          <p:cNvSpPr txBox="1"/>
          <p:nvPr/>
        </p:nvSpPr>
        <p:spPr>
          <a:xfrm>
            <a:off x="838200" y="3139008"/>
            <a:ext cx="4946780" cy="56781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 factorial(int n);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9E596-BD30-2F32-1DF6-162BFE78554E}"/>
              </a:ext>
            </a:extLst>
          </p:cNvPr>
          <p:cNvSpPr txBox="1"/>
          <p:nvPr/>
        </p:nvSpPr>
        <p:spPr>
          <a:xfrm>
            <a:off x="838200" y="2738898"/>
            <a:ext cx="2831609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Function declaration only</a:t>
            </a:r>
            <a:endParaRPr lang="en-P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C1B3F2-4394-FD1C-5DA1-B2EFA0F60B0E}"/>
              </a:ext>
            </a:extLst>
          </p:cNvPr>
          <p:cNvSpPr txBox="1"/>
          <p:nvPr/>
        </p:nvSpPr>
        <p:spPr>
          <a:xfrm>
            <a:off x="5960702" y="2738898"/>
            <a:ext cx="3845668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Function declaration and definition</a:t>
            </a:r>
            <a:endParaRPr lang="en-PK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546431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In C++, a function need to be declared before use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34246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231F-E287-E722-3256-FB07078C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Flow of Control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609AE-3E94-53D3-FCAC-AC6E9188391E}"/>
              </a:ext>
            </a:extLst>
          </p:cNvPr>
          <p:cNvSpPr txBox="1"/>
          <p:nvPr/>
        </p:nvSpPr>
        <p:spPr>
          <a:xfrm>
            <a:off x="1295399" y="1999257"/>
            <a:ext cx="9752045" cy="475090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80000" tIns="36000" rIns="36000" bIns="36000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Using namespace std;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int factorial(int n)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int result = 1;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nn-NO" sz="1600" dirty="0">
                <a:latin typeface="Consolas" panose="020B0609020204030204" pitchFamily="49" charset="0"/>
              </a:rPr>
              <a:t>for(int i = 1; i &lt;= n; i++)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result *=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return result;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 	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int main() {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int number;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"Enter a number: ";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</a:rPr>
              <a:t> &gt;&gt; number;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"Factorial of " &lt;&lt; number &lt;&lt; " is " &lt;&lt; factorial(number)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    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19884-25CC-4680-79CB-113BDE6172B9}"/>
              </a:ext>
            </a:extLst>
          </p:cNvPr>
          <p:cNvSpPr txBox="1"/>
          <p:nvPr/>
        </p:nvSpPr>
        <p:spPr>
          <a:xfrm>
            <a:off x="1295399" y="1478902"/>
            <a:ext cx="660302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Functions provide a new way to control the flow of execution.</a:t>
            </a:r>
            <a:endParaRPr lang="en-PK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409A50-9CFD-CD18-F5E3-7047568F19CD}"/>
              </a:ext>
            </a:extLst>
          </p:cNvPr>
          <p:cNvSpPr/>
          <p:nvPr/>
        </p:nvSpPr>
        <p:spPr>
          <a:xfrm>
            <a:off x="1416694" y="2733868"/>
            <a:ext cx="4377615" cy="18101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721D36-9151-51D7-7028-F672059087C5}"/>
              </a:ext>
            </a:extLst>
          </p:cNvPr>
          <p:cNvSpPr/>
          <p:nvPr/>
        </p:nvSpPr>
        <p:spPr>
          <a:xfrm>
            <a:off x="1407372" y="4683967"/>
            <a:ext cx="9313500" cy="19911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A4E84-ED05-2E8B-46EB-4741FDD43C4C}"/>
              </a:ext>
            </a:extLst>
          </p:cNvPr>
          <p:cNvSpPr txBox="1"/>
          <p:nvPr/>
        </p:nvSpPr>
        <p:spPr>
          <a:xfrm>
            <a:off x="1" y="3136612"/>
            <a:ext cx="1295398" cy="53436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/>
                </a:solidFill>
                <a:latin typeface="Consolas" panose="020B0609020204030204" pitchFamily="49" charset="0"/>
              </a:rPr>
              <a:t>factorial() method</a:t>
            </a:r>
            <a:endParaRPr lang="en-PK" sz="15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64B61-8CA4-F4F1-E798-601C5DF33697}"/>
              </a:ext>
            </a:extLst>
          </p:cNvPr>
          <p:cNvSpPr txBox="1"/>
          <p:nvPr/>
        </p:nvSpPr>
        <p:spPr>
          <a:xfrm>
            <a:off x="1" y="4853836"/>
            <a:ext cx="1144556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main() </a:t>
            </a:r>
            <a:r>
              <a:rPr lang="en-US" sz="1600" dirty="0">
                <a:solidFill>
                  <a:schemeClr val="accent1"/>
                </a:solidFill>
              </a:rPr>
              <a:t>method</a:t>
            </a:r>
            <a:endParaRPr lang="en-PK" sz="1600" dirty="0">
              <a:solidFill>
                <a:schemeClr val="accent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DCB604-BF21-A596-8F30-E93BDBBD4F89}"/>
              </a:ext>
            </a:extLst>
          </p:cNvPr>
          <p:cNvCxnSpPr>
            <a:cxnSpLocks/>
          </p:cNvCxnSpPr>
          <p:nvPr/>
        </p:nvCxnSpPr>
        <p:spPr>
          <a:xfrm>
            <a:off x="1090122" y="3429000"/>
            <a:ext cx="317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3E2D9B-7BBA-26F2-77E2-AC99CE3DF29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144557" y="5136409"/>
            <a:ext cx="262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BCA814-9BF9-447A-28B5-E3FF872292C1}"/>
              </a:ext>
            </a:extLst>
          </p:cNvPr>
          <p:cNvSpPr txBox="1"/>
          <p:nvPr/>
        </p:nvSpPr>
        <p:spPr>
          <a:xfrm>
            <a:off x="17105" y="5616291"/>
            <a:ext cx="1144556" cy="10575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Program execution always start here</a:t>
            </a:r>
            <a:endParaRPr lang="en-PK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41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231F-E287-E722-3256-FB07078C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Scope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609AE-3E94-53D3-FCAC-AC6E9188391E}"/>
              </a:ext>
            </a:extLst>
          </p:cNvPr>
          <p:cNvSpPr txBox="1"/>
          <p:nvPr/>
        </p:nvSpPr>
        <p:spPr>
          <a:xfrm>
            <a:off x="1295399" y="2402842"/>
            <a:ext cx="9752045" cy="351980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80000" tIns="36000" rIns="36000" bIns="36000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int factorial(int n)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int result = 1;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nn-NO" sz="1600" dirty="0">
                <a:latin typeface="Consolas" panose="020B0609020204030204" pitchFamily="49" charset="0"/>
              </a:rPr>
              <a:t>for(int i = 1; i &lt;= n; i++)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result *=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result;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int main() {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int number;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"Enter a number: ";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</a:rPr>
              <a:t> &gt;&gt; number;    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"Factorial of " &lt;&lt; number &lt;&lt; " is " &lt;&lt; factorial(number)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    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19884-25CC-4680-79CB-113BDE6172B9}"/>
              </a:ext>
            </a:extLst>
          </p:cNvPr>
          <p:cNvSpPr txBox="1"/>
          <p:nvPr/>
        </p:nvSpPr>
        <p:spPr>
          <a:xfrm>
            <a:off x="1295399" y="1431864"/>
            <a:ext cx="7198253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Def. </a:t>
            </a:r>
            <a:r>
              <a:rPr lang="en-US" sz="2000" dirty="0"/>
              <a:t>The </a:t>
            </a:r>
            <a:r>
              <a:rPr lang="en-US" sz="2000" dirty="0">
                <a:solidFill>
                  <a:schemeClr val="accent1"/>
                </a:solidFill>
              </a:rPr>
              <a:t>scope</a:t>
            </a:r>
            <a:r>
              <a:rPr lang="en-US" sz="2000" dirty="0"/>
              <a:t> of a variable is the code that can refer to it by name.</a:t>
            </a:r>
            <a:endParaRPr lang="en-PK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561B4-BD37-3CDE-7BAC-08F91B0DC337}"/>
              </a:ext>
            </a:extLst>
          </p:cNvPr>
          <p:cNvSpPr txBox="1"/>
          <p:nvPr/>
        </p:nvSpPr>
        <p:spPr>
          <a:xfrm>
            <a:off x="5682339" y="4499624"/>
            <a:ext cx="360939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cannot refer to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result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in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main()</a:t>
            </a:r>
            <a:endParaRPr lang="en-PK" sz="16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57BA96-8D97-0701-B140-FA51A980279F}"/>
              </a:ext>
            </a:extLst>
          </p:cNvPr>
          <p:cNvSpPr txBox="1"/>
          <p:nvPr/>
        </p:nvSpPr>
        <p:spPr>
          <a:xfrm>
            <a:off x="1295399" y="1864620"/>
            <a:ext cx="9817360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A variable’s scope is the code following its declaration, in the same block.</a:t>
            </a:r>
            <a:endParaRPr lang="en-PK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3D0083-8C52-E581-14D8-1CDB53DBBD51}"/>
              </a:ext>
            </a:extLst>
          </p:cNvPr>
          <p:cNvCxnSpPr>
            <a:cxnSpLocks/>
          </p:cNvCxnSpPr>
          <p:nvPr/>
        </p:nvCxnSpPr>
        <p:spPr>
          <a:xfrm>
            <a:off x="1800808" y="2724539"/>
            <a:ext cx="0" cy="1138334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7E0E91-4F55-23F5-AF68-C79E475CF243}"/>
              </a:ext>
            </a:extLst>
          </p:cNvPr>
          <p:cNvCxnSpPr>
            <a:cxnSpLocks/>
          </p:cNvCxnSpPr>
          <p:nvPr/>
        </p:nvCxnSpPr>
        <p:spPr>
          <a:xfrm>
            <a:off x="1598645" y="3032449"/>
            <a:ext cx="0" cy="830424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5726418-66F9-CF26-F526-D4E19EA630AD}"/>
              </a:ext>
            </a:extLst>
          </p:cNvPr>
          <p:cNvSpPr txBox="1"/>
          <p:nvPr/>
        </p:nvSpPr>
        <p:spPr>
          <a:xfrm>
            <a:off x="69977" y="2754639"/>
            <a:ext cx="1498345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scope of 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</a:rPr>
              <a:t>result</a:t>
            </a:r>
            <a:endParaRPr lang="en-PK" sz="1400" dirty="0">
              <a:solidFill>
                <a:schemeClr val="accent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0612A7-92F8-A085-1BC7-974249B285CE}"/>
              </a:ext>
            </a:extLst>
          </p:cNvPr>
          <p:cNvCxnSpPr>
            <a:stCxn id="24" idx="3"/>
          </p:cNvCxnSpPr>
          <p:nvPr/>
        </p:nvCxnSpPr>
        <p:spPr>
          <a:xfrm>
            <a:off x="1568322" y="2898713"/>
            <a:ext cx="232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BD6A7E6-33F2-C792-A42F-0421C813EA16}"/>
              </a:ext>
            </a:extLst>
          </p:cNvPr>
          <p:cNvCxnSpPr>
            <a:cxnSpLocks/>
          </p:cNvCxnSpPr>
          <p:nvPr/>
        </p:nvCxnSpPr>
        <p:spPr>
          <a:xfrm>
            <a:off x="1408923" y="4385737"/>
            <a:ext cx="0" cy="1461796"/>
          </a:xfrm>
          <a:prstGeom prst="line">
            <a:avLst/>
          </a:prstGeom>
          <a:ln w="508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7B449AD-8D4E-9C13-FDCF-A9A45B36DCC9}"/>
              </a:ext>
            </a:extLst>
          </p:cNvPr>
          <p:cNvSpPr txBox="1"/>
          <p:nvPr/>
        </p:nvSpPr>
        <p:spPr>
          <a:xfrm>
            <a:off x="-122854" y="4241663"/>
            <a:ext cx="1144556" cy="5035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scope of 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number</a:t>
            </a:r>
            <a:endParaRPr lang="en-PK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09EEAF0-547F-E10C-3A6D-A103F9C43ED1}"/>
              </a:ext>
            </a:extLst>
          </p:cNvPr>
          <p:cNvCxnSpPr>
            <a:cxnSpLocks/>
          </p:cNvCxnSpPr>
          <p:nvPr/>
        </p:nvCxnSpPr>
        <p:spPr>
          <a:xfrm>
            <a:off x="639147" y="4499624"/>
            <a:ext cx="656252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B9A6F55-9D46-B163-4534-497940733FFE}"/>
              </a:ext>
            </a:extLst>
          </p:cNvPr>
          <p:cNvSpPr txBox="1"/>
          <p:nvPr/>
        </p:nvSpPr>
        <p:spPr>
          <a:xfrm>
            <a:off x="1295399" y="6392658"/>
            <a:ext cx="7027507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Best practice. </a:t>
            </a:r>
            <a:r>
              <a:rPr lang="en-US" sz="2000" dirty="0"/>
              <a:t>Declare variables so as to limit their scope.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440024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6E4D90-B690-1F7B-304D-6A878767B7F9}"/>
              </a:ext>
            </a:extLst>
          </p:cNvPr>
          <p:cNvCxnSpPr/>
          <p:nvPr/>
        </p:nvCxnSpPr>
        <p:spPr>
          <a:xfrm>
            <a:off x="1623528" y="1866118"/>
            <a:ext cx="0" cy="1922106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409231F-E287-E722-3256-FB07078C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Flow of Control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609AE-3E94-53D3-FCAC-AC6E9188391E}"/>
              </a:ext>
            </a:extLst>
          </p:cNvPr>
          <p:cNvSpPr txBox="1"/>
          <p:nvPr/>
        </p:nvSpPr>
        <p:spPr>
          <a:xfrm>
            <a:off x="362340" y="1253141"/>
            <a:ext cx="6243735" cy="475090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80000" tIns="36000" rIns="36000" bIns="36000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Using namespace std;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int factorial(int n)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int result = 1;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nn-NO" sz="1600" dirty="0">
                <a:latin typeface="Consolas" panose="020B0609020204030204" pitchFamily="49" charset="0"/>
              </a:rPr>
              <a:t>for(int i = 1; i &lt;= n; i++)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result *=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return result;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 	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int main() {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int number;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"Enter a number: ";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</a:rPr>
              <a:t> &gt;&gt; number;        // Call the factorial function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"Factorial of " &lt;&lt; number &lt;&lt; " is " &lt;&lt; factorial(number)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    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561B4-BD37-3CDE-7BAC-08F91B0DC337}"/>
              </a:ext>
            </a:extLst>
          </p:cNvPr>
          <p:cNvSpPr txBox="1"/>
          <p:nvPr/>
        </p:nvSpPr>
        <p:spPr>
          <a:xfrm>
            <a:off x="6811346" y="1495747"/>
            <a:ext cx="5240693" cy="33966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Summary of flow control for a function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 transfers to the function code.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Argument variables are declared and initialized with the given values.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code is executed.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 transfers back to the calling code (with return value assigned in place of the function name in the calling code).</a:t>
            </a:r>
            <a:endParaRPr lang="en-PK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BCA814-9BF9-447A-28B5-E3FF872292C1}"/>
              </a:ext>
            </a:extLst>
          </p:cNvPr>
          <p:cNvSpPr txBox="1"/>
          <p:nvPr/>
        </p:nvSpPr>
        <p:spPr>
          <a:xfrm>
            <a:off x="6811346" y="6143173"/>
            <a:ext cx="3816221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Note: </a:t>
            </a:r>
            <a:r>
              <a:rPr lang="en-US" dirty="0"/>
              <a:t>OS calls main() on execution</a:t>
            </a:r>
            <a:endParaRPr lang="en-PK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63CBBA-034D-2DD1-D974-D55290DAA317}"/>
              </a:ext>
            </a:extLst>
          </p:cNvPr>
          <p:cNvSpPr/>
          <p:nvPr/>
        </p:nvSpPr>
        <p:spPr>
          <a:xfrm>
            <a:off x="457202" y="5193583"/>
            <a:ext cx="2015411" cy="320089"/>
          </a:xfrm>
          <a:prstGeom prst="roundRect">
            <a:avLst/>
          </a:prstGeom>
          <a:noFill/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E3DA2D-923F-7C18-28B1-BD5D47E6DCCA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472613" y="5335677"/>
            <a:ext cx="4058816" cy="17951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66C71E-3A4C-7B6A-C608-FA8142B0EF23}"/>
              </a:ext>
            </a:extLst>
          </p:cNvPr>
          <p:cNvCxnSpPr>
            <a:cxnSpLocks/>
          </p:cNvCxnSpPr>
          <p:nvPr/>
        </p:nvCxnSpPr>
        <p:spPr>
          <a:xfrm flipV="1">
            <a:off x="6606075" y="1866118"/>
            <a:ext cx="0" cy="3469559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93D055-C3A8-5D5A-066D-07E27D8863DB}"/>
              </a:ext>
            </a:extLst>
          </p:cNvPr>
          <p:cNvCxnSpPr>
            <a:cxnSpLocks/>
          </p:cNvCxnSpPr>
          <p:nvPr/>
        </p:nvCxnSpPr>
        <p:spPr>
          <a:xfrm flipH="1">
            <a:off x="1651520" y="1884779"/>
            <a:ext cx="4954555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8C020A-6ED1-AB9B-770D-A20EE75F1E44}"/>
              </a:ext>
            </a:extLst>
          </p:cNvPr>
          <p:cNvCxnSpPr>
            <a:cxnSpLocks/>
          </p:cNvCxnSpPr>
          <p:nvPr/>
        </p:nvCxnSpPr>
        <p:spPr>
          <a:xfrm flipH="1">
            <a:off x="466533" y="3844211"/>
            <a:ext cx="1184987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A543FF-15EF-DF66-AE7B-8F654BA5F3E1}"/>
              </a:ext>
            </a:extLst>
          </p:cNvPr>
          <p:cNvCxnSpPr>
            <a:cxnSpLocks/>
          </p:cNvCxnSpPr>
          <p:nvPr/>
        </p:nvCxnSpPr>
        <p:spPr>
          <a:xfrm flipH="1">
            <a:off x="457202" y="3844211"/>
            <a:ext cx="9331" cy="2015409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6850D2-0AC3-22DD-BACE-DAF460944E88}"/>
              </a:ext>
            </a:extLst>
          </p:cNvPr>
          <p:cNvCxnSpPr>
            <a:cxnSpLocks/>
          </p:cNvCxnSpPr>
          <p:nvPr/>
        </p:nvCxnSpPr>
        <p:spPr>
          <a:xfrm>
            <a:off x="466533" y="5831630"/>
            <a:ext cx="914400" cy="9337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94C73E5-9238-C1A1-77A8-10223F034320}"/>
              </a:ext>
            </a:extLst>
          </p:cNvPr>
          <p:cNvSpPr txBox="1"/>
          <p:nvPr/>
        </p:nvSpPr>
        <p:spPr>
          <a:xfrm>
            <a:off x="8162729" y="5175633"/>
            <a:ext cx="3816221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“pass by value”</a:t>
            </a:r>
          </a:p>
          <a:p>
            <a:pPr algn="ctr"/>
            <a:r>
              <a:rPr lang="en-US" sz="1600" dirty="0">
                <a:solidFill>
                  <a:schemeClr val="accent1"/>
                </a:solidFill>
              </a:rPr>
              <a:t>(other methods will be discussed later)</a:t>
            </a:r>
            <a:endParaRPr lang="en-PK" sz="16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889BEBD-97A2-C398-CA60-A90E98817EB5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10070839" y="2941424"/>
            <a:ext cx="1" cy="2234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594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1a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337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j =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j;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82498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1a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337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j =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j;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05E7B-D44E-B519-F0EF-68A842996381}"/>
              </a:ext>
            </a:extLst>
          </p:cNvPr>
          <p:cNvSpPr txBox="1"/>
          <p:nvPr/>
        </p:nvSpPr>
        <p:spPr>
          <a:xfrm>
            <a:off x="6551646" y="2618343"/>
            <a:ext cx="3867021" cy="707886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A. </a:t>
            </a:r>
            <a:r>
              <a:rPr lang="en-US" sz="2000" dirty="0"/>
              <a:t>Takes N from user, then</a:t>
            </a:r>
          </a:p>
          <a:p>
            <a:r>
              <a:rPr lang="en-US" sz="2000" dirty="0"/>
              <a:t>prints cubes of integers from 1 to N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595114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1b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337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i =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i;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789768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1b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337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i =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i;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05E7B-D44E-B519-F0EF-68A842996381}"/>
              </a:ext>
            </a:extLst>
          </p:cNvPr>
          <p:cNvSpPr txBox="1"/>
          <p:nvPr/>
        </p:nvSpPr>
        <p:spPr>
          <a:xfrm>
            <a:off x="6551646" y="2618343"/>
            <a:ext cx="4631011" cy="1015663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A. </a:t>
            </a:r>
            <a:r>
              <a:rPr lang="en-US" sz="2000" dirty="0"/>
              <a:t>Won't compile. Argument variable </a:t>
            </a:r>
            <a:r>
              <a:rPr lang="en-US" sz="2000" dirty="0">
                <a:latin typeface="Consolas" panose="020B0609020204030204" pitchFamily="49" charset="0"/>
              </a:rPr>
              <a:t>i</a:t>
            </a:r>
            <a:r>
              <a:rPr lang="en-US" sz="2000" dirty="0"/>
              <a:t> is</a:t>
            </a:r>
          </a:p>
          <a:p>
            <a:r>
              <a:rPr lang="en-US" sz="2000" dirty="0"/>
              <a:t>declared and initialized for function block,</a:t>
            </a:r>
          </a:p>
          <a:p>
            <a:r>
              <a:rPr lang="en-US" sz="2000" dirty="0"/>
              <a:t>so the name cannot be reused.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894710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1c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0608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i =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665355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1c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0608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i =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05E7B-D44E-B519-F0EF-68A842996381}"/>
              </a:ext>
            </a:extLst>
          </p:cNvPr>
          <p:cNvSpPr txBox="1"/>
          <p:nvPr/>
        </p:nvSpPr>
        <p:spPr>
          <a:xfrm>
            <a:off x="6551646" y="2618343"/>
            <a:ext cx="4555221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A. </a:t>
            </a:r>
            <a:r>
              <a:rPr lang="en-US" sz="2000" dirty="0"/>
              <a:t>Won't compile. Need return statement.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436123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1d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337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i =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i;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503937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1d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337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i =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i;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05E7B-D44E-B519-F0EF-68A842996381}"/>
              </a:ext>
            </a:extLst>
          </p:cNvPr>
          <p:cNvSpPr txBox="1"/>
          <p:nvPr/>
        </p:nvSpPr>
        <p:spPr>
          <a:xfrm>
            <a:off x="6551646" y="2618343"/>
            <a:ext cx="5158272" cy="181588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A. </a:t>
            </a:r>
            <a:r>
              <a:rPr lang="en-US" sz="2000" dirty="0"/>
              <a:t>Works. The </a:t>
            </a:r>
            <a:r>
              <a:rPr lang="en-US" sz="2000" dirty="0">
                <a:latin typeface="Consolas" panose="020B0609020204030204" pitchFamily="49" charset="0"/>
              </a:rPr>
              <a:t>i</a:t>
            </a:r>
            <a:r>
              <a:rPr lang="en-US" sz="2000" dirty="0"/>
              <a:t> in </a:t>
            </a:r>
            <a:r>
              <a:rPr lang="en-US" sz="2000" dirty="0">
                <a:latin typeface="Consolas" panose="020B0609020204030204" pitchFamily="49" charset="0"/>
              </a:rPr>
              <a:t>cube()</a:t>
            </a:r>
            <a:r>
              <a:rPr lang="en-US" sz="2000" dirty="0"/>
              <a:t> is </a:t>
            </a:r>
          </a:p>
          <a:p>
            <a:r>
              <a:rPr lang="en-US" sz="2000" dirty="0"/>
              <a:t>• Declared and initialized as an argument.</a:t>
            </a:r>
          </a:p>
          <a:p>
            <a:r>
              <a:rPr lang="en-US" sz="2000" dirty="0"/>
              <a:t>• Different from the </a:t>
            </a:r>
            <a:r>
              <a:rPr lang="en-US" sz="2000" dirty="0">
                <a:latin typeface="Consolas" panose="020B0609020204030204" pitchFamily="49" charset="0"/>
              </a:rPr>
              <a:t>i</a:t>
            </a:r>
            <a:r>
              <a:rPr lang="en-US" sz="2000" dirty="0"/>
              <a:t> in </a:t>
            </a:r>
            <a:r>
              <a:rPr lang="en-US" sz="2000" dirty="0">
                <a:latin typeface="Consolas" panose="020B0609020204030204" pitchFamily="49" charset="0"/>
              </a:rPr>
              <a:t>main()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algn="ctr"/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BUT changing values of function arguments is sufficiently confusing to be deemed bad style for this course.</a:t>
            </a:r>
            <a:endParaRPr lang="en-PK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263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1e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0608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115739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0C90-58CC-EB0E-F58B-2BA65816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Pop quiz 1e on functions</a:t>
            </a:r>
            <a:endParaRPr lang="en-PK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D49ED-65C0-B37A-8018-E320885527C4}"/>
              </a:ext>
            </a:extLst>
          </p:cNvPr>
          <p:cNvSpPr txBox="1"/>
          <p:nvPr/>
        </p:nvSpPr>
        <p:spPr>
          <a:xfrm>
            <a:off x="838199" y="2234554"/>
            <a:ext cx="5431971" cy="30608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44000" tIns="144000" rIns="144000" bIns="14400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cube(int i) {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i * i * i;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N;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N;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i = 1; i &lt;= N; i++)</a:t>
            </a:r>
          </a:p>
          <a:p>
            <a:r>
              <a:rPr lang="en-US" dirty="0">
                <a:latin typeface="Consolas" panose="020B0609020204030204" pitchFamily="49" charset="0"/>
              </a:rPr>
              <a:t>  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i &lt;&lt; " " &lt;&lt; cube(i);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D616-D280-E485-8567-883903E66D93}"/>
              </a:ext>
            </a:extLst>
          </p:cNvPr>
          <p:cNvSpPr txBox="1"/>
          <p:nvPr/>
        </p:nvSpPr>
        <p:spPr>
          <a:xfrm>
            <a:off x="838200" y="1574483"/>
            <a:ext cx="6931706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Q. </a:t>
            </a:r>
            <a:r>
              <a:rPr lang="en-US" sz="2000" dirty="0"/>
              <a:t>What happens when you compile and run the following code?</a:t>
            </a:r>
            <a:endParaRPr lang="en-PK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05E7B-D44E-B519-F0EF-68A842996381}"/>
              </a:ext>
            </a:extLst>
          </p:cNvPr>
          <p:cNvSpPr txBox="1"/>
          <p:nvPr/>
        </p:nvSpPr>
        <p:spPr>
          <a:xfrm>
            <a:off x="6551646" y="2618343"/>
            <a:ext cx="4271864" cy="40011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A. </a:t>
            </a:r>
            <a:r>
              <a:rPr lang="en-US" sz="2000" dirty="0"/>
              <a:t>Works. Preferred (compact) code.</a:t>
            </a:r>
            <a:endParaRPr lang="en-PK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206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231F-E287-E722-3256-FB07078C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 with return type void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609AE-3E94-53D3-FCAC-AC6E9188391E}"/>
              </a:ext>
            </a:extLst>
          </p:cNvPr>
          <p:cNvSpPr txBox="1"/>
          <p:nvPr/>
        </p:nvSpPr>
        <p:spPr>
          <a:xfrm>
            <a:off x="1219977" y="1681031"/>
            <a:ext cx="9752045" cy="425846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80000" tIns="36000" rIns="36000" bIns="36000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Using namespace std;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void factorial(int n)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int result = 1;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nn-NO" sz="1600" dirty="0">
                <a:latin typeface="Consolas" panose="020B0609020204030204" pitchFamily="49" charset="0"/>
              </a:rPr>
              <a:t>for(int i = 1; i &lt;= n; i++)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result *=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 	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int main() {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int number;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"Enter a number: ";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</a:rPr>
              <a:t> &gt;&gt; number;    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"Factorial of " &lt;&lt; number &lt;&lt; " is " &lt;&lt; factorial(number)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    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4191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231F-E287-E722-3256-FB07078C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 with return type void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609AE-3E94-53D3-FCAC-AC6E9188391E}"/>
              </a:ext>
            </a:extLst>
          </p:cNvPr>
          <p:cNvSpPr txBox="1"/>
          <p:nvPr/>
        </p:nvSpPr>
        <p:spPr>
          <a:xfrm>
            <a:off x="1219977" y="1681031"/>
            <a:ext cx="9752045" cy="450468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80000" tIns="36000" rIns="36000" bIns="36000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#include&lt;iostream&gt;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Using namespace std;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void factorial(int n)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int result = 1;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nn-NO" sz="1600" dirty="0">
                <a:latin typeface="Consolas" panose="020B0609020204030204" pitchFamily="49" charset="0"/>
              </a:rPr>
              <a:t>for(int i = 1; i &lt;= n; i++)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result *=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"Factorial of " &lt;&lt; n &lt;&lt; " is " &lt;&lt; result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 	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int main() {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int number;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"Enter a number: ";    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cin</a:t>
            </a:r>
            <a:r>
              <a:rPr lang="en-US" sz="1600" dirty="0">
                <a:latin typeface="Consolas" panose="020B0609020204030204" pitchFamily="49" charset="0"/>
              </a:rPr>
              <a:t> &gt;&gt; number;    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factorial(number);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9895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231F-E287-E722-3256-FB07078C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Pass by reference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609AE-3E94-53D3-FCAC-AC6E9188391E}"/>
              </a:ext>
            </a:extLst>
          </p:cNvPr>
          <p:cNvSpPr txBox="1"/>
          <p:nvPr/>
        </p:nvSpPr>
        <p:spPr>
          <a:xfrm>
            <a:off x="1219977" y="1681031"/>
            <a:ext cx="9752045" cy="499712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80000" tIns="36000" rIns="36000" bIns="36000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using namespace std;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void swap(int &amp;a, int &amp;b)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int temp = a;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a = b;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b = temp;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int x = 10;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int y = 20;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"Before swap: x = " &lt;&lt; x &lt;&lt; ", y = " &lt;&lt; y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swap(x, y);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"After swap: x = " &lt;&lt; x &lt;&lt; ", y = " &lt;&lt; y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123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231F-E287-E722-3256-FB07078C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Inline Functions</a:t>
            </a:r>
            <a:endParaRPr lang="en-PK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609AE-3E94-53D3-FCAC-AC6E9188391E}"/>
              </a:ext>
            </a:extLst>
          </p:cNvPr>
          <p:cNvSpPr txBox="1"/>
          <p:nvPr/>
        </p:nvSpPr>
        <p:spPr>
          <a:xfrm>
            <a:off x="1219977" y="1681031"/>
            <a:ext cx="9752045" cy="327357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lIns="180000" tIns="36000" rIns="36000" bIns="36000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 &lt;iostream&gt;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>
                <a:latin typeface="Consolas" panose="020B0609020204030204" pitchFamily="49" charset="0"/>
              </a:rPr>
              <a:t>inline </a:t>
            </a:r>
            <a:r>
              <a:rPr lang="en-US" sz="1600" dirty="0">
                <a:latin typeface="Consolas" panose="020B0609020204030204" pitchFamily="49" charset="0"/>
              </a:rPr>
              <a:t>int square(int x)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x * x;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int num = 5;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std::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"The square of " &lt;&lt; num &lt;&lt; " is " &lt;&lt; square(num) &lt;&lt; std::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18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10703</TotalTime>
  <Words>2001</Words>
  <Application>Microsoft Office PowerPoint</Application>
  <PresentationFormat>Widescreen</PresentationFormat>
  <Paragraphs>334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Office Theme</vt:lpstr>
      <vt:lpstr>Introduction to Programming</vt:lpstr>
      <vt:lpstr>Functions</vt:lpstr>
      <vt:lpstr>Anatomy of a C++ method</vt:lpstr>
      <vt:lpstr>Function declaration and definition</vt:lpstr>
      <vt:lpstr>Flow of Control</vt:lpstr>
      <vt:lpstr>Scope</vt:lpstr>
      <vt:lpstr>Flow of Control</vt:lpstr>
      <vt:lpstr>Pop quiz 1a on functions</vt:lpstr>
      <vt:lpstr>Pop quiz 1a on functions</vt:lpstr>
      <vt:lpstr>Pop quiz 1b on functions</vt:lpstr>
      <vt:lpstr>Pop quiz 1b on functions</vt:lpstr>
      <vt:lpstr>Pop quiz 1c on functions</vt:lpstr>
      <vt:lpstr>Pop quiz 1c on functions</vt:lpstr>
      <vt:lpstr>Pop quiz 1d on functions</vt:lpstr>
      <vt:lpstr>Pop quiz 1d on functions</vt:lpstr>
      <vt:lpstr>Pop quiz 1e on functions</vt:lpstr>
      <vt:lpstr>Pop quiz 1e on functions</vt:lpstr>
      <vt:lpstr>Function with return type void</vt:lpstr>
      <vt:lpstr>Function with return type void</vt:lpstr>
      <vt:lpstr>Pass by reference</vt:lpstr>
      <vt:lpstr>Inline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Imran Rauf</dc:creator>
  <cp:lastModifiedBy>Maria Rahim Khowaja / Lecturer</cp:lastModifiedBy>
  <cp:revision>694</cp:revision>
  <dcterms:created xsi:type="dcterms:W3CDTF">2023-08-23T19:46:54Z</dcterms:created>
  <dcterms:modified xsi:type="dcterms:W3CDTF">2024-10-24T06:29:54Z</dcterms:modified>
</cp:coreProperties>
</file>