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20" r:id="rId3"/>
    <p:sldId id="292" r:id="rId4"/>
    <p:sldId id="293" r:id="rId5"/>
    <p:sldId id="304" r:id="rId6"/>
    <p:sldId id="305" r:id="rId7"/>
    <p:sldId id="294" r:id="rId8"/>
    <p:sldId id="295" r:id="rId9"/>
    <p:sldId id="296" r:id="rId10"/>
    <p:sldId id="297" r:id="rId11"/>
    <p:sldId id="298" r:id="rId12"/>
    <p:sldId id="299" r:id="rId13"/>
    <p:sldId id="309" r:id="rId14"/>
    <p:sldId id="300" r:id="rId15"/>
    <p:sldId id="278" r:id="rId16"/>
    <p:sldId id="321" r:id="rId17"/>
    <p:sldId id="258" r:id="rId18"/>
    <p:sldId id="310" r:id="rId19"/>
    <p:sldId id="259" r:id="rId20"/>
    <p:sldId id="260" r:id="rId21"/>
    <p:sldId id="261" r:id="rId22"/>
    <p:sldId id="262" r:id="rId23"/>
    <p:sldId id="263" r:id="rId24"/>
    <p:sldId id="311" r:id="rId25"/>
    <p:sldId id="312" r:id="rId26"/>
    <p:sldId id="313" r:id="rId27"/>
    <p:sldId id="314" r:id="rId28"/>
    <p:sldId id="315" r:id="rId29"/>
    <p:sldId id="317" r:id="rId30"/>
    <p:sldId id="318" r:id="rId31"/>
    <p:sldId id="319" r:id="rId32"/>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AE3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4754" autoAdjust="0"/>
    <p:restoredTop sz="94660"/>
  </p:normalViewPr>
  <p:slideViewPr>
    <p:cSldViewPr snapToGrid="0">
      <p:cViewPr varScale="1">
        <p:scale>
          <a:sx n="82" d="100"/>
          <a:sy n="82" d="100"/>
        </p:scale>
        <p:origin x="114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5B4BC-5523-6B15-E379-9D440B47605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D1D5498A-9F1B-6472-F519-710C8C9E623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6482F0FC-0AA9-8136-10E0-988D92103048}"/>
              </a:ext>
            </a:extLst>
          </p:cNvPr>
          <p:cNvSpPr>
            <a:spLocks noGrp="1"/>
          </p:cNvSpPr>
          <p:nvPr>
            <p:ph type="dt" sz="half" idx="10"/>
          </p:nvPr>
        </p:nvSpPr>
        <p:spPr/>
        <p:txBody>
          <a:bodyPr/>
          <a:lstStyle/>
          <a:p>
            <a:fld id="{C740094E-B332-4D10-94A6-BABBC3B412D6}" type="datetimeFigureOut">
              <a:rPr lang="en-PK" smtClean="0"/>
              <a:t>03/09/2024</a:t>
            </a:fld>
            <a:endParaRPr lang="en-PK"/>
          </a:p>
        </p:txBody>
      </p:sp>
      <p:sp>
        <p:nvSpPr>
          <p:cNvPr id="5" name="Footer Placeholder 4">
            <a:extLst>
              <a:ext uri="{FF2B5EF4-FFF2-40B4-BE49-F238E27FC236}">
                <a16:creationId xmlns:a16="http://schemas.microsoft.com/office/drawing/2014/main" id="{0C3AC1CA-0711-850D-5183-A2B5A213FAAA}"/>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EF6F7137-DAE9-F53F-3928-0DAE159E46E5}"/>
              </a:ext>
            </a:extLst>
          </p:cNvPr>
          <p:cNvSpPr>
            <a:spLocks noGrp="1"/>
          </p:cNvSpPr>
          <p:nvPr>
            <p:ph type="sldNum" sz="quarter" idx="12"/>
          </p:nvPr>
        </p:nvSpPr>
        <p:spPr/>
        <p:txBody>
          <a:bodyPr/>
          <a:lstStyle/>
          <a:p>
            <a:fld id="{45A02868-8F07-44C6-8585-F716DEF9AF3A}" type="slidenum">
              <a:rPr lang="en-PK" smtClean="0"/>
              <a:t>‹#›</a:t>
            </a:fld>
            <a:endParaRPr lang="en-PK"/>
          </a:p>
        </p:txBody>
      </p:sp>
    </p:spTree>
    <p:extLst>
      <p:ext uri="{BB962C8B-B14F-4D97-AF65-F5344CB8AC3E}">
        <p14:creationId xmlns:p14="http://schemas.microsoft.com/office/powerpoint/2010/main" val="10440259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68FB6-9C6A-F2BD-6645-56D633855860}"/>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F74D5916-DB56-3126-E08A-67B9C229E29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ED77D3A2-2C6B-F220-0DE2-9B5C45FB2685}"/>
              </a:ext>
            </a:extLst>
          </p:cNvPr>
          <p:cNvSpPr>
            <a:spLocks noGrp="1"/>
          </p:cNvSpPr>
          <p:nvPr>
            <p:ph type="dt" sz="half" idx="10"/>
          </p:nvPr>
        </p:nvSpPr>
        <p:spPr/>
        <p:txBody>
          <a:bodyPr/>
          <a:lstStyle/>
          <a:p>
            <a:fld id="{C740094E-B332-4D10-94A6-BABBC3B412D6}" type="datetimeFigureOut">
              <a:rPr lang="en-PK" smtClean="0"/>
              <a:t>03/09/2024</a:t>
            </a:fld>
            <a:endParaRPr lang="en-PK"/>
          </a:p>
        </p:txBody>
      </p:sp>
      <p:sp>
        <p:nvSpPr>
          <p:cNvPr id="5" name="Footer Placeholder 4">
            <a:extLst>
              <a:ext uri="{FF2B5EF4-FFF2-40B4-BE49-F238E27FC236}">
                <a16:creationId xmlns:a16="http://schemas.microsoft.com/office/drawing/2014/main" id="{7ECE012E-03D3-4F84-BD86-3182884B780A}"/>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75940CDA-08A8-25C9-7297-05C2A67E65FA}"/>
              </a:ext>
            </a:extLst>
          </p:cNvPr>
          <p:cNvSpPr>
            <a:spLocks noGrp="1"/>
          </p:cNvSpPr>
          <p:nvPr>
            <p:ph type="sldNum" sz="quarter" idx="12"/>
          </p:nvPr>
        </p:nvSpPr>
        <p:spPr/>
        <p:txBody>
          <a:bodyPr/>
          <a:lstStyle/>
          <a:p>
            <a:fld id="{45A02868-8F07-44C6-8585-F716DEF9AF3A}" type="slidenum">
              <a:rPr lang="en-PK" smtClean="0"/>
              <a:t>‹#›</a:t>
            </a:fld>
            <a:endParaRPr lang="en-PK"/>
          </a:p>
        </p:txBody>
      </p:sp>
    </p:spTree>
    <p:extLst>
      <p:ext uri="{BB962C8B-B14F-4D97-AF65-F5344CB8AC3E}">
        <p14:creationId xmlns:p14="http://schemas.microsoft.com/office/powerpoint/2010/main" val="41794145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868DC-6682-82D9-962D-035F7D32621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54E65487-DC41-AAD6-069E-90A856550FE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1E8284-1A15-F0BC-8397-CD51B4906F06}"/>
              </a:ext>
            </a:extLst>
          </p:cNvPr>
          <p:cNvSpPr>
            <a:spLocks noGrp="1"/>
          </p:cNvSpPr>
          <p:nvPr>
            <p:ph type="dt" sz="half" idx="10"/>
          </p:nvPr>
        </p:nvSpPr>
        <p:spPr/>
        <p:txBody>
          <a:bodyPr/>
          <a:lstStyle/>
          <a:p>
            <a:fld id="{C740094E-B332-4D10-94A6-BABBC3B412D6}" type="datetimeFigureOut">
              <a:rPr lang="en-PK" smtClean="0"/>
              <a:t>03/09/2024</a:t>
            </a:fld>
            <a:endParaRPr lang="en-PK"/>
          </a:p>
        </p:txBody>
      </p:sp>
      <p:sp>
        <p:nvSpPr>
          <p:cNvPr id="5" name="Footer Placeholder 4">
            <a:extLst>
              <a:ext uri="{FF2B5EF4-FFF2-40B4-BE49-F238E27FC236}">
                <a16:creationId xmlns:a16="http://schemas.microsoft.com/office/drawing/2014/main" id="{B28893AF-8BEC-AE33-ECEA-BB06A7312B6C}"/>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6A8F6908-FF3F-F647-EACB-D579D78548F8}"/>
              </a:ext>
            </a:extLst>
          </p:cNvPr>
          <p:cNvSpPr>
            <a:spLocks noGrp="1"/>
          </p:cNvSpPr>
          <p:nvPr>
            <p:ph type="sldNum" sz="quarter" idx="12"/>
          </p:nvPr>
        </p:nvSpPr>
        <p:spPr/>
        <p:txBody>
          <a:bodyPr/>
          <a:lstStyle/>
          <a:p>
            <a:fld id="{45A02868-8F07-44C6-8585-F716DEF9AF3A}" type="slidenum">
              <a:rPr lang="en-PK" smtClean="0"/>
              <a:t>‹#›</a:t>
            </a:fld>
            <a:endParaRPr lang="en-PK"/>
          </a:p>
        </p:txBody>
      </p:sp>
    </p:spTree>
    <p:extLst>
      <p:ext uri="{BB962C8B-B14F-4D97-AF65-F5344CB8AC3E}">
        <p14:creationId xmlns:p14="http://schemas.microsoft.com/office/powerpoint/2010/main" val="27002560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56D56-7FFB-4395-2EAE-ED2F7AB9B084}"/>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52D24702-43E3-2BCF-BC3A-243818AFC33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CF5050C7-B43B-1479-7A6D-930D37AF6E1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95FA581E-2932-1221-6837-84D3BBB01435}"/>
              </a:ext>
            </a:extLst>
          </p:cNvPr>
          <p:cNvSpPr>
            <a:spLocks noGrp="1"/>
          </p:cNvSpPr>
          <p:nvPr>
            <p:ph type="dt" sz="half" idx="10"/>
          </p:nvPr>
        </p:nvSpPr>
        <p:spPr/>
        <p:txBody>
          <a:bodyPr/>
          <a:lstStyle/>
          <a:p>
            <a:fld id="{C740094E-B332-4D10-94A6-BABBC3B412D6}" type="datetimeFigureOut">
              <a:rPr lang="en-PK" smtClean="0"/>
              <a:t>03/09/2024</a:t>
            </a:fld>
            <a:endParaRPr lang="en-PK"/>
          </a:p>
        </p:txBody>
      </p:sp>
      <p:sp>
        <p:nvSpPr>
          <p:cNvPr id="6" name="Footer Placeholder 5">
            <a:extLst>
              <a:ext uri="{FF2B5EF4-FFF2-40B4-BE49-F238E27FC236}">
                <a16:creationId xmlns:a16="http://schemas.microsoft.com/office/drawing/2014/main" id="{312042CD-9E35-5A28-DB43-BA1B0FFE995D}"/>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D6E2A5E5-B8E6-13FB-12FC-F3D17D097136}"/>
              </a:ext>
            </a:extLst>
          </p:cNvPr>
          <p:cNvSpPr>
            <a:spLocks noGrp="1"/>
          </p:cNvSpPr>
          <p:nvPr>
            <p:ph type="sldNum" sz="quarter" idx="12"/>
          </p:nvPr>
        </p:nvSpPr>
        <p:spPr/>
        <p:txBody>
          <a:bodyPr/>
          <a:lstStyle/>
          <a:p>
            <a:fld id="{45A02868-8F07-44C6-8585-F716DEF9AF3A}" type="slidenum">
              <a:rPr lang="en-PK" smtClean="0"/>
              <a:t>‹#›</a:t>
            </a:fld>
            <a:endParaRPr lang="en-PK"/>
          </a:p>
        </p:txBody>
      </p:sp>
    </p:spTree>
    <p:extLst>
      <p:ext uri="{BB962C8B-B14F-4D97-AF65-F5344CB8AC3E}">
        <p14:creationId xmlns:p14="http://schemas.microsoft.com/office/powerpoint/2010/main" val="42265305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7D583-DB59-9544-613C-A13997691E6C}"/>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404AB85D-86CC-130D-C73F-621488E2D1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DB001A8-0867-70EE-F388-A6781857708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41261077-609E-F8EB-8394-BE4CEDE6483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6735E47-CD8C-DB62-FD58-1EEF1602E42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B1B1C7D4-9A0D-DB05-F459-9A05E934584A}"/>
              </a:ext>
            </a:extLst>
          </p:cNvPr>
          <p:cNvSpPr>
            <a:spLocks noGrp="1"/>
          </p:cNvSpPr>
          <p:nvPr>
            <p:ph type="dt" sz="half" idx="10"/>
          </p:nvPr>
        </p:nvSpPr>
        <p:spPr/>
        <p:txBody>
          <a:bodyPr/>
          <a:lstStyle/>
          <a:p>
            <a:fld id="{C740094E-B332-4D10-94A6-BABBC3B412D6}" type="datetimeFigureOut">
              <a:rPr lang="en-PK" smtClean="0"/>
              <a:t>03/09/2024</a:t>
            </a:fld>
            <a:endParaRPr lang="en-PK"/>
          </a:p>
        </p:txBody>
      </p:sp>
      <p:sp>
        <p:nvSpPr>
          <p:cNvPr id="8" name="Footer Placeholder 7">
            <a:extLst>
              <a:ext uri="{FF2B5EF4-FFF2-40B4-BE49-F238E27FC236}">
                <a16:creationId xmlns:a16="http://schemas.microsoft.com/office/drawing/2014/main" id="{27F4244C-8711-3475-2C24-B68828AF2660}"/>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072720E4-06AC-D540-526F-8C8A26FF7B20}"/>
              </a:ext>
            </a:extLst>
          </p:cNvPr>
          <p:cNvSpPr>
            <a:spLocks noGrp="1"/>
          </p:cNvSpPr>
          <p:nvPr>
            <p:ph type="sldNum" sz="quarter" idx="12"/>
          </p:nvPr>
        </p:nvSpPr>
        <p:spPr/>
        <p:txBody>
          <a:bodyPr/>
          <a:lstStyle/>
          <a:p>
            <a:fld id="{45A02868-8F07-44C6-8585-F716DEF9AF3A}" type="slidenum">
              <a:rPr lang="en-PK" smtClean="0"/>
              <a:t>‹#›</a:t>
            </a:fld>
            <a:endParaRPr lang="en-PK"/>
          </a:p>
        </p:txBody>
      </p:sp>
    </p:spTree>
    <p:extLst>
      <p:ext uri="{BB962C8B-B14F-4D97-AF65-F5344CB8AC3E}">
        <p14:creationId xmlns:p14="http://schemas.microsoft.com/office/powerpoint/2010/main" val="11526798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46F68-FA65-13A7-E538-86D1C890DABF}"/>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9A8EB2FD-6FF5-9190-F51D-A2B20E810F07}"/>
              </a:ext>
            </a:extLst>
          </p:cNvPr>
          <p:cNvSpPr>
            <a:spLocks noGrp="1"/>
          </p:cNvSpPr>
          <p:nvPr>
            <p:ph type="dt" sz="half" idx="10"/>
          </p:nvPr>
        </p:nvSpPr>
        <p:spPr/>
        <p:txBody>
          <a:bodyPr/>
          <a:lstStyle/>
          <a:p>
            <a:fld id="{C740094E-B332-4D10-94A6-BABBC3B412D6}" type="datetimeFigureOut">
              <a:rPr lang="en-PK" smtClean="0"/>
              <a:t>03/09/2024</a:t>
            </a:fld>
            <a:endParaRPr lang="en-PK"/>
          </a:p>
        </p:txBody>
      </p:sp>
      <p:sp>
        <p:nvSpPr>
          <p:cNvPr id="4" name="Footer Placeholder 3">
            <a:extLst>
              <a:ext uri="{FF2B5EF4-FFF2-40B4-BE49-F238E27FC236}">
                <a16:creationId xmlns:a16="http://schemas.microsoft.com/office/drawing/2014/main" id="{037E5D0B-E530-1D35-E485-E3C115868E46}"/>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3EA7CE04-5E37-1D2C-C5A6-EF62A94D4FD2}"/>
              </a:ext>
            </a:extLst>
          </p:cNvPr>
          <p:cNvSpPr>
            <a:spLocks noGrp="1"/>
          </p:cNvSpPr>
          <p:nvPr>
            <p:ph type="sldNum" sz="quarter" idx="12"/>
          </p:nvPr>
        </p:nvSpPr>
        <p:spPr/>
        <p:txBody>
          <a:bodyPr/>
          <a:lstStyle/>
          <a:p>
            <a:fld id="{45A02868-8F07-44C6-8585-F716DEF9AF3A}" type="slidenum">
              <a:rPr lang="en-PK" smtClean="0"/>
              <a:t>‹#›</a:t>
            </a:fld>
            <a:endParaRPr lang="en-PK"/>
          </a:p>
        </p:txBody>
      </p:sp>
    </p:spTree>
    <p:extLst>
      <p:ext uri="{BB962C8B-B14F-4D97-AF65-F5344CB8AC3E}">
        <p14:creationId xmlns:p14="http://schemas.microsoft.com/office/powerpoint/2010/main" val="39395018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3A3DA80-AF75-88CC-15E0-1E5BDEE9DF1D}"/>
              </a:ext>
            </a:extLst>
          </p:cNvPr>
          <p:cNvSpPr>
            <a:spLocks noGrp="1"/>
          </p:cNvSpPr>
          <p:nvPr>
            <p:ph type="dt" sz="half" idx="10"/>
          </p:nvPr>
        </p:nvSpPr>
        <p:spPr/>
        <p:txBody>
          <a:bodyPr/>
          <a:lstStyle/>
          <a:p>
            <a:fld id="{C740094E-B332-4D10-94A6-BABBC3B412D6}" type="datetimeFigureOut">
              <a:rPr lang="en-PK" smtClean="0"/>
              <a:t>03/09/2024</a:t>
            </a:fld>
            <a:endParaRPr lang="en-PK"/>
          </a:p>
        </p:txBody>
      </p:sp>
      <p:sp>
        <p:nvSpPr>
          <p:cNvPr id="3" name="Footer Placeholder 2">
            <a:extLst>
              <a:ext uri="{FF2B5EF4-FFF2-40B4-BE49-F238E27FC236}">
                <a16:creationId xmlns:a16="http://schemas.microsoft.com/office/drawing/2014/main" id="{7CD51D2A-1D2C-B7FC-A6F5-5CDA8DC682EE}"/>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D91E0DF3-51D1-71EB-ED76-1AB581475835}"/>
              </a:ext>
            </a:extLst>
          </p:cNvPr>
          <p:cNvSpPr>
            <a:spLocks noGrp="1"/>
          </p:cNvSpPr>
          <p:nvPr>
            <p:ph type="sldNum" sz="quarter" idx="12"/>
          </p:nvPr>
        </p:nvSpPr>
        <p:spPr/>
        <p:txBody>
          <a:bodyPr/>
          <a:lstStyle/>
          <a:p>
            <a:fld id="{45A02868-8F07-44C6-8585-F716DEF9AF3A}" type="slidenum">
              <a:rPr lang="en-PK" smtClean="0"/>
              <a:t>‹#›</a:t>
            </a:fld>
            <a:endParaRPr lang="en-PK"/>
          </a:p>
        </p:txBody>
      </p:sp>
    </p:spTree>
    <p:extLst>
      <p:ext uri="{BB962C8B-B14F-4D97-AF65-F5344CB8AC3E}">
        <p14:creationId xmlns:p14="http://schemas.microsoft.com/office/powerpoint/2010/main" val="33442322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347C7-DE01-6A7A-312D-4D28D27BDF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AE3C546E-840F-9AF8-2F81-CA4BE9DE9A9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456E75C5-AB6D-14EF-A652-A55984E3B3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BFC8BD-2F12-5C44-0FC5-ABC9121DFED7}"/>
              </a:ext>
            </a:extLst>
          </p:cNvPr>
          <p:cNvSpPr>
            <a:spLocks noGrp="1"/>
          </p:cNvSpPr>
          <p:nvPr>
            <p:ph type="dt" sz="half" idx="10"/>
          </p:nvPr>
        </p:nvSpPr>
        <p:spPr/>
        <p:txBody>
          <a:bodyPr/>
          <a:lstStyle/>
          <a:p>
            <a:fld id="{C740094E-B332-4D10-94A6-BABBC3B412D6}" type="datetimeFigureOut">
              <a:rPr lang="en-PK" smtClean="0"/>
              <a:t>03/09/2024</a:t>
            </a:fld>
            <a:endParaRPr lang="en-PK"/>
          </a:p>
        </p:txBody>
      </p:sp>
      <p:sp>
        <p:nvSpPr>
          <p:cNvPr id="6" name="Footer Placeholder 5">
            <a:extLst>
              <a:ext uri="{FF2B5EF4-FFF2-40B4-BE49-F238E27FC236}">
                <a16:creationId xmlns:a16="http://schemas.microsoft.com/office/drawing/2014/main" id="{4ECE7D24-0E6F-B0D5-0D71-D95C68F1361C}"/>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1FE03AAF-817F-139F-90B1-20FC95BB34AF}"/>
              </a:ext>
            </a:extLst>
          </p:cNvPr>
          <p:cNvSpPr>
            <a:spLocks noGrp="1"/>
          </p:cNvSpPr>
          <p:nvPr>
            <p:ph type="sldNum" sz="quarter" idx="12"/>
          </p:nvPr>
        </p:nvSpPr>
        <p:spPr/>
        <p:txBody>
          <a:bodyPr/>
          <a:lstStyle/>
          <a:p>
            <a:fld id="{45A02868-8F07-44C6-8585-F716DEF9AF3A}" type="slidenum">
              <a:rPr lang="en-PK" smtClean="0"/>
              <a:t>‹#›</a:t>
            </a:fld>
            <a:endParaRPr lang="en-PK"/>
          </a:p>
        </p:txBody>
      </p:sp>
    </p:spTree>
    <p:extLst>
      <p:ext uri="{BB962C8B-B14F-4D97-AF65-F5344CB8AC3E}">
        <p14:creationId xmlns:p14="http://schemas.microsoft.com/office/powerpoint/2010/main" val="1024050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3B2E5-7085-FB75-D49F-F337DF770E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EC9D0CC7-AF0E-1711-DB56-74A343DAC76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B0C7E1F3-91E0-7B84-0605-A920031DEF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104610-A74D-DC1A-BA25-94B156EA0C79}"/>
              </a:ext>
            </a:extLst>
          </p:cNvPr>
          <p:cNvSpPr>
            <a:spLocks noGrp="1"/>
          </p:cNvSpPr>
          <p:nvPr>
            <p:ph type="dt" sz="half" idx="10"/>
          </p:nvPr>
        </p:nvSpPr>
        <p:spPr/>
        <p:txBody>
          <a:bodyPr/>
          <a:lstStyle/>
          <a:p>
            <a:fld id="{C740094E-B332-4D10-94A6-BABBC3B412D6}" type="datetimeFigureOut">
              <a:rPr lang="en-PK" smtClean="0"/>
              <a:t>03/09/2024</a:t>
            </a:fld>
            <a:endParaRPr lang="en-PK"/>
          </a:p>
        </p:txBody>
      </p:sp>
      <p:sp>
        <p:nvSpPr>
          <p:cNvPr id="6" name="Footer Placeholder 5">
            <a:extLst>
              <a:ext uri="{FF2B5EF4-FFF2-40B4-BE49-F238E27FC236}">
                <a16:creationId xmlns:a16="http://schemas.microsoft.com/office/drawing/2014/main" id="{BD483477-02EC-84FF-5133-4C9D85B708C5}"/>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C8C6DB61-9795-C268-8DDE-B6C6739BB145}"/>
              </a:ext>
            </a:extLst>
          </p:cNvPr>
          <p:cNvSpPr>
            <a:spLocks noGrp="1"/>
          </p:cNvSpPr>
          <p:nvPr>
            <p:ph type="sldNum" sz="quarter" idx="12"/>
          </p:nvPr>
        </p:nvSpPr>
        <p:spPr/>
        <p:txBody>
          <a:bodyPr/>
          <a:lstStyle/>
          <a:p>
            <a:fld id="{45A02868-8F07-44C6-8585-F716DEF9AF3A}" type="slidenum">
              <a:rPr lang="en-PK" smtClean="0"/>
              <a:t>‹#›</a:t>
            </a:fld>
            <a:endParaRPr lang="en-PK"/>
          </a:p>
        </p:txBody>
      </p:sp>
    </p:spTree>
    <p:extLst>
      <p:ext uri="{BB962C8B-B14F-4D97-AF65-F5344CB8AC3E}">
        <p14:creationId xmlns:p14="http://schemas.microsoft.com/office/powerpoint/2010/main" val="24439139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E2711-E1BD-6B80-C858-0A3110241C03}"/>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02784959-1478-670C-C72E-9C8B0460F61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526CB284-709D-1F57-4302-A7529E776DDC}"/>
              </a:ext>
            </a:extLst>
          </p:cNvPr>
          <p:cNvSpPr>
            <a:spLocks noGrp="1"/>
          </p:cNvSpPr>
          <p:nvPr>
            <p:ph type="dt" sz="half" idx="10"/>
          </p:nvPr>
        </p:nvSpPr>
        <p:spPr/>
        <p:txBody>
          <a:bodyPr/>
          <a:lstStyle/>
          <a:p>
            <a:fld id="{C740094E-B332-4D10-94A6-BABBC3B412D6}" type="datetimeFigureOut">
              <a:rPr lang="en-PK" smtClean="0"/>
              <a:t>03/09/2024</a:t>
            </a:fld>
            <a:endParaRPr lang="en-PK"/>
          </a:p>
        </p:txBody>
      </p:sp>
      <p:sp>
        <p:nvSpPr>
          <p:cNvPr id="5" name="Footer Placeholder 4">
            <a:extLst>
              <a:ext uri="{FF2B5EF4-FFF2-40B4-BE49-F238E27FC236}">
                <a16:creationId xmlns:a16="http://schemas.microsoft.com/office/drawing/2014/main" id="{D7A9DA95-CD40-59DB-4CFB-7C23318338D1}"/>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B2ACB741-BA71-0A15-D65A-6E8BC96DC719}"/>
              </a:ext>
            </a:extLst>
          </p:cNvPr>
          <p:cNvSpPr>
            <a:spLocks noGrp="1"/>
          </p:cNvSpPr>
          <p:nvPr>
            <p:ph type="sldNum" sz="quarter" idx="12"/>
          </p:nvPr>
        </p:nvSpPr>
        <p:spPr/>
        <p:txBody>
          <a:bodyPr/>
          <a:lstStyle/>
          <a:p>
            <a:fld id="{45A02868-8F07-44C6-8585-F716DEF9AF3A}" type="slidenum">
              <a:rPr lang="en-PK" smtClean="0"/>
              <a:t>‹#›</a:t>
            </a:fld>
            <a:endParaRPr lang="en-PK"/>
          </a:p>
        </p:txBody>
      </p:sp>
    </p:spTree>
    <p:extLst>
      <p:ext uri="{BB962C8B-B14F-4D97-AF65-F5344CB8AC3E}">
        <p14:creationId xmlns:p14="http://schemas.microsoft.com/office/powerpoint/2010/main" val="41554731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EA53C39-7EA2-3767-E74B-B5DEA81E4AA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08DAC98A-EAC6-73E0-715D-E8DB9B0DD9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3C4A9B47-A405-4629-6DC4-DB23D8A36832}"/>
              </a:ext>
            </a:extLst>
          </p:cNvPr>
          <p:cNvSpPr>
            <a:spLocks noGrp="1"/>
          </p:cNvSpPr>
          <p:nvPr>
            <p:ph type="dt" sz="half" idx="10"/>
          </p:nvPr>
        </p:nvSpPr>
        <p:spPr/>
        <p:txBody>
          <a:bodyPr/>
          <a:lstStyle/>
          <a:p>
            <a:fld id="{C740094E-B332-4D10-94A6-BABBC3B412D6}" type="datetimeFigureOut">
              <a:rPr lang="en-PK" smtClean="0"/>
              <a:t>03/09/2024</a:t>
            </a:fld>
            <a:endParaRPr lang="en-PK"/>
          </a:p>
        </p:txBody>
      </p:sp>
      <p:sp>
        <p:nvSpPr>
          <p:cNvPr id="5" name="Footer Placeholder 4">
            <a:extLst>
              <a:ext uri="{FF2B5EF4-FFF2-40B4-BE49-F238E27FC236}">
                <a16:creationId xmlns:a16="http://schemas.microsoft.com/office/drawing/2014/main" id="{2AB2816A-9DF9-75D2-9412-D000F9B5E501}"/>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F40E42E3-AC87-BCB8-7238-014729178A7D}"/>
              </a:ext>
            </a:extLst>
          </p:cNvPr>
          <p:cNvSpPr>
            <a:spLocks noGrp="1"/>
          </p:cNvSpPr>
          <p:nvPr>
            <p:ph type="sldNum" sz="quarter" idx="12"/>
          </p:nvPr>
        </p:nvSpPr>
        <p:spPr/>
        <p:txBody>
          <a:bodyPr/>
          <a:lstStyle/>
          <a:p>
            <a:fld id="{45A02868-8F07-44C6-8585-F716DEF9AF3A}" type="slidenum">
              <a:rPr lang="en-PK" smtClean="0"/>
              <a:t>‹#›</a:t>
            </a:fld>
            <a:endParaRPr lang="en-PK"/>
          </a:p>
        </p:txBody>
      </p:sp>
    </p:spTree>
    <p:extLst>
      <p:ext uri="{BB962C8B-B14F-4D97-AF65-F5344CB8AC3E}">
        <p14:creationId xmlns:p14="http://schemas.microsoft.com/office/powerpoint/2010/main" val="41393865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E21EC87-6256-86F0-014E-BDF9F92A45A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A6656D71-80AA-6129-8460-409B3C6CC4F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EFE110D4-AD59-D4C1-A2FF-26767DAA371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40094E-B332-4D10-94A6-BABBC3B412D6}" type="datetimeFigureOut">
              <a:rPr lang="en-PK" smtClean="0"/>
              <a:t>03/09/2024</a:t>
            </a:fld>
            <a:endParaRPr lang="en-PK"/>
          </a:p>
        </p:txBody>
      </p:sp>
      <p:sp>
        <p:nvSpPr>
          <p:cNvPr id="5" name="Footer Placeholder 4">
            <a:extLst>
              <a:ext uri="{FF2B5EF4-FFF2-40B4-BE49-F238E27FC236}">
                <a16:creationId xmlns:a16="http://schemas.microsoft.com/office/drawing/2014/main" id="{2F3BEF30-1C2F-B788-8AB2-B46802B721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K"/>
          </a:p>
        </p:txBody>
      </p:sp>
      <p:sp>
        <p:nvSpPr>
          <p:cNvPr id="6" name="Slide Number Placeholder 5">
            <a:extLst>
              <a:ext uri="{FF2B5EF4-FFF2-40B4-BE49-F238E27FC236}">
                <a16:creationId xmlns:a16="http://schemas.microsoft.com/office/drawing/2014/main" id="{E81BDCA6-2752-1710-7943-3D916DA7B0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A02868-8F07-44C6-8585-F716DEF9AF3A}" type="slidenum">
              <a:rPr lang="en-PK" smtClean="0"/>
              <a:t>‹#›</a:t>
            </a:fld>
            <a:endParaRPr lang="en-PK"/>
          </a:p>
        </p:txBody>
      </p:sp>
    </p:spTree>
    <p:extLst>
      <p:ext uri="{BB962C8B-B14F-4D97-AF65-F5344CB8AC3E}">
        <p14:creationId xmlns:p14="http://schemas.microsoft.com/office/powerpoint/2010/main" val="26830935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6C376-99DE-09E1-E01C-4FB0711BF609}"/>
              </a:ext>
            </a:extLst>
          </p:cNvPr>
          <p:cNvSpPr>
            <a:spLocks noGrp="1"/>
          </p:cNvSpPr>
          <p:nvPr>
            <p:ph type="ctrTitle"/>
          </p:nvPr>
        </p:nvSpPr>
        <p:spPr/>
        <p:txBody>
          <a:bodyPr/>
          <a:lstStyle/>
          <a:p>
            <a:r>
              <a:rPr lang="en-US" dirty="0"/>
              <a:t>Introduction to Programming</a:t>
            </a:r>
            <a:endParaRPr lang="en-PK" dirty="0"/>
          </a:p>
        </p:txBody>
      </p:sp>
      <p:sp>
        <p:nvSpPr>
          <p:cNvPr id="3" name="Subtitle 2">
            <a:extLst>
              <a:ext uri="{FF2B5EF4-FFF2-40B4-BE49-F238E27FC236}">
                <a16:creationId xmlns:a16="http://schemas.microsoft.com/office/drawing/2014/main" id="{CA8381C0-77CB-CA7A-41E6-36675421FB26}"/>
              </a:ext>
            </a:extLst>
          </p:cNvPr>
          <p:cNvSpPr>
            <a:spLocks noGrp="1"/>
          </p:cNvSpPr>
          <p:nvPr>
            <p:ph type="subTitle" idx="1"/>
          </p:nvPr>
        </p:nvSpPr>
        <p:spPr/>
        <p:txBody>
          <a:bodyPr/>
          <a:lstStyle/>
          <a:p>
            <a:endParaRPr lang="en-US" dirty="0"/>
          </a:p>
          <a:p>
            <a:r>
              <a:rPr lang="en-US" sz="3600" b="1" i="1" dirty="0">
                <a:latin typeface="+mj-lt"/>
              </a:rPr>
              <a:t>Casting &amp; Conditionals</a:t>
            </a:r>
          </a:p>
          <a:p>
            <a:endParaRPr lang="en-US" dirty="0"/>
          </a:p>
        </p:txBody>
      </p:sp>
    </p:spTree>
    <p:extLst>
      <p:ext uri="{BB962C8B-B14F-4D97-AF65-F5344CB8AC3E}">
        <p14:creationId xmlns:p14="http://schemas.microsoft.com/office/powerpoint/2010/main" val="23389438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5872F-72CF-7A63-BEA5-BCF6AF115EB3}"/>
              </a:ext>
            </a:extLst>
          </p:cNvPr>
          <p:cNvSpPr>
            <a:spLocks noGrp="1"/>
          </p:cNvSpPr>
          <p:nvPr>
            <p:ph type="title"/>
          </p:nvPr>
        </p:nvSpPr>
        <p:spPr/>
        <p:txBody>
          <a:bodyPr/>
          <a:lstStyle/>
          <a:p>
            <a:r>
              <a:rPr lang="en-US" dirty="0"/>
              <a:t>Random Number Generator</a:t>
            </a:r>
            <a:endParaRPr lang="en-PK" dirty="0"/>
          </a:p>
        </p:txBody>
      </p:sp>
      <p:sp>
        <p:nvSpPr>
          <p:cNvPr id="3" name="Content Placeholder 2">
            <a:extLst>
              <a:ext uri="{FF2B5EF4-FFF2-40B4-BE49-F238E27FC236}">
                <a16:creationId xmlns:a16="http://schemas.microsoft.com/office/drawing/2014/main" id="{D2563642-5123-8A54-DE74-7DCFA007A187}"/>
              </a:ext>
            </a:extLst>
          </p:cNvPr>
          <p:cNvSpPr>
            <a:spLocks noGrp="1"/>
          </p:cNvSpPr>
          <p:nvPr>
            <p:ph idx="1"/>
          </p:nvPr>
        </p:nvSpPr>
        <p:spPr/>
        <p:txBody>
          <a:bodyPr>
            <a:normAutofit fontScale="85000" lnSpcReduction="20000"/>
          </a:bodyPr>
          <a:lstStyle/>
          <a:p>
            <a:pPr marL="0" indent="0">
              <a:buNone/>
            </a:pPr>
            <a:r>
              <a:rPr lang="en-US" dirty="0"/>
              <a:t>#include &lt;iostream&gt;</a:t>
            </a:r>
          </a:p>
          <a:p>
            <a:pPr marL="0" indent="0">
              <a:buNone/>
            </a:pPr>
            <a:r>
              <a:rPr lang="en-US" dirty="0"/>
              <a:t>#include &lt;</a:t>
            </a:r>
            <a:r>
              <a:rPr lang="en-US" dirty="0" err="1"/>
              <a:t>cstdlib</a:t>
            </a:r>
            <a:r>
              <a:rPr lang="en-US" dirty="0"/>
              <a:t>&gt;   // For rand() and </a:t>
            </a:r>
            <a:r>
              <a:rPr lang="en-US" dirty="0" err="1"/>
              <a:t>srand</a:t>
            </a:r>
            <a:r>
              <a:rPr lang="en-US" dirty="0"/>
              <a:t>()</a:t>
            </a:r>
          </a:p>
          <a:p>
            <a:pPr marL="0" indent="0">
              <a:buNone/>
            </a:pPr>
            <a:endParaRPr lang="en-US" dirty="0"/>
          </a:p>
          <a:p>
            <a:pPr marL="0" indent="0">
              <a:buNone/>
            </a:pPr>
            <a:r>
              <a:rPr lang="en-US" dirty="0"/>
              <a:t>int main() {</a:t>
            </a:r>
          </a:p>
          <a:p>
            <a:pPr marL="0" indent="0">
              <a:buNone/>
            </a:pPr>
            <a:r>
              <a:rPr lang="en-US" dirty="0"/>
              <a:t>    std::</a:t>
            </a:r>
            <a:r>
              <a:rPr lang="en-US" dirty="0" err="1"/>
              <a:t>srand</a:t>
            </a:r>
            <a:r>
              <a:rPr lang="en-US" dirty="0"/>
              <a:t>(std::time(0));           // Seed the random number generator</a:t>
            </a:r>
          </a:p>
          <a:p>
            <a:pPr marL="0" indent="0">
              <a:buNone/>
            </a:pPr>
            <a:r>
              <a:rPr lang="en-US" dirty="0"/>
              <a:t>    int </a:t>
            </a:r>
            <a:r>
              <a:rPr lang="en-US" dirty="0" err="1"/>
              <a:t>randomNumber</a:t>
            </a:r>
            <a:r>
              <a:rPr lang="en-US" dirty="0"/>
              <a:t> = std::rand();     // Generate a random number</a:t>
            </a:r>
          </a:p>
          <a:p>
            <a:pPr marL="0" indent="0">
              <a:buNone/>
            </a:pPr>
            <a:endParaRPr lang="en-US" dirty="0"/>
          </a:p>
          <a:p>
            <a:pPr marL="0" indent="0">
              <a:buNone/>
            </a:pPr>
            <a:r>
              <a:rPr lang="en-US" dirty="0"/>
              <a:t>    std::</a:t>
            </a:r>
            <a:r>
              <a:rPr lang="en-US" dirty="0" err="1"/>
              <a:t>cout</a:t>
            </a:r>
            <a:r>
              <a:rPr lang="en-US" dirty="0"/>
              <a:t> &lt;&lt; "Random number: " &lt;&lt; </a:t>
            </a:r>
            <a:r>
              <a:rPr lang="en-US" dirty="0" err="1"/>
              <a:t>randomNumber</a:t>
            </a:r>
            <a:r>
              <a:rPr lang="en-US" dirty="0"/>
              <a:t> &lt;&lt; std::</a:t>
            </a:r>
            <a:r>
              <a:rPr lang="en-US" dirty="0" err="1"/>
              <a:t>endl</a:t>
            </a:r>
            <a:r>
              <a:rPr lang="en-US" dirty="0"/>
              <a:t>;</a:t>
            </a:r>
          </a:p>
          <a:p>
            <a:pPr marL="0" indent="0">
              <a:buNone/>
            </a:pPr>
            <a:endParaRPr lang="en-US" dirty="0"/>
          </a:p>
          <a:p>
            <a:pPr marL="0" indent="0">
              <a:buNone/>
            </a:pPr>
            <a:r>
              <a:rPr lang="en-US" dirty="0"/>
              <a:t>    return 0;</a:t>
            </a:r>
          </a:p>
          <a:p>
            <a:pPr marL="0" indent="0">
              <a:buNone/>
            </a:pPr>
            <a:r>
              <a:rPr lang="en-US" dirty="0"/>
              <a:t>}</a:t>
            </a:r>
          </a:p>
          <a:p>
            <a:pPr marL="0" indent="0">
              <a:buNone/>
            </a:pPr>
            <a:endParaRPr lang="en-PK" dirty="0"/>
          </a:p>
        </p:txBody>
      </p:sp>
    </p:spTree>
    <p:extLst>
      <p:ext uri="{BB962C8B-B14F-4D97-AF65-F5344CB8AC3E}">
        <p14:creationId xmlns:p14="http://schemas.microsoft.com/office/powerpoint/2010/main" val="29538566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43DF4-67BA-A920-14A2-5A87FBA14B34}"/>
              </a:ext>
            </a:extLst>
          </p:cNvPr>
          <p:cNvSpPr>
            <a:spLocks noGrp="1"/>
          </p:cNvSpPr>
          <p:nvPr>
            <p:ph type="title"/>
          </p:nvPr>
        </p:nvSpPr>
        <p:spPr/>
        <p:txBody>
          <a:bodyPr>
            <a:normAutofit/>
          </a:bodyPr>
          <a:lstStyle/>
          <a:p>
            <a:r>
              <a:rPr lang="en-US" sz="3600" dirty="0"/>
              <a:t>Data type for computing with strings: </a:t>
            </a:r>
            <a:r>
              <a:rPr lang="en-US" sz="3600" dirty="0">
                <a:latin typeface="Consolas" panose="020B0609020204030204" pitchFamily="49" charset="0"/>
              </a:rPr>
              <a:t>std::string</a:t>
            </a:r>
            <a:endParaRPr lang="en-PK" sz="3600" dirty="0">
              <a:latin typeface="Consolas" panose="020B0609020204030204" pitchFamily="49" charset="0"/>
            </a:endParaRPr>
          </a:p>
        </p:txBody>
      </p:sp>
      <p:graphicFrame>
        <p:nvGraphicFramePr>
          <p:cNvPr id="5" name="Table 5">
            <a:extLst>
              <a:ext uri="{FF2B5EF4-FFF2-40B4-BE49-F238E27FC236}">
                <a16:creationId xmlns:a16="http://schemas.microsoft.com/office/drawing/2014/main" id="{4FD4DA02-949A-FD85-FB80-35075EB80BEB}"/>
              </a:ext>
            </a:extLst>
          </p:cNvPr>
          <p:cNvGraphicFramePr>
            <a:graphicFrameLocks noGrp="1"/>
          </p:cNvGraphicFramePr>
          <p:nvPr/>
        </p:nvGraphicFramePr>
        <p:xfrm>
          <a:off x="702944" y="1498044"/>
          <a:ext cx="5516881" cy="1483360"/>
        </p:xfrm>
        <a:graphic>
          <a:graphicData uri="http://schemas.openxmlformats.org/drawingml/2006/table">
            <a:tbl>
              <a:tblPr bandRow="1">
                <a:tableStyleId>{5C22544A-7EE6-4342-B048-85BDC9FD1C3A}</a:tableStyleId>
              </a:tblPr>
              <a:tblGrid>
                <a:gridCol w="1659256">
                  <a:extLst>
                    <a:ext uri="{9D8B030D-6E8A-4147-A177-3AD203B41FA5}">
                      <a16:colId xmlns:a16="http://schemas.microsoft.com/office/drawing/2014/main" val="977857119"/>
                    </a:ext>
                  </a:extLst>
                </a:gridCol>
                <a:gridCol w="3857625">
                  <a:extLst>
                    <a:ext uri="{9D8B030D-6E8A-4147-A177-3AD203B41FA5}">
                      <a16:colId xmlns:a16="http://schemas.microsoft.com/office/drawing/2014/main" val="1272258279"/>
                    </a:ext>
                  </a:extLst>
                </a:gridCol>
              </a:tblGrid>
              <a:tr h="370840">
                <a:tc>
                  <a:txBody>
                    <a:bodyPr/>
                    <a:lstStyle/>
                    <a:p>
                      <a:pPr algn="ctr"/>
                      <a:r>
                        <a:rPr lang="en-US" i="1" dirty="0"/>
                        <a:t>values</a:t>
                      </a:r>
                      <a:endParaRPr lang="en-PK" i="1" dirty="0"/>
                    </a:p>
                  </a:txBody>
                  <a:tcPr anchor="ctr"/>
                </a:tc>
                <a:tc>
                  <a:txBody>
                    <a:bodyPr/>
                    <a:lstStyle/>
                    <a:p>
                      <a:pPr algn="ctr"/>
                      <a:r>
                        <a:rPr lang="en-US" dirty="0"/>
                        <a:t>sequence of characters</a:t>
                      </a:r>
                      <a:r>
                        <a:rPr lang="en-US" baseline="30000" dirty="0"/>
                        <a:t>1</a:t>
                      </a:r>
                      <a:endParaRPr lang="en-PK" baseline="30000" dirty="0"/>
                    </a:p>
                  </a:txBody>
                  <a:tcPr anchor="ctr"/>
                </a:tc>
                <a:extLst>
                  <a:ext uri="{0D108BD9-81ED-4DB2-BD59-A6C34878D82A}">
                    <a16:rowId xmlns:a16="http://schemas.microsoft.com/office/drawing/2014/main" val="3079373110"/>
                  </a:ext>
                </a:extLst>
              </a:tr>
              <a:tr h="370840">
                <a:tc>
                  <a:txBody>
                    <a:bodyPr/>
                    <a:lstStyle/>
                    <a:p>
                      <a:pPr algn="ctr"/>
                      <a:r>
                        <a:rPr lang="en-US" i="1" dirty="0"/>
                        <a:t>typical literals</a:t>
                      </a:r>
                      <a:r>
                        <a:rPr lang="en-US" i="1" baseline="30000" dirty="0"/>
                        <a:t>2</a:t>
                      </a:r>
                      <a:endParaRPr lang="en-PK" i="1" baseline="30000" dirty="0"/>
                    </a:p>
                  </a:txBody>
                  <a:tcPr anchor="ctr"/>
                </a:tc>
                <a:tc>
                  <a:txBody>
                    <a:bodyPr/>
                    <a:lstStyle/>
                    <a:p>
                      <a:pPr algn="ctr"/>
                      <a:r>
                        <a:rPr lang="en-US" dirty="0">
                          <a:latin typeface="Consolas" panose="020B0609020204030204" pitchFamily="49" charset="0"/>
                        </a:rPr>
                        <a:t>"Hello, "    "</a:t>
                      </a:r>
                      <a:r>
                        <a:rPr lang="en-PK" dirty="0">
                          <a:latin typeface="Consolas" panose="020B0609020204030204" pitchFamily="49" charset="0"/>
                        </a:rPr>
                        <a:t>1</a:t>
                      </a:r>
                      <a:r>
                        <a:rPr lang="en-US" dirty="0">
                          <a:latin typeface="Consolas" panose="020B0609020204030204" pitchFamily="49" charset="0"/>
                        </a:rPr>
                        <a:t> "     " * "  </a:t>
                      </a:r>
                      <a:endParaRPr lang="en-PK" dirty="0">
                        <a:latin typeface="Consolas" panose="020B0609020204030204" pitchFamily="49" charset="0"/>
                      </a:endParaRPr>
                    </a:p>
                  </a:txBody>
                  <a:tcPr anchor="ctr"/>
                </a:tc>
                <a:extLst>
                  <a:ext uri="{0D108BD9-81ED-4DB2-BD59-A6C34878D82A}">
                    <a16:rowId xmlns:a16="http://schemas.microsoft.com/office/drawing/2014/main" val="2986758240"/>
                  </a:ext>
                </a:extLst>
              </a:tr>
              <a:tr h="370840">
                <a:tc>
                  <a:txBody>
                    <a:bodyPr/>
                    <a:lstStyle/>
                    <a:p>
                      <a:pPr algn="ctr"/>
                      <a:r>
                        <a:rPr lang="en-US" i="1" dirty="0"/>
                        <a:t>operations</a:t>
                      </a:r>
                      <a:endParaRPr lang="en-PK" i="1" dirty="0"/>
                    </a:p>
                  </a:txBody>
                  <a:tcPr anchor="ctr"/>
                </a:tc>
                <a:tc>
                  <a:txBody>
                    <a:bodyPr/>
                    <a:lstStyle/>
                    <a:p>
                      <a:pPr algn="ctr"/>
                      <a:r>
                        <a:rPr lang="en-US" dirty="0"/>
                        <a:t>concatenation</a:t>
                      </a:r>
                      <a:endParaRPr lang="en-PK" dirty="0"/>
                    </a:p>
                  </a:txBody>
                  <a:tcPr anchor="ctr"/>
                </a:tc>
                <a:extLst>
                  <a:ext uri="{0D108BD9-81ED-4DB2-BD59-A6C34878D82A}">
                    <a16:rowId xmlns:a16="http://schemas.microsoft.com/office/drawing/2014/main" val="2992373713"/>
                  </a:ext>
                </a:extLst>
              </a:tr>
              <a:tr h="370840">
                <a:tc>
                  <a:txBody>
                    <a:bodyPr/>
                    <a:lstStyle/>
                    <a:p>
                      <a:pPr algn="ctr"/>
                      <a:r>
                        <a:rPr lang="en-US" i="1" dirty="0"/>
                        <a:t>operators</a:t>
                      </a:r>
                      <a:endParaRPr lang="en-PK" i="1" dirty="0"/>
                    </a:p>
                  </a:txBody>
                  <a:tcPr anchor="ctr"/>
                </a:tc>
                <a:tc>
                  <a:txBody>
                    <a:bodyPr/>
                    <a:lstStyle/>
                    <a:p>
                      <a:pPr algn="ctr"/>
                      <a:r>
                        <a:rPr lang="en-US" dirty="0"/>
                        <a:t>+  </a:t>
                      </a:r>
                      <a:endParaRPr lang="en-PK" dirty="0"/>
                    </a:p>
                  </a:txBody>
                  <a:tcPr anchor="ctr"/>
                </a:tc>
                <a:extLst>
                  <a:ext uri="{0D108BD9-81ED-4DB2-BD59-A6C34878D82A}">
                    <a16:rowId xmlns:a16="http://schemas.microsoft.com/office/drawing/2014/main" val="3109690668"/>
                  </a:ext>
                </a:extLst>
              </a:tr>
            </a:tbl>
          </a:graphicData>
        </a:graphic>
      </p:graphicFrame>
      <p:sp>
        <p:nvSpPr>
          <p:cNvPr id="12" name="TextBox 11">
            <a:extLst>
              <a:ext uri="{FF2B5EF4-FFF2-40B4-BE49-F238E27FC236}">
                <a16:creationId xmlns:a16="http://schemas.microsoft.com/office/drawing/2014/main" id="{D853F123-DA12-3DE3-E3B9-8A46C06FF263}"/>
              </a:ext>
            </a:extLst>
          </p:cNvPr>
          <p:cNvSpPr txBox="1"/>
          <p:nvPr/>
        </p:nvSpPr>
        <p:spPr>
          <a:xfrm>
            <a:off x="714375" y="4556839"/>
            <a:ext cx="5133976" cy="369332"/>
          </a:xfrm>
          <a:prstGeom prst="rect">
            <a:avLst/>
          </a:prstGeom>
          <a:solidFill>
            <a:schemeClr val="accent1">
              <a:lumMod val="40000"/>
              <a:lumOff val="60000"/>
              <a:alpha val="50000"/>
            </a:schemeClr>
          </a:solidFill>
        </p:spPr>
        <p:txBody>
          <a:bodyPr wrap="square" rtlCol="0">
            <a:spAutoFit/>
          </a:bodyPr>
          <a:lstStyle/>
          <a:p>
            <a:r>
              <a:rPr lang="en-US" dirty="0">
                <a:solidFill>
                  <a:schemeClr val="accent1"/>
                </a:solidFill>
              </a:rPr>
              <a:t>Examples of std::string operations (concatenation)</a:t>
            </a:r>
          </a:p>
        </p:txBody>
      </p:sp>
      <p:sp>
        <p:nvSpPr>
          <p:cNvPr id="3" name="TextBox 2">
            <a:extLst>
              <a:ext uri="{FF2B5EF4-FFF2-40B4-BE49-F238E27FC236}">
                <a16:creationId xmlns:a16="http://schemas.microsoft.com/office/drawing/2014/main" id="{642C0F99-2D50-3B1D-1C2D-2C4863F1682F}"/>
              </a:ext>
            </a:extLst>
          </p:cNvPr>
          <p:cNvSpPr txBox="1"/>
          <p:nvPr/>
        </p:nvSpPr>
        <p:spPr>
          <a:xfrm>
            <a:off x="702944" y="4928314"/>
            <a:ext cx="5240656" cy="1200329"/>
          </a:xfrm>
          <a:prstGeom prst="rect">
            <a:avLst/>
          </a:prstGeom>
          <a:solidFill>
            <a:schemeClr val="accent1">
              <a:lumMod val="20000"/>
              <a:lumOff val="80000"/>
              <a:alpha val="50000"/>
            </a:schemeClr>
          </a:solidFill>
        </p:spPr>
        <p:txBody>
          <a:bodyPr wrap="square" rtlCol="0">
            <a:spAutoFit/>
          </a:bodyPr>
          <a:lstStyle/>
          <a:p>
            <a:r>
              <a:rPr lang="en-US" dirty="0">
                <a:latin typeface="Consolas" panose="020B0609020204030204" pitchFamily="49" charset="0"/>
              </a:rPr>
              <a:t>std::string s1 { "Hello, " };</a:t>
            </a:r>
          </a:p>
          <a:p>
            <a:r>
              <a:rPr lang="en-US" dirty="0">
                <a:latin typeface="Consolas" panose="020B0609020204030204" pitchFamily="49" charset="0"/>
              </a:rPr>
              <a:t>std::string s2 { s1 + "ITP class" };</a:t>
            </a:r>
          </a:p>
          <a:p>
            <a:r>
              <a:rPr lang="en-US" dirty="0">
                <a:latin typeface="Consolas" panose="020B0609020204030204" pitchFamily="49" charset="0"/>
              </a:rPr>
              <a:t>std::string s3 = s2 + '\n';</a:t>
            </a:r>
          </a:p>
          <a:p>
            <a:r>
              <a:rPr lang="en-US" dirty="0">
                <a:latin typeface="Consolas" panose="020B0609020204030204" pitchFamily="49" charset="0"/>
              </a:rPr>
              <a:t>std::</a:t>
            </a:r>
            <a:r>
              <a:rPr lang="en-US" dirty="0" err="1">
                <a:latin typeface="Consolas" panose="020B0609020204030204" pitchFamily="49" charset="0"/>
              </a:rPr>
              <a:t>cout</a:t>
            </a:r>
            <a:r>
              <a:rPr lang="en-US" dirty="0">
                <a:latin typeface="Consolas" panose="020B0609020204030204" pitchFamily="49" charset="0"/>
              </a:rPr>
              <a:t> &lt;&lt; s3;</a:t>
            </a:r>
            <a:endParaRPr lang="en-PK" dirty="0">
              <a:latin typeface="Consolas" panose="020B0609020204030204" pitchFamily="49" charset="0"/>
            </a:endParaRPr>
          </a:p>
        </p:txBody>
      </p:sp>
      <p:sp>
        <p:nvSpPr>
          <p:cNvPr id="7" name="TextBox 6">
            <a:extLst>
              <a:ext uri="{FF2B5EF4-FFF2-40B4-BE49-F238E27FC236}">
                <a16:creationId xmlns:a16="http://schemas.microsoft.com/office/drawing/2014/main" id="{3AA7471F-50F4-52DC-337C-159C400D8269}"/>
              </a:ext>
            </a:extLst>
          </p:cNvPr>
          <p:cNvSpPr txBox="1"/>
          <p:nvPr/>
        </p:nvSpPr>
        <p:spPr>
          <a:xfrm>
            <a:off x="701743" y="2972766"/>
            <a:ext cx="5343525" cy="646331"/>
          </a:xfrm>
          <a:prstGeom prst="rect">
            <a:avLst/>
          </a:prstGeom>
          <a:noFill/>
        </p:spPr>
        <p:txBody>
          <a:bodyPr wrap="square" rtlCol="0">
            <a:spAutoFit/>
          </a:bodyPr>
          <a:lstStyle/>
          <a:p>
            <a:r>
              <a:rPr lang="en-US" baseline="30000" dirty="0"/>
              <a:t>1</a:t>
            </a:r>
            <a:r>
              <a:rPr lang="en-US" dirty="0"/>
              <a:t> infinite many possible values</a:t>
            </a:r>
          </a:p>
          <a:p>
            <a:r>
              <a:rPr lang="en-US" baseline="30000" dirty="0"/>
              <a:t>2</a:t>
            </a:r>
            <a:r>
              <a:rPr lang="en-US" dirty="0"/>
              <a:t> </a:t>
            </a:r>
            <a:r>
              <a:rPr lang="en-US" dirty="0">
                <a:latin typeface="Consolas" panose="020B0609020204030204" pitchFamily="49" charset="0"/>
              </a:rPr>
              <a:t>std::string </a:t>
            </a:r>
            <a:r>
              <a:rPr lang="en-US" dirty="0"/>
              <a:t>can be constructed from these literals</a:t>
            </a:r>
            <a:endParaRPr lang="en-PK" dirty="0"/>
          </a:p>
        </p:txBody>
      </p:sp>
      <p:sp>
        <p:nvSpPr>
          <p:cNvPr id="10" name="TextBox 9">
            <a:extLst>
              <a:ext uri="{FF2B5EF4-FFF2-40B4-BE49-F238E27FC236}">
                <a16:creationId xmlns:a16="http://schemas.microsoft.com/office/drawing/2014/main" id="{918A0A84-1C97-3E41-F95D-849913E93205}"/>
              </a:ext>
            </a:extLst>
          </p:cNvPr>
          <p:cNvSpPr txBox="1"/>
          <p:nvPr/>
        </p:nvSpPr>
        <p:spPr>
          <a:xfrm>
            <a:off x="6689660" y="2318269"/>
            <a:ext cx="4936283" cy="369332"/>
          </a:xfrm>
          <a:prstGeom prst="rect">
            <a:avLst/>
          </a:prstGeom>
          <a:solidFill>
            <a:schemeClr val="accent1">
              <a:lumMod val="20000"/>
              <a:lumOff val="80000"/>
              <a:alpha val="50000"/>
            </a:schemeClr>
          </a:solidFill>
        </p:spPr>
        <p:txBody>
          <a:bodyPr wrap="square" rtlCol="0">
            <a:spAutoFit/>
          </a:bodyPr>
          <a:lstStyle/>
          <a:p>
            <a:r>
              <a:rPr lang="en-US" dirty="0">
                <a:latin typeface="Consolas" panose="020B0609020204030204" pitchFamily="49" charset="0"/>
              </a:rPr>
              <a:t>std::string s; // create empty string</a:t>
            </a:r>
          </a:p>
        </p:txBody>
      </p:sp>
      <p:sp>
        <p:nvSpPr>
          <p:cNvPr id="11" name="TextBox 10">
            <a:extLst>
              <a:ext uri="{FF2B5EF4-FFF2-40B4-BE49-F238E27FC236}">
                <a16:creationId xmlns:a16="http://schemas.microsoft.com/office/drawing/2014/main" id="{733E5DED-7CF6-0BE2-DA8B-905F7A8DAEB7}"/>
              </a:ext>
            </a:extLst>
          </p:cNvPr>
          <p:cNvSpPr txBox="1"/>
          <p:nvPr/>
        </p:nvSpPr>
        <p:spPr>
          <a:xfrm>
            <a:off x="6600824" y="1965844"/>
            <a:ext cx="4752975" cy="369332"/>
          </a:xfrm>
          <a:prstGeom prst="rect">
            <a:avLst/>
          </a:prstGeom>
          <a:noFill/>
        </p:spPr>
        <p:txBody>
          <a:bodyPr wrap="square" rtlCol="0">
            <a:spAutoFit/>
          </a:bodyPr>
          <a:lstStyle/>
          <a:p>
            <a:r>
              <a:rPr lang="en-US" dirty="0">
                <a:solidFill>
                  <a:schemeClr val="accent1"/>
                </a:solidFill>
              </a:rPr>
              <a:t>character interpretation depends on the context</a:t>
            </a:r>
            <a:endParaRPr lang="en-PK" i="1" baseline="30000" dirty="0">
              <a:solidFill>
                <a:schemeClr val="accent1"/>
              </a:solidFill>
            </a:endParaRPr>
          </a:p>
        </p:txBody>
      </p:sp>
      <p:sp>
        <p:nvSpPr>
          <p:cNvPr id="16" name="TextBox 15">
            <a:extLst>
              <a:ext uri="{FF2B5EF4-FFF2-40B4-BE49-F238E27FC236}">
                <a16:creationId xmlns:a16="http://schemas.microsoft.com/office/drawing/2014/main" id="{F06E5A4D-F819-FEF2-99EC-8CDA45E13438}"/>
              </a:ext>
            </a:extLst>
          </p:cNvPr>
          <p:cNvSpPr txBox="1"/>
          <p:nvPr/>
        </p:nvSpPr>
        <p:spPr>
          <a:xfrm>
            <a:off x="6496049" y="3308869"/>
            <a:ext cx="1571626" cy="369332"/>
          </a:xfrm>
          <a:prstGeom prst="rect">
            <a:avLst/>
          </a:prstGeom>
          <a:solidFill>
            <a:schemeClr val="accent1">
              <a:lumMod val="40000"/>
              <a:lumOff val="60000"/>
              <a:alpha val="50000"/>
            </a:schemeClr>
          </a:solidFill>
        </p:spPr>
        <p:txBody>
          <a:bodyPr wrap="square" rtlCol="0">
            <a:spAutoFit/>
          </a:bodyPr>
          <a:lstStyle/>
          <a:p>
            <a:r>
              <a:rPr lang="en-US" dirty="0"/>
              <a:t>Ex 1: plus sign</a:t>
            </a:r>
          </a:p>
        </p:txBody>
      </p:sp>
      <p:sp>
        <p:nvSpPr>
          <p:cNvPr id="17" name="TextBox 16">
            <a:extLst>
              <a:ext uri="{FF2B5EF4-FFF2-40B4-BE49-F238E27FC236}">
                <a16:creationId xmlns:a16="http://schemas.microsoft.com/office/drawing/2014/main" id="{2081D2F1-DD0C-7C23-A004-89D63D20DD75}"/>
              </a:ext>
            </a:extLst>
          </p:cNvPr>
          <p:cNvSpPr txBox="1"/>
          <p:nvPr/>
        </p:nvSpPr>
        <p:spPr>
          <a:xfrm>
            <a:off x="8258175" y="3318394"/>
            <a:ext cx="3543300" cy="369332"/>
          </a:xfrm>
          <a:prstGeom prst="rect">
            <a:avLst/>
          </a:prstGeom>
          <a:solidFill>
            <a:schemeClr val="accent1">
              <a:lumMod val="20000"/>
              <a:lumOff val="80000"/>
              <a:alpha val="50000"/>
            </a:schemeClr>
          </a:solidFill>
        </p:spPr>
        <p:txBody>
          <a:bodyPr wrap="square" rtlCol="0">
            <a:spAutoFit/>
          </a:bodyPr>
          <a:lstStyle/>
          <a:p>
            <a:r>
              <a:rPr lang="en-US" dirty="0">
                <a:latin typeface="Consolas" panose="020B0609020204030204" pitchFamily="49" charset="0"/>
              </a:rPr>
              <a:t>s + "1234" + " + " + "99"</a:t>
            </a:r>
          </a:p>
        </p:txBody>
      </p:sp>
      <p:sp>
        <p:nvSpPr>
          <p:cNvPr id="19" name="TextBox 18">
            <a:extLst>
              <a:ext uri="{FF2B5EF4-FFF2-40B4-BE49-F238E27FC236}">
                <a16:creationId xmlns:a16="http://schemas.microsoft.com/office/drawing/2014/main" id="{1FDB9DD5-2262-44D0-68C5-B44D09A30447}"/>
              </a:ext>
            </a:extLst>
          </p:cNvPr>
          <p:cNvSpPr txBox="1"/>
          <p:nvPr/>
        </p:nvSpPr>
        <p:spPr>
          <a:xfrm>
            <a:off x="9763125" y="2802764"/>
            <a:ext cx="1047750" cy="338554"/>
          </a:xfrm>
          <a:prstGeom prst="rect">
            <a:avLst/>
          </a:prstGeom>
          <a:noFill/>
        </p:spPr>
        <p:txBody>
          <a:bodyPr wrap="square" rtlCol="0">
            <a:spAutoFit/>
          </a:bodyPr>
          <a:lstStyle/>
          <a:p>
            <a:r>
              <a:rPr lang="en-US" sz="1600" dirty="0">
                <a:solidFill>
                  <a:schemeClr val="accent1"/>
                </a:solidFill>
              </a:rPr>
              <a:t>character</a:t>
            </a:r>
            <a:endParaRPr lang="en-PK" sz="1600" dirty="0">
              <a:solidFill>
                <a:schemeClr val="accent1"/>
              </a:solidFill>
            </a:endParaRPr>
          </a:p>
        </p:txBody>
      </p:sp>
      <p:sp>
        <p:nvSpPr>
          <p:cNvPr id="20" name="TextBox 19">
            <a:extLst>
              <a:ext uri="{FF2B5EF4-FFF2-40B4-BE49-F238E27FC236}">
                <a16:creationId xmlns:a16="http://schemas.microsoft.com/office/drawing/2014/main" id="{00693D90-B2A7-61BD-43D5-604D5A9D976E}"/>
              </a:ext>
            </a:extLst>
          </p:cNvPr>
          <p:cNvSpPr txBox="1"/>
          <p:nvPr/>
        </p:nvSpPr>
        <p:spPr>
          <a:xfrm>
            <a:off x="10287000" y="3804348"/>
            <a:ext cx="1047750" cy="338554"/>
          </a:xfrm>
          <a:prstGeom prst="rect">
            <a:avLst/>
          </a:prstGeom>
          <a:noFill/>
        </p:spPr>
        <p:txBody>
          <a:bodyPr wrap="square" rtlCol="0">
            <a:spAutoFit/>
          </a:bodyPr>
          <a:lstStyle/>
          <a:p>
            <a:r>
              <a:rPr lang="en-US" sz="1600" dirty="0">
                <a:solidFill>
                  <a:schemeClr val="accent1"/>
                </a:solidFill>
              </a:rPr>
              <a:t>operator</a:t>
            </a:r>
            <a:endParaRPr lang="en-PK" sz="1600" dirty="0">
              <a:solidFill>
                <a:schemeClr val="accent1"/>
              </a:solidFill>
            </a:endParaRPr>
          </a:p>
        </p:txBody>
      </p:sp>
      <p:cxnSp>
        <p:nvCxnSpPr>
          <p:cNvPr id="23" name="Straight Arrow Connector 22">
            <a:extLst>
              <a:ext uri="{FF2B5EF4-FFF2-40B4-BE49-F238E27FC236}">
                <a16:creationId xmlns:a16="http://schemas.microsoft.com/office/drawing/2014/main" id="{8B84CCD4-2519-A3E8-38FF-3CF33992D922}"/>
              </a:ext>
            </a:extLst>
          </p:cNvPr>
          <p:cNvCxnSpPr>
            <a:cxnSpLocks/>
            <a:stCxn id="19" idx="2"/>
          </p:cNvCxnSpPr>
          <p:nvPr/>
        </p:nvCxnSpPr>
        <p:spPr>
          <a:xfrm>
            <a:off x="10287000" y="3141318"/>
            <a:ext cx="0" cy="2760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C1748E83-5916-2E89-5557-C3E2FB11AD56}"/>
              </a:ext>
            </a:extLst>
          </p:cNvPr>
          <p:cNvCxnSpPr>
            <a:cxnSpLocks/>
          </p:cNvCxnSpPr>
          <p:nvPr/>
        </p:nvCxnSpPr>
        <p:spPr>
          <a:xfrm flipV="1">
            <a:off x="10801350" y="3654120"/>
            <a:ext cx="0" cy="2359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2616ED10-B4BA-A25D-29EF-46CB7558C930}"/>
              </a:ext>
            </a:extLst>
          </p:cNvPr>
          <p:cNvSpPr txBox="1"/>
          <p:nvPr/>
        </p:nvSpPr>
        <p:spPr>
          <a:xfrm>
            <a:off x="8162925" y="3804348"/>
            <a:ext cx="1047750" cy="338554"/>
          </a:xfrm>
          <a:prstGeom prst="rect">
            <a:avLst/>
          </a:prstGeom>
          <a:noFill/>
        </p:spPr>
        <p:txBody>
          <a:bodyPr wrap="square" rtlCol="0">
            <a:spAutoFit/>
          </a:bodyPr>
          <a:lstStyle/>
          <a:p>
            <a:r>
              <a:rPr lang="en-US" sz="1600" dirty="0">
                <a:solidFill>
                  <a:schemeClr val="accent1"/>
                </a:solidFill>
              </a:rPr>
              <a:t>operator</a:t>
            </a:r>
            <a:endParaRPr lang="en-PK" sz="1600" dirty="0">
              <a:solidFill>
                <a:schemeClr val="accent1"/>
              </a:solidFill>
            </a:endParaRPr>
          </a:p>
        </p:txBody>
      </p:sp>
      <p:cxnSp>
        <p:nvCxnSpPr>
          <p:cNvPr id="28" name="Straight Arrow Connector 27">
            <a:extLst>
              <a:ext uri="{FF2B5EF4-FFF2-40B4-BE49-F238E27FC236}">
                <a16:creationId xmlns:a16="http://schemas.microsoft.com/office/drawing/2014/main" id="{2ED880FD-5F10-D0AF-4327-FF47B000D16E}"/>
              </a:ext>
            </a:extLst>
          </p:cNvPr>
          <p:cNvCxnSpPr>
            <a:cxnSpLocks/>
          </p:cNvCxnSpPr>
          <p:nvPr/>
        </p:nvCxnSpPr>
        <p:spPr>
          <a:xfrm flipV="1">
            <a:off x="8677275" y="3654120"/>
            <a:ext cx="0" cy="2359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1DFF32E7-7A13-50BE-70B7-FD3084F409F1}"/>
              </a:ext>
            </a:extLst>
          </p:cNvPr>
          <p:cNvSpPr txBox="1"/>
          <p:nvPr/>
        </p:nvSpPr>
        <p:spPr>
          <a:xfrm>
            <a:off x="9277351" y="3804348"/>
            <a:ext cx="1047750" cy="338554"/>
          </a:xfrm>
          <a:prstGeom prst="rect">
            <a:avLst/>
          </a:prstGeom>
          <a:noFill/>
        </p:spPr>
        <p:txBody>
          <a:bodyPr wrap="square" rtlCol="0">
            <a:spAutoFit/>
          </a:bodyPr>
          <a:lstStyle/>
          <a:p>
            <a:r>
              <a:rPr lang="en-US" sz="1600" dirty="0">
                <a:solidFill>
                  <a:schemeClr val="accent1"/>
                </a:solidFill>
              </a:rPr>
              <a:t>operator</a:t>
            </a:r>
            <a:endParaRPr lang="en-PK" sz="1600" dirty="0">
              <a:solidFill>
                <a:schemeClr val="accent1"/>
              </a:solidFill>
            </a:endParaRPr>
          </a:p>
        </p:txBody>
      </p:sp>
      <p:cxnSp>
        <p:nvCxnSpPr>
          <p:cNvPr id="30" name="Straight Arrow Connector 29">
            <a:extLst>
              <a:ext uri="{FF2B5EF4-FFF2-40B4-BE49-F238E27FC236}">
                <a16:creationId xmlns:a16="http://schemas.microsoft.com/office/drawing/2014/main" id="{73D996F8-403A-7915-4866-548F897E82C0}"/>
              </a:ext>
            </a:extLst>
          </p:cNvPr>
          <p:cNvCxnSpPr>
            <a:cxnSpLocks/>
          </p:cNvCxnSpPr>
          <p:nvPr/>
        </p:nvCxnSpPr>
        <p:spPr>
          <a:xfrm flipV="1">
            <a:off x="9791701" y="3654120"/>
            <a:ext cx="0" cy="2359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2464F66A-9134-D604-1A12-CF9DEC126DEB}"/>
              </a:ext>
            </a:extLst>
          </p:cNvPr>
          <p:cNvSpPr txBox="1"/>
          <p:nvPr/>
        </p:nvSpPr>
        <p:spPr>
          <a:xfrm>
            <a:off x="6496049" y="4975744"/>
            <a:ext cx="1571626" cy="369332"/>
          </a:xfrm>
          <a:prstGeom prst="rect">
            <a:avLst/>
          </a:prstGeom>
          <a:solidFill>
            <a:schemeClr val="accent1">
              <a:lumMod val="40000"/>
              <a:lumOff val="60000"/>
              <a:alpha val="50000"/>
            </a:schemeClr>
          </a:solidFill>
        </p:spPr>
        <p:txBody>
          <a:bodyPr wrap="square" rtlCol="0">
            <a:spAutoFit/>
          </a:bodyPr>
          <a:lstStyle/>
          <a:p>
            <a:r>
              <a:rPr lang="en-US" dirty="0"/>
              <a:t>Ex 2: spaces</a:t>
            </a:r>
          </a:p>
        </p:txBody>
      </p:sp>
      <p:sp>
        <p:nvSpPr>
          <p:cNvPr id="32" name="TextBox 31">
            <a:extLst>
              <a:ext uri="{FF2B5EF4-FFF2-40B4-BE49-F238E27FC236}">
                <a16:creationId xmlns:a16="http://schemas.microsoft.com/office/drawing/2014/main" id="{EC0CB5A5-A773-680F-EDF6-1508A4D9F6FF}"/>
              </a:ext>
            </a:extLst>
          </p:cNvPr>
          <p:cNvSpPr txBox="1"/>
          <p:nvPr/>
        </p:nvSpPr>
        <p:spPr>
          <a:xfrm>
            <a:off x="8258175" y="4985269"/>
            <a:ext cx="3543300" cy="369332"/>
          </a:xfrm>
          <a:prstGeom prst="rect">
            <a:avLst/>
          </a:prstGeom>
          <a:solidFill>
            <a:schemeClr val="accent1">
              <a:lumMod val="20000"/>
              <a:lumOff val="80000"/>
              <a:alpha val="50000"/>
            </a:schemeClr>
          </a:solidFill>
        </p:spPr>
        <p:txBody>
          <a:bodyPr wrap="square" rtlCol="0">
            <a:spAutoFit/>
          </a:bodyPr>
          <a:lstStyle/>
          <a:p>
            <a:r>
              <a:rPr lang="en-US" dirty="0">
                <a:latin typeface="Consolas" panose="020B0609020204030204" pitchFamily="49" charset="0"/>
              </a:rPr>
              <a:t>s + "1234" + " + " + "99"</a:t>
            </a:r>
          </a:p>
        </p:txBody>
      </p:sp>
      <p:sp>
        <p:nvSpPr>
          <p:cNvPr id="33" name="TextBox 32">
            <a:extLst>
              <a:ext uri="{FF2B5EF4-FFF2-40B4-BE49-F238E27FC236}">
                <a16:creationId xmlns:a16="http://schemas.microsoft.com/office/drawing/2014/main" id="{FFC4E67F-185A-2D0B-344F-D184DDF970C3}"/>
              </a:ext>
            </a:extLst>
          </p:cNvPr>
          <p:cNvSpPr txBox="1"/>
          <p:nvPr/>
        </p:nvSpPr>
        <p:spPr>
          <a:xfrm>
            <a:off x="10168715" y="4450396"/>
            <a:ext cx="1284319" cy="338554"/>
          </a:xfrm>
          <a:prstGeom prst="rect">
            <a:avLst/>
          </a:prstGeom>
          <a:noFill/>
        </p:spPr>
        <p:txBody>
          <a:bodyPr wrap="square" rtlCol="0">
            <a:spAutoFit/>
          </a:bodyPr>
          <a:lstStyle/>
          <a:p>
            <a:r>
              <a:rPr lang="en-US" sz="1600" dirty="0">
                <a:solidFill>
                  <a:schemeClr val="accent1"/>
                </a:solidFill>
              </a:rPr>
              <a:t>white space</a:t>
            </a:r>
            <a:endParaRPr lang="en-PK" sz="1600" dirty="0">
              <a:solidFill>
                <a:schemeClr val="accent1"/>
              </a:solidFill>
            </a:endParaRPr>
          </a:p>
        </p:txBody>
      </p:sp>
      <p:sp>
        <p:nvSpPr>
          <p:cNvPr id="34" name="TextBox 33">
            <a:extLst>
              <a:ext uri="{FF2B5EF4-FFF2-40B4-BE49-F238E27FC236}">
                <a16:creationId xmlns:a16="http://schemas.microsoft.com/office/drawing/2014/main" id="{4A198DAD-F6BC-5EE2-BF12-19C16584C820}"/>
              </a:ext>
            </a:extLst>
          </p:cNvPr>
          <p:cNvSpPr txBox="1"/>
          <p:nvPr/>
        </p:nvSpPr>
        <p:spPr>
          <a:xfrm>
            <a:off x="9468239" y="5504663"/>
            <a:ext cx="1637522" cy="338554"/>
          </a:xfrm>
          <a:prstGeom prst="rect">
            <a:avLst/>
          </a:prstGeom>
          <a:noFill/>
        </p:spPr>
        <p:txBody>
          <a:bodyPr wrap="square" rtlCol="0">
            <a:spAutoFit/>
          </a:bodyPr>
          <a:lstStyle/>
          <a:p>
            <a:r>
              <a:rPr lang="en-US" sz="1600" dirty="0">
                <a:solidFill>
                  <a:schemeClr val="accent1"/>
                </a:solidFill>
              </a:rPr>
              <a:t>space characters</a:t>
            </a:r>
            <a:endParaRPr lang="en-PK" sz="1600" dirty="0">
              <a:solidFill>
                <a:schemeClr val="accent1"/>
              </a:solidFill>
            </a:endParaRPr>
          </a:p>
        </p:txBody>
      </p:sp>
      <p:cxnSp>
        <p:nvCxnSpPr>
          <p:cNvPr id="35" name="Straight Arrow Connector 34">
            <a:extLst>
              <a:ext uri="{FF2B5EF4-FFF2-40B4-BE49-F238E27FC236}">
                <a16:creationId xmlns:a16="http://schemas.microsoft.com/office/drawing/2014/main" id="{7917A9ED-7E18-55FB-3F60-5C791E690B39}"/>
              </a:ext>
            </a:extLst>
          </p:cNvPr>
          <p:cNvCxnSpPr>
            <a:cxnSpLocks/>
            <a:stCxn id="33" idx="2"/>
          </p:cNvCxnSpPr>
          <p:nvPr/>
        </p:nvCxnSpPr>
        <p:spPr>
          <a:xfrm flipH="1">
            <a:off x="10692591" y="4788950"/>
            <a:ext cx="118284" cy="2760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6BFFA442-86C8-CB35-BC8A-F91C73D8CBC0}"/>
              </a:ext>
            </a:extLst>
          </p:cNvPr>
          <p:cNvCxnSpPr>
            <a:cxnSpLocks/>
            <a:stCxn id="34" idx="0"/>
          </p:cNvCxnSpPr>
          <p:nvPr/>
        </p:nvCxnSpPr>
        <p:spPr>
          <a:xfrm flipH="1" flipV="1">
            <a:off x="10168715" y="5263262"/>
            <a:ext cx="118285" cy="2414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C24A229A-16E7-6508-40A2-8A09AE07EFDC}"/>
              </a:ext>
            </a:extLst>
          </p:cNvPr>
          <p:cNvCxnSpPr>
            <a:cxnSpLocks/>
            <a:stCxn id="33" idx="2"/>
          </p:cNvCxnSpPr>
          <p:nvPr/>
        </p:nvCxnSpPr>
        <p:spPr>
          <a:xfrm>
            <a:off x="10810875" y="4788950"/>
            <a:ext cx="105941" cy="2760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A9BDCD90-2C93-CDDD-52A5-E97F40CDF416}"/>
              </a:ext>
            </a:extLst>
          </p:cNvPr>
          <p:cNvCxnSpPr>
            <a:cxnSpLocks/>
            <a:stCxn id="34" idx="0"/>
          </p:cNvCxnSpPr>
          <p:nvPr/>
        </p:nvCxnSpPr>
        <p:spPr>
          <a:xfrm flipV="1">
            <a:off x="10287000" y="5271798"/>
            <a:ext cx="131357" cy="2328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43F95E50-5350-2C0C-C7DE-BF682D24BF8B}"/>
              </a:ext>
            </a:extLst>
          </p:cNvPr>
          <p:cNvSpPr txBox="1"/>
          <p:nvPr/>
        </p:nvSpPr>
        <p:spPr>
          <a:xfrm>
            <a:off x="8025780" y="4444174"/>
            <a:ext cx="1284319" cy="338554"/>
          </a:xfrm>
          <a:prstGeom prst="rect">
            <a:avLst/>
          </a:prstGeom>
          <a:noFill/>
        </p:spPr>
        <p:txBody>
          <a:bodyPr wrap="square" rtlCol="0">
            <a:spAutoFit/>
          </a:bodyPr>
          <a:lstStyle/>
          <a:p>
            <a:r>
              <a:rPr lang="en-US" sz="1600" dirty="0">
                <a:solidFill>
                  <a:schemeClr val="accent1"/>
                </a:solidFill>
              </a:rPr>
              <a:t>white space</a:t>
            </a:r>
            <a:endParaRPr lang="en-PK" sz="1600" dirty="0">
              <a:solidFill>
                <a:schemeClr val="accent1"/>
              </a:solidFill>
            </a:endParaRPr>
          </a:p>
        </p:txBody>
      </p:sp>
      <p:cxnSp>
        <p:nvCxnSpPr>
          <p:cNvPr id="49" name="Straight Arrow Connector 48">
            <a:extLst>
              <a:ext uri="{FF2B5EF4-FFF2-40B4-BE49-F238E27FC236}">
                <a16:creationId xmlns:a16="http://schemas.microsoft.com/office/drawing/2014/main" id="{F62027B8-76B9-A54E-B08E-D60A841B14A7}"/>
              </a:ext>
            </a:extLst>
          </p:cNvPr>
          <p:cNvCxnSpPr>
            <a:cxnSpLocks/>
            <a:stCxn id="48" idx="2"/>
          </p:cNvCxnSpPr>
          <p:nvPr/>
        </p:nvCxnSpPr>
        <p:spPr>
          <a:xfrm flipH="1">
            <a:off x="8549656" y="4782728"/>
            <a:ext cx="118284" cy="2760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EB49DCA9-BF47-1876-ECFC-703F66AD9202}"/>
              </a:ext>
            </a:extLst>
          </p:cNvPr>
          <p:cNvCxnSpPr>
            <a:cxnSpLocks/>
            <a:stCxn id="48" idx="2"/>
          </p:cNvCxnSpPr>
          <p:nvPr/>
        </p:nvCxnSpPr>
        <p:spPr>
          <a:xfrm>
            <a:off x="8667940" y="4782728"/>
            <a:ext cx="105941" cy="2760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9818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38046-1585-A567-A121-2C3690495FE4}"/>
              </a:ext>
            </a:extLst>
          </p:cNvPr>
          <p:cNvSpPr>
            <a:spLocks noGrp="1"/>
          </p:cNvSpPr>
          <p:nvPr>
            <p:ph type="title"/>
          </p:nvPr>
        </p:nvSpPr>
        <p:spPr/>
        <p:txBody>
          <a:bodyPr>
            <a:normAutofit/>
          </a:bodyPr>
          <a:lstStyle/>
          <a:p>
            <a:r>
              <a:rPr lang="en-US" sz="3200" dirty="0"/>
              <a:t>Example of computing with strings: </a:t>
            </a:r>
            <a:r>
              <a:rPr lang="en-US" sz="3200" i="1" dirty="0"/>
              <a:t>subdivisions of a ruler</a:t>
            </a:r>
            <a:endParaRPr lang="en-PK" sz="3200" i="1" dirty="0"/>
          </a:p>
        </p:txBody>
      </p:sp>
      <p:sp>
        <p:nvSpPr>
          <p:cNvPr id="6" name="TextBox 5">
            <a:extLst>
              <a:ext uri="{FF2B5EF4-FFF2-40B4-BE49-F238E27FC236}">
                <a16:creationId xmlns:a16="http://schemas.microsoft.com/office/drawing/2014/main" id="{5F7FF4B3-9B43-71C9-751F-66EE4DC94B9E}"/>
              </a:ext>
            </a:extLst>
          </p:cNvPr>
          <p:cNvSpPr txBox="1"/>
          <p:nvPr/>
        </p:nvSpPr>
        <p:spPr>
          <a:xfrm>
            <a:off x="942392" y="1520890"/>
            <a:ext cx="6503437" cy="2864498"/>
          </a:xfrm>
          <a:prstGeom prst="rect">
            <a:avLst/>
          </a:prstGeom>
          <a:solidFill>
            <a:srgbClr val="DAE3F3">
              <a:alpha val="50196"/>
            </a:srgbClr>
          </a:solidFill>
        </p:spPr>
        <p:txBody>
          <a:bodyPr wrap="square" rtlCol="0">
            <a:spAutoFit/>
          </a:bodyPr>
          <a:lstStyle/>
          <a:p>
            <a:r>
              <a:rPr lang="en-US" dirty="0">
                <a:latin typeface="Consolas" panose="020B0609020204030204" pitchFamily="49" charset="0"/>
              </a:rPr>
              <a:t>#include&lt;iostream&gt;</a:t>
            </a:r>
          </a:p>
          <a:p>
            <a:r>
              <a:rPr lang="en-US" dirty="0">
                <a:latin typeface="Consolas" panose="020B0609020204030204" pitchFamily="49" charset="0"/>
              </a:rPr>
              <a:t>#include&lt;string&gt;</a:t>
            </a:r>
          </a:p>
          <a:p>
            <a:endParaRPr lang="en-US" dirty="0">
              <a:latin typeface="Consolas" panose="020B0609020204030204" pitchFamily="49" charset="0"/>
            </a:endParaRPr>
          </a:p>
          <a:p>
            <a:r>
              <a:rPr lang="en-US" dirty="0">
                <a:latin typeface="Consolas" panose="020B0609020204030204" pitchFamily="49" charset="0"/>
              </a:rPr>
              <a:t>int main() {</a:t>
            </a:r>
          </a:p>
          <a:p>
            <a:r>
              <a:rPr lang="en-US" dirty="0">
                <a:latin typeface="Consolas" panose="020B0609020204030204" pitchFamily="49" charset="0"/>
              </a:rPr>
              <a:t>    std::string ruler1 = "1";</a:t>
            </a:r>
          </a:p>
          <a:p>
            <a:r>
              <a:rPr lang="en-US" dirty="0">
                <a:latin typeface="Consolas" panose="020B0609020204030204" pitchFamily="49" charset="0"/>
              </a:rPr>
              <a:t>    std::string ruler2 = ruler1 + " 2 " + ruler1;</a:t>
            </a:r>
          </a:p>
          <a:p>
            <a:r>
              <a:rPr lang="en-US" dirty="0">
                <a:latin typeface="Consolas" panose="020B0609020204030204" pitchFamily="49" charset="0"/>
              </a:rPr>
              <a:t>    std::string ruler3 = ruler2 + " 3 " + ruler2;</a:t>
            </a:r>
          </a:p>
          <a:p>
            <a:r>
              <a:rPr lang="en-US" dirty="0">
                <a:latin typeface="Consolas" panose="020B0609020204030204" pitchFamily="49" charset="0"/>
              </a:rPr>
              <a:t>    std::string ruler4 = ruler3 + " 4 " + ruler3;</a:t>
            </a:r>
          </a:p>
          <a:p>
            <a:r>
              <a:rPr lang="en-US" dirty="0">
                <a:latin typeface="Consolas" panose="020B0609020204030204" pitchFamily="49" charset="0"/>
              </a:rPr>
              <a:t>    std::</a:t>
            </a:r>
            <a:r>
              <a:rPr lang="en-US" dirty="0" err="1">
                <a:latin typeface="Consolas" panose="020B0609020204030204" pitchFamily="49" charset="0"/>
              </a:rPr>
              <a:t>cout</a:t>
            </a:r>
            <a:r>
              <a:rPr lang="en-US" dirty="0">
                <a:latin typeface="Consolas" panose="020B0609020204030204" pitchFamily="49" charset="0"/>
              </a:rPr>
              <a:t> &lt;&lt; ruler4;</a:t>
            </a:r>
          </a:p>
          <a:p>
            <a:r>
              <a:rPr lang="en-US" dirty="0">
                <a:latin typeface="Consolas" panose="020B0609020204030204" pitchFamily="49" charset="0"/>
              </a:rPr>
              <a:t>}</a:t>
            </a:r>
            <a:endParaRPr lang="en-PK" dirty="0">
              <a:latin typeface="Consolas" panose="020B0609020204030204" pitchFamily="49" charset="0"/>
            </a:endParaRPr>
          </a:p>
        </p:txBody>
      </p:sp>
      <p:pic>
        <p:nvPicPr>
          <p:cNvPr id="9" name="Picture 8" descr="A ruler with numbers and numbers">
            <a:extLst>
              <a:ext uri="{FF2B5EF4-FFF2-40B4-BE49-F238E27FC236}">
                <a16:creationId xmlns:a16="http://schemas.microsoft.com/office/drawing/2014/main" id="{F2C054A9-95EF-E90A-0A61-0419CB723E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59838" y="1520890"/>
            <a:ext cx="3598154" cy="1182158"/>
          </a:xfrm>
          <a:prstGeom prst="rect">
            <a:avLst/>
          </a:prstGeom>
        </p:spPr>
      </p:pic>
      <p:graphicFrame>
        <p:nvGraphicFramePr>
          <p:cNvPr id="11" name="Table 11">
            <a:extLst>
              <a:ext uri="{FF2B5EF4-FFF2-40B4-BE49-F238E27FC236}">
                <a16:creationId xmlns:a16="http://schemas.microsoft.com/office/drawing/2014/main" id="{2CDA2694-A5EA-4C9A-A7AC-B6678454AEC1}"/>
              </a:ext>
            </a:extLst>
          </p:cNvPr>
          <p:cNvGraphicFramePr>
            <a:graphicFrameLocks noGrp="1"/>
          </p:cNvGraphicFramePr>
          <p:nvPr/>
        </p:nvGraphicFramePr>
        <p:xfrm>
          <a:off x="518475" y="4480960"/>
          <a:ext cx="11067069" cy="2011914"/>
        </p:xfrm>
        <a:graphic>
          <a:graphicData uri="http://schemas.openxmlformats.org/drawingml/2006/table">
            <a:tbl>
              <a:tblPr firstRow="1" bandRow="1">
                <a:tableStyleId>{5C22544A-7EE6-4342-B048-85BDC9FD1C3A}</a:tableStyleId>
              </a:tblPr>
              <a:tblGrid>
                <a:gridCol w="3455985">
                  <a:extLst>
                    <a:ext uri="{9D8B030D-6E8A-4147-A177-3AD203B41FA5}">
                      <a16:colId xmlns:a16="http://schemas.microsoft.com/office/drawing/2014/main" val="979876607"/>
                    </a:ext>
                  </a:extLst>
                </a:gridCol>
                <a:gridCol w="1255863">
                  <a:extLst>
                    <a:ext uri="{9D8B030D-6E8A-4147-A177-3AD203B41FA5}">
                      <a16:colId xmlns:a16="http://schemas.microsoft.com/office/drawing/2014/main" val="3552327114"/>
                    </a:ext>
                  </a:extLst>
                </a:gridCol>
                <a:gridCol w="1369174">
                  <a:extLst>
                    <a:ext uri="{9D8B030D-6E8A-4147-A177-3AD203B41FA5}">
                      <a16:colId xmlns:a16="http://schemas.microsoft.com/office/drawing/2014/main" val="1091008483"/>
                    </a:ext>
                  </a:extLst>
                </a:gridCol>
                <a:gridCol w="1775205">
                  <a:extLst>
                    <a:ext uri="{9D8B030D-6E8A-4147-A177-3AD203B41FA5}">
                      <a16:colId xmlns:a16="http://schemas.microsoft.com/office/drawing/2014/main" val="4250756434"/>
                    </a:ext>
                  </a:extLst>
                </a:gridCol>
                <a:gridCol w="3210842">
                  <a:extLst>
                    <a:ext uri="{9D8B030D-6E8A-4147-A177-3AD203B41FA5}">
                      <a16:colId xmlns:a16="http://schemas.microsoft.com/office/drawing/2014/main" val="400206241"/>
                    </a:ext>
                  </a:extLst>
                </a:gridCol>
              </a:tblGrid>
              <a:tr h="335319">
                <a:tc>
                  <a:txBody>
                    <a:bodyPr/>
                    <a:lstStyle/>
                    <a:p>
                      <a:pPr algn="ctr"/>
                      <a:endParaRPr lang="en-PK" sz="1400" dirty="0">
                        <a:latin typeface="Consolas" panose="020B0609020204030204" pitchFamily="49" charset="0"/>
                      </a:endParaRPr>
                    </a:p>
                  </a:txBody>
                  <a:tcPr/>
                </a:tc>
                <a:tc>
                  <a:txBody>
                    <a:bodyPr/>
                    <a:lstStyle/>
                    <a:p>
                      <a:pPr algn="ctr"/>
                      <a:r>
                        <a:rPr lang="en-US" sz="1400" dirty="0">
                          <a:latin typeface="Consolas" panose="020B0609020204030204" pitchFamily="49" charset="0"/>
                        </a:rPr>
                        <a:t>ruler1</a:t>
                      </a:r>
                      <a:endParaRPr lang="en-PK" sz="1400" dirty="0">
                        <a:latin typeface="Consolas" panose="020B0609020204030204" pitchFamily="49" charset="0"/>
                      </a:endParaRPr>
                    </a:p>
                  </a:txBody>
                  <a:tcPr/>
                </a:tc>
                <a:tc>
                  <a:txBody>
                    <a:bodyPr/>
                    <a:lstStyle/>
                    <a:p>
                      <a:pPr algn="ctr"/>
                      <a:r>
                        <a:rPr lang="en-US" sz="1400" dirty="0">
                          <a:latin typeface="Consolas" panose="020B0609020204030204" pitchFamily="49" charset="0"/>
                        </a:rPr>
                        <a:t>ruler2</a:t>
                      </a:r>
                      <a:endParaRPr lang="en-PK" sz="1400" dirty="0">
                        <a:latin typeface="Consolas" panose="020B0609020204030204" pitchFamily="49" charset="0"/>
                      </a:endParaRPr>
                    </a:p>
                  </a:txBody>
                  <a:tcPr/>
                </a:tc>
                <a:tc>
                  <a:txBody>
                    <a:bodyPr/>
                    <a:lstStyle/>
                    <a:p>
                      <a:pPr algn="ctr"/>
                      <a:r>
                        <a:rPr lang="en-US" sz="1400" dirty="0">
                          <a:latin typeface="Consolas" panose="020B0609020204030204" pitchFamily="49" charset="0"/>
                        </a:rPr>
                        <a:t>ruler3</a:t>
                      </a:r>
                      <a:endParaRPr lang="en-PK" sz="1400" dirty="0">
                        <a:latin typeface="Consolas" panose="020B0609020204030204" pitchFamily="49" charset="0"/>
                      </a:endParaRPr>
                    </a:p>
                  </a:txBody>
                  <a:tcPr/>
                </a:tc>
                <a:tc>
                  <a:txBody>
                    <a:bodyPr/>
                    <a:lstStyle/>
                    <a:p>
                      <a:pPr algn="ctr"/>
                      <a:r>
                        <a:rPr lang="en-US" sz="1400" dirty="0">
                          <a:latin typeface="Consolas" panose="020B0609020204030204" pitchFamily="49" charset="0"/>
                        </a:rPr>
                        <a:t>ruler4</a:t>
                      </a:r>
                      <a:endParaRPr lang="en-PK" sz="1400" dirty="0">
                        <a:latin typeface="Consolas" panose="020B0609020204030204" pitchFamily="49" charset="0"/>
                      </a:endParaRPr>
                    </a:p>
                  </a:txBody>
                  <a:tcPr/>
                </a:tc>
                <a:extLst>
                  <a:ext uri="{0D108BD9-81ED-4DB2-BD59-A6C34878D82A}">
                    <a16:rowId xmlns:a16="http://schemas.microsoft.com/office/drawing/2014/main" val="4124103065"/>
                  </a:ext>
                </a:extLst>
              </a:tr>
              <a:tr h="335319">
                <a:tc>
                  <a:txBody>
                    <a:bodyPr/>
                    <a:lstStyle/>
                    <a:p>
                      <a:pPr algn="ctr"/>
                      <a:endParaRPr lang="en-PK" sz="1400" dirty="0">
                        <a:latin typeface="Consolas" panose="020B0609020204030204" pitchFamily="49" charset="0"/>
                      </a:endParaRPr>
                    </a:p>
                  </a:txBody>
                  <a:tcPr/>
                </a:tc>
                <a:tc>
                  <a:txBody>
                    <a:bodyPr/>
                    <a:lstStyle/>
                    <a:p>
                      <a:pPr algn="ctr"/>
                      <a:r>
                        <a:rPr lang="en-US" sz="1400" dirty="0">
                          <a:solidFill>
                            <a:schemeClr val="tx1">
                              <a:lumMod val="50000"/>
                              <a:lumOff val="50000"/>
                            </a:schemeClr>
                          </a:solidFill>
                          <a:latin typeface="Consolas" panose="020B0609020204030204" pitchFamily="49" charset="0"/>
                        </a:rPr>
                        <a:t>undeclared</a:t>
                      </a:r>
                      <a:endParaRPr lang="en-PK" sz="1400" dirty="0">
                        <a:solidFill>
                          <a:schemeClr val="tx1">
                            <a:lumMod val="50000"/>
                            <a:lumOff val="50000"/>
                          </a:schemeClr>
                        </a:solidFill>
                        <a:latin typeface="Consolas" panose="020B06090202040302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lumMod val="50000"/>
                              <a:lumOff val="50000"/>
                            </a:schemeClr>
                          </a:solidFill>
                          <a:latin typeface="Consolas" panose="020B0609020204030204" pitchFamily="49" charset="0"/>
                        </a:rPr>
                        <a:t>undeclared</a:t>
                      </a:r>
                      <a:endParaRPr lang="en-PK" sz="1400" dirty="0">
                        <a:solidFill>
                          <a:schemeClr val="tx1">
                            <a:lumMod val="50000"/>
                            <a:lumOff val="50000"/>
                          </a:schemeClr>
                        </a:solidFill>
                        <a:latin typeface="Consolas" panose="020B06090202040302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lumMod val="50000"/>
                              <a:lumOff val="50000"/>
                            </a:schemeClr>
                          </a:solidFill>
                          <a:latin typeface="Consolas" panose="020B0609020204030204" pitchFamily="49" charset="0"/>
                        </a:rPr>
                        <a:t>undeclared</a:t>
                      </a:r>
                      <a:endParaRPr lang="en-PK" sz="1400" dirty="0">
                        <a:solidFill>
                          <a:schemeClr val="tx1">
                            <a:lumMod val="50000"/>
                            <a:lumOff val="50000"/>
                          </a:schemeClr>
                        </a:solidFill>
                        <a:latin typeface="Consolas" panose="020B06090202040302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lumMod val="50000"/>
                              <a:lumOff val="50000"/>
                            </a:schemeClr>
                          </a:solidFill>
                          <a:latin typeface="Consolas" panose="020B0609020204030204" pitchFamily="49" charset="0"/>
                        </a:rPr>
                        <a:t>undeclared</a:t>
                      </a:r>
                      <a:endParaRPr lang="en-PK" sz="1400" dirty="0">
                        <a:solidFill>
                          <a:schemeClr val="tx1">
                            <a:lumMod val="50000"/>
                            <a:lumOff val="50000"/>
                          </a:schemeClr>
                        </a:solidFill>
                        <a:latin typeface="Consolas" panose="020B0609020204030204" pitchFamily="49" charset="0"/>
                      </a:endParaRPr>
                    </a:p>
                  </a:txBody>
                  <a:tcPr/>
                </a:tc>
                <a:extLst>
                  <a:ext uri="{0D108BD9-81ED-4DB2-BD59-A6C34878D82A}">
                    <a16:rowId xmlns:a16="http://schemas.microsoft.com/office/drawing/2014/main" val="3438535105"/>
                  </a:ext>
                </a:extLst>
              </a:tr>
              <a:tr h="335319">
                <a:tc>
                  <a:txBody>
                    <a:bodyPr/>
                    <a:lstStyle/>
                    <a:p>
                      <a:r>
                        <a:rPr lang="en-US" sz="1400" dirty="0">
                          <a:latin typeface="Consolas" panose="020B0609020204030204" pitchFamily="49" charset="0"/>
                        </a:rPr>
                        <a:t>ruler1 = "1";</a:t>
                      </a:r>
                      <a:endParaRPr lang="en-PK" sz="1400" dirty="0">
                        <a:latin typeface="Consolas" panose="020B0609020204030204" pitchFamily="49" charset="0"/>
                      </a:endParaRPr>
                    </a:p>
                  </a:txBody>
                  <a:tcPr/>
                </a:tc>
                <a:tc>
                  <a:txBody>
                    <a:bodyPr/>
                    <a:lstStyle/>
                    <a:p>
                      <a:pPr algn="ctr"/>
                      <a:r>
                        <a:rPr lang="en-US" sz="1400" dirty="0">
                          <a:solidFill>
                            <a:schemeClr val="tx1"/>
                          </a:solidFill>
                          <a:latin typeface="Consolas" panose="020B0609020204030204" pitchFamily="49" charset="0"/>
                        </a:rPr>
                        <a:t>1</a:t>
                      </a:r>
                      <a:endParaRPr lang="en-PK" sz="1400" dirty="0">
                        <a:solidFill>
                          <a:schemeClr val="tx1"/>
                        </a:solidFill>
                        <a:latin typeface="Consolas" panose="020B06090202040302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lumMod val="50000"/>
                              <a:lumOff val="50000"/>
                            </a:schemeClr>
                          </a:solidFill>
                          <a:latin typeface="Consolas" panose="020B0609020204030204" pitchFamily="49" charset="0"/>
                        </a:rPr>
                        <a:t>undeclared</a:t>
                      </a:r>
                      <a:endParaRPr lang="en-PK" sz="1400" dirty="0">
                        <a:solidFill>
                          <a:schemeClr val="tx1">
                            <a:lumMod val="50000"/>
                            <a:lumOff val="50000"/>
                          </a:schemeClr>
                        </a:solidFill>
                        <a:latin typeface="Consolas" panose="020B0609020204030204" pitchFamily="49" charset="0"/>
                      </a:endParaRPr>
                    </a:p>
                  </a:txBody>
                  <a:tcPr/>
                </a:tc>
                <a:tc>
                  <a:txBody>
                    <a:bodyPr/>
                    <a:lstStyle/>
                    <a:p>
                      <a:pPr algn="ctr"/>
                      <a:r>
                        <a:rPr lang="en-US" sz="1400" dirty="0">
                          <a:solidFill>
                            <a:schemeClr val="tx1">
                              <a:lumMod val="50000"/>
                              <a:lumOff val="50000"/>
                            </a:schemeClr>
                          </a:solidFill>
                          <a:latin typeface="Consolas" panose="020B0609020204030204" pitchFamily="49" charset="0"/>
                        </a:rPr>
                        <a:t>undeclared</a:t>
                      </a:r>
                      <a:endParaRPr lang="en-PK" sz="1400" dirty="0">
                        <a:solidFill>
                          <a:schemeClr val="tx1">
                            <a:lumMod val="50000"/>
                            <a:lumOff val="50000"/>
                          </a:schemeClr>
                        </a:solidFill>
                        <a:latin typeface="Consolas" panose="020B0609020204030204" pitchFamily="49" charset="0"/>
                      </a:endParaRPr>
                    </a:p>
                  </a:txBody>
                  <a:tcPr/>
                </a:tc>
                <a:tc>
                  <a:txBody>
                    <a:bodyPr/>
                    <a:lstStyle/>
                    <a:p>
                      <a:pPr algn="ctr"/>
                      <a:r>
                        <a:rPr lang="en-US" sz="1400" dirty="0">
                          <a:solidFill>
                            <a:schemeClr val="tx1">
                              <a:lumMod val="50000"/>
                              <a:lumOff val="50000"/>
                            </a:schemeClr>
                          </a:solidFill>
                          <a:latin typeface="Consolas" panose="020B0609020204030204" pitchFamily="49" charset="0"/>
                        </a:rPr>
                        <a:t>undeclared</a:t>
                      </a:r>
                      <a:endParaRPr lang="en-PK" sz="1400" dirty="0">
                        <a:solidFill>
                          <a:schemeClr val="tx1">
                            <a:lumMod val="50000"/>
                            <a:lumOff val="50000"/>
                          </a:schemeClr>
                        </a:solidFill>
                        <a:latin typeface="Consolas" panose="020B0609020204030204" pitchFamily="49" charset="0"/>
                      </a:endParaRPr>
                    </a:p>
                  </a:txBody>
                  <a:tcPr/>
                </a:tc>
                <a:extLst>
                  <a:ext uri="{0D108BD9-81ED-4DB2-BD59-A6C34878D82A}">
                    <a16:rowId xmlns:a16="http://schemas.microsoft.com/office/drawing/2014/main" val="441799612"/>
                  </a:ext>
                </a:extLst>
              </a:tr>
              <a:tr h="335319">
                <a:tc>
                  <a:txBody>
                    <a:bodyPr/>
                    <a:lstStyle/>
                    <a:p>
                      <a:r>
                        <a:rPr lang="en-US" sz="1400" dirty="0">
                          <a:latin typeface="Consolas" panose="020B0609020204030204" pitchFamily="49" charset="0"/>
                        </a:rPr>
                        <a:t>ruler2 = ruler1 + " 2 " + ruler1;</a:t>
                      </a:r>
                      <a:endParaRPr lang="en-PK" sz="1400" dirty="0">
                        <a:latin typeface="Consolas" panose="020B0609020204030204" pitchFamily="49" charset="0"/>
                      </a:endParaRPr>
                    </a:p>
                  </a:txBody>
                  <a:tcPr/>
                </a:tc>
                <a:tc>
                  <a:txBody>
                    <a:bodyPr/>
                    <a:lstStyle/>
                    <a:p>
                      <a:pPr algn="ctr"/>
                      <a:r>
                        <a:rPr lang="en-US" sz="1400" dirty="0">
                          <a:solidFill>
                            <a:schemeClr val="tx1">
                              <a:lumMod val="50000"/>
                              <a:lumOff val="50000"/>
                            </a:schemeClr>
                          </a:solidFill>
                          <a:latin typeface="Consolas" panose="020B0609020204030204" pitchFamily="49" charset="0"/>
                        </a:rPr>
                        <a:t>1</a:t>
                      </a:r>
                      <a:endParaRPr lang="en-PK" sz="1400" dirty="0">
                        <a:solidFill>
                          <a:schemeClr val="tx1">
                            <a:lumMod val="50000"/>
                            <a:lumOff val="50000"/>
                          </a:schemeClr>
                        </a:solidFill>
                        <a:latin typeface="Consolas" panose="020B0609020204030204" pitchFamily="49" charset="0"/>
                      </a:endParaRPr>
                    </a:p>
                  </a:txBody>
                  <a:tcPr/>
                </a:tc>
                <a:tc>
                  <a:txBody>
                    <a:bodyPr/>
                    <a:lstStyle/>
                    <a:p>
                      <a:pPr algn="ctr"/>
                      <a:r>
                        <a:rPr lang="en-US" sz="1400" dirty="0">
                          <a:latin typeface="Consolas" panose="020B0609020204030204" pitchFamily="49" charset="0"/>
                        </a:rPr>
                        <a:t>1 2 1</a:t>
                      </a:r>
                      <a:endParaRPr lang="en-PK" sz="1400" dirty="0">
                        <a:latin typeface="Consolas" panose="020B0609020204030204" pitchFamily="49" charset="0"/>
                      </a:endParaRPr>
                    </a:p>
                  </a:txBody>
                  <a:tcPr/>
                </a:tc>
                <a:tc>
                  <a:txBody>
                    <a:bodyPr/>
                    <a:lstStyle/>
                    <a:p>
                      <a:pPr algn="ctr"/>
                      <a:r>
                        <a:rPr lang="en-US" sz="1400" dirty="0">
                          <a:solidFill>
                            <a:schemeClr val="tx1">
                              <a:lumMod val="50000"/>
                              <a:lumOff val="50000"/>
                            </a:schemeClr>
                          </a:solidFill>
                          <a:latin typeface="Consolas" panose="020B0609020204030204" pitchFamily="49" charset="0"/>
                        </a:rPr>
                        <a:t>undeclared</a:t>
                      </a:r>
                      <a:endParaRPr lang="en-PK" sz="1400" dirty="0">
                        <a:solidFill>
                          <a:schemeClr val="tx1">
                            <a:lumMod val="50000"/>
                            <a:lumOff val="50000"/>
                          </a:schemeClr>
                        </a:solidFill>
                        <a:latin typeface="Consolas" panose="020B0609020204030204" pitchFamily="49" charset="0"/>
                      </a:endParaRPr>
                    </a:p>
                  </a:txBody>
                  <a:tcPr/>
                </a:tc>
                <a:tc>
                  <a:txBody>
                    <a:bodyPr/>
                    <a:lstStyle/>
                    <a:p>
                      <a:pPr algn="ctr"/>
                      <a:r>
                        <a:rPr lang="en-US" sz="1400" dirty="0">
                          <a:solidFill>
                            <a:schemeClr val="tx1">
                              <a:lumMod val="50000"/>
                              <a:lumOff val="50000"/>
                            </a:schemeClr>
                          </a:solidFill>
                          <a:latin typeface="Consolas" panose="020B0609020204030204" pitchFamily="49" charset="0"/>
                        </a:rPr>
                        <a:t>undeclared</a:t>
                      </a:r>
                      <a:endParaRPr lang="en-PK" sz="1400" dirty="0">
                        <a:solidFill>
                          <a:schemeClr val="tx1">
                            <a:lumMod val="50000"/>
                            <a:lumOff val="50000"/>
                          </a:schemeClr>
                        </a:solidFill>
                        <a:latin typeface="Consolas" panose="020B0609020204030204" pitchFamily="49" charset="0"/>
                      </a:endParaRPr>
                    </a:p>
                  </a:txBody>
                  <a:tcPr/>
                </a:tc>
                <a:extLst>
                  <a:ext uri="{0D108BD9-81ED-4DB2-BD59-A6C34878D82A}">
                    <a16:rowId xmlns:a16="http://schemas.microsoft.com/office/drawing/2014/main" val="1824426616"/>
                  </a:ext>
                </a:extLst>
              </a:tr>
              <a:tr h="335319">
                <a:tc>
                  <a:txBody>
                    <a:bodyPr/>
                    <a:lstStyle/>
                    <a:p>
                      <a:r>
                        <a:rPr lang="en-US" sz="1400" dirty="0">
                          <a:latin typeface="Consolas" panose="020B0609020204030204" pitchFamily="49" charset="0"/>
                        </a:rPr>
                        <a:t>ruler3 = ruler2 + " 3 " + ruler2;</a:t>
                      </a:r>
                      <a:endParaRPr lang="en-PK" sz="1400" dirty="0">
                        <a:latin typeface="Consolas" panose="020B0609020204030204" pitchFamily="49" charset="0"/>
                      </a:endParaRPr>
                    </a:p>
                  </a:txBody>
                  <a:tcPr/>
                </a:tc>
                <a:tc>
                  <a:txBody>
                    <a:bodyPr/>
                    <a:lstStyle/>
                    <a:p>
                      <a:pPr algn="ctr"/>
                      <a:r>
                        <a:rPr lang="en-US" sz="1400" dirty="0">
                          <a:solidFill>
                            <a:schemeClr val="tx1">
                              <a:lumMod val="50000"/>
                              <a:lumOff val="50000"/>
                            </a:schemeClr>
                          </a:solidFill>
                          <a:latin typeface="Consolas" panose="020B0609020204030204" pitchFamily="49" charset="0"/>
                        </a:rPr>
                        <a:t>1</a:t>
                      </a:r>
                      <a:endParaRPr lang="en-PK" sz="1400" dirty="0">
                        <a:solidFill>
                          <a:schemeClr val="tx1">
                            <a:lumMod val="50000"/>
                            <a:lumOff val="50000"/>
                          </a:schemeClr>
                        </a:solidFill>
                        <a:latin typeface="Consolas" panose="020B0609020204030204" pitchFamily="49" charset="0"/>
                      </a:endParaRPr>
                    </a:p>
                  </a:txBody>
                  <a:tcPr/>
                </a:tc>
                <a:tc>
                  <a:txBody>
                    <a:bodyPr/>
                    <a:lstStyle/>
                    <a:p>
                      <a:pPr algn="ctr"/>
                      <a:r>
                        <a:rPr lang="en-US" sz="1400" dirty="0">
                          <a:solidFill>
                            <a:schemeClr val="tx1">
                              <a:lumMod val="50000"/>
                              <a:lumOff val="50000"/>
                            </a:schemeClr>
                          </a:solidFill>
                          <a:latin typeface="Consolas" panose="020B0609020204030204" pitchFamily="49" charset="0"/>
                        </a:rPr>
                        <a:t>1 2 1</a:t>
                      </a:r>
                      <a:endParaRPr lang="en-PK" sz="1400" dirty="0">
                        <a:solidFill>
                          <a:schemeClr val="tx1">
                            <a:lumMod val="50000"/>
                            <a:lumOff val="50000"/>
                          </a:schemeClr>
                        </a:solidFill>
                        <a:latin typeface="Consolas" panose="020B0609020204030204" pitchFamily="49" charset="0"/>
                      </a:endParaRPr>
                    </a:p>
                  </a:txBody>
                  <a:tcPr/>
                </a:tc>
                <a:tc>
                  <a:txBody>
                    <a:bodyPr/>
                    <a:lstStyle/>
                    <a:p>
                      <a:pPr algn="ctr"/>
                      <a:r>
                        <a:rPr lang="en-US" sz="1400" dirty="0">
                          <a:latin typeface="Consolas" panose="020B0609020204030204" pitchFamily="49" charset="0"/>
                        </a:rPr>
                        <a:t>1 2 1 3 1 2 1</a:t>
                      </a:r>
                      <a:endParaRPr lang="en-PK" sz="1400" dirty="0">
                        <a:latin typeface="Consolas" panose="020B0609020204030204" pitchFamily="49" charset="0"/>
                      </a:endParaRPr>
                    </a:p>
                  </a:txBody>
                  <a:tcPr/>
                </a:tc>
                <a:tc>
                  <a:txBody>
                    <a:bodyPr/>
                    <a:lstStyle/>
                    <a:p>
                      <a:pPr algn="ctr"/>
                      <a:r>
                        <a:rPr lang="en-US" sz="1400" dirty="0">
                          <a:solidFill>
                            <a:schemeClr val="tx1">
                              <a:lumMod val="50000"/>
                              <a:lumOff val="50000"/>
                            </a:schemeClr>
                          </a:solidFill>
                          <a:latin typeface="Consolas" panose="020B0609020204030204" pitchFamily="49" charset="0"/>
                        </a:rPr>
                        <a:t>undeclared</a:t>
                      </a:r>
                      <a:endParaRPr lang="en-PK" sz="1400" dirty="0">
                        <a:solidFill>
                          <a:schemeClr val="tx1">
                            <a:lumMod val="50000"/>
                            <a:lumOff val="50000"/>
                          </a:schemeClr>
                        </a:solidFill>
                        <a:latin typeface="Consolas" panose="020B0609020204030204" pitchFamily="49" charset="0"/>
                      </a:endParaRPr>
                    </a:p>
                  </a:txBody>
                  <a:tcPr/>
                </a:tc>
                <a:extLst>
                  <a:ext uri="{0D108BD9-81ED-4DB2-BD59-A6C34878D82A}">
                    <a16:rowId xmlns:a16="http://schemas.microsoft.com/office/drawing/2014/main" val="3746227278"/>
                  </a:ext>
                </a:extLst>
              </a:tr>
              <a:tr h="335319">
                <a:tc>
                  <a:txBody>
                    <a:bodyPr/>
                    <a:lstStyle/>
                    <a:p>
                      <a:r>
                        <a:rPr lang="en-US" sz="1400" dirty="0">
                          <a:latin typeface="Consolas" panose="020B0609020204030204" pitchFamily="49" charset="0"/>
                        </a:rPr>
                        <a:t>ruler4 = ruler3 + " 4 " + ruler3;</a:t>
                      </a:r>
                      <a:endParaRPr lang="en-PK" sz="1400" dirty="0">
                        <a:latin typeface="Consolas" panose="020B0609020204030204" pitchFamily="49" charset="0"/>
                      </a:endParaRPr>
                    </a:p>
                  </a:txBody>
                  <a:tcPr/>
                </a:tc>
                <a:tc>
                  <a:txBody>
                    <a:bodyPr/>
                    <a:lstStyle/>
                    <a:p>
                      <a:pPr algn="ctr"/>
                      <a:r>
                        <a:rPr lang="en-US" sz="1400" dirty="0">
                          <a:solidFill>
                            <a:schemeClr val="tx1">
                              <a:lumMod val="50000"/>
                              <a:lumOff val="50000"/>
                            </a:schemeClr>
                          </a:solidFill>
                          <a:latin typeface="Consolas" panose="020B0609020204030204" pitchFamily="49" charset="0"/>
                        </a:rPr>
                        <a:t>1</a:t>
                      </a:r>
                      <a:endParaRPr lang="en-PK" sz="1400" dirty="0">
                        <a:solidFill>
                          <a:schemeClr val="tx1">
                            <a:lumMod val="50000"/>
                            <a:lumOff val="50000"/>
                          </a:schemeClr>
                        </a:solidFill>
                        <a:latin typeface="Consolas" panose="020B0609020204030204" pitchFamily="49" charset="0"/>
                      </a:endParaRPr>
                    </a:p>
                  </a:txBody>
                  <a:tcPr/>
                </a:tc>
                <a:tc>
                  <a:txBody>
                    <a:bodyPr/>
                    <a:lstStyle/>
                    <a:p>
                      <a:pPr algn="ctr"/>
                      <a:r>
                        <a:rPr lang="en-US" sz="1400" dirty="0">
                          <a:solidFill>
                            <a:schemeClr val="tx1">
                              <a:lumMod val="50000"/>
                              <a:lumOff val="50000"/>
                            </a:schemeClr>
                          </a:solidFill>
                          <a:latin typeface="Consolas" panose="020B0609020204030204" pitchFamily="49" charset="0"/>
                        </a:rPr>
                        <a:t>1 2 1</a:t>
                      </a:r>
                      <a:endParaRPr lang="en-PK" sz="1400" dirty="0">
                        <a:solidFill>
                          <a:schemeClr val="tx1">
                            <a:lumMod val="50000"/>
                            <a:lumOff val="50000"/>
                          </a:schemeClr>
                        </a:solidFill>
                        <a:latin typeface="Consolas" panose="020B0609020204030204" pitchFamily="49" charset="0"/>
                      </a:endParaRPr>
                    </a:p>
                  </a:txBody>
                  <a:tcPr/>
                </a:tc>
                <a:tc>
                  <a:txBody>
                    <a:bodyPr/>
                    <a:lstStyle/>
                    <a:p>
                      <a:pPr algn="ctr"/>
                      <a:r>
                        <a:rPr lang="en-US" sz="1400" dirty="0">
                          <a:solidFill>
                            <a:schemeClr val="tx1">
                              <a:lumMod val="50000"/>
                              <a:lumOff val="50000"/>
                            </a:schemeClr>
                          </a:solidFill>
                          <a:latin typeface="Consolas" panose="020B0609020204030204" pitchFamily="49" charset="0"/>
                        </a:rPr>
                        <a:t>1 2 1 3 1 2 1</a:t>
                      </a:r>
                      <a:endParaRPr lang="en-PK" sz="1400" dirty="0">
                        <a:solidFill>
                          <a:schemeClr val="tx1">
                            <a:lumMod val="50000"/>
                            <a:lumOff val="50000"/>
                          </a:schemeClr>
                        </a:solidFill>
                        <a:latin typeface="Consolas" panose="020B06090202040302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latin typeface="Consolas" panose="020B0609020204030204" pitchFamily="49" charset="0"/>
                        </a:rPr>
                        <a:t>1 2 1 3 1 2 1 4 1 2 1 3 1 2 1</a:t>
                      </a:r>
                      <a:endParaRPr lang="en-PK" sz="1400" dirty="0">
                        <a:latin typeface="Consolas" panose="020B0609020204030204" pitchFamily="49" charset="0"/>
                      </a:endParaRPr>
                    </a:p>
                  </a:txBody>
                  <a:tcPr/>
                </a:tc>
                <a:extLst>
                  <a:ext uri="{0D108BD9-81ED-4DB2-BD59-A6C34878D82A}">
                    <a16:rowId xmlns:a16="http://schemas.microsoft.com/office/drawing/2014/main" val="3581758142"/>
                  </a:ext>
                </a:extLst>
              </a:tr>
            </a:tbl>
          </a:graphicData>
        </a:graphic>
      </p:graphicFrame>
    </p:spTree>
    <p:extLst>
      <p:ext uri="{BB962C8B-B14F-4D97-AF65-F5344CB8AC3E}">
        <p14:creationId xmlns:p14="http://schemas.microsoft.com/office/powerpoint/2010/main" val="7261502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976B5-2F8B-EFF4-B31F-424A769739C3}"/>
              </a:ext>
            </a:extLst>
          </p:cNvPr>
          <p:cNvSpPr>
            <a:spLocks noGrp="1"/>
          </p:cNvSpPr>
          <p:nvPr>
            <p:ph type="title"/>
          </p:nvPr>
        </p:nvSpPr>
        <p:spPr/>
        <p:txBody>
          <a:bodyPr/>
          <a:lstStyle/>
          <a:p>
            <a:r>
              <a:rPr lang="en-US" dirty="0"/>
              <a:t>Working with strings and char</a:t>
            </a:r>
            <a:endParaRPr lang="en-PK" dirty="0"/>
          </a:p>
        </p:txBody>
      </p:sp>
      <p:sp>
        <p:nvSpPr>
          <p:cNvPr id="3" name="Content Placeholder 2">
            <a:extLst>
              <a:ext uri="{FF2B5EF4-FFF2-40B4-BE49-F238E27FC236}">
                <a16:creationId xmlns:a16="http://schemas.microsoft.com/office/drawing/2014/main" id="{39A82098-9B79-462A-C49E-5DA7C0DBF0F4}"/>
              </a:ext>
            </a:extLst>
          </p:cNvPr>
          <p:cNvSpPr>
            <a:spLocks noGrp="1"/>
          </p:cNvSpPr>
          <p:nvPr>
            <p:ph idx="1"/>
          </p:nvPr>
        </p:nvSpPr>
        <p:spPr/>
        <p:txBody>
          <a:bodyPr>
            <a:normAutofit fontScale="85000" lnSpcReduction="20000"/>
          </a:bodyPr>
          <a:lstStyle/>
          <a:p>
            <a:pPr marL="514350" indent="-514350">
              <a:buFont typeface="+mj-lt"/>
              <a:buAutoNum type="arabicPeriod"/>
            </a:pPr>
            <a:r>
              <a:rPr lang="en-US" dirty="0"/>
              <a:t>#include&lt;iostream&gt;</a:t>
            </a:r>
          </a:p>
          <a:p>
            <a:pPr marL="514350" indent="-514350">
              <a:buFont typeface="+mj-lt"/>
              <a:buAutoNum type="arabicPeriod"/>
            </a:pPr>
            <a:r>
              <a:rPr lang="en-US" dirty="0"/>
              <a:t>#include&lt;string&gt;</a:t>
            </a:r>
          </a:p>
          <a:p>
            <a:pPr marL="514350" indent="-514350">
              <a:buFont typeface="+mj-lt"/>
              <a:buAutoNum type="arabicPeriod"/>
            </a:pPr>
            <a:r>
              <a:rPr lang="en-US" dirty="0"/>
              <a:t>using namespace std;</a:t>
            </a:r>
          </a:p>
          <a:p>
            <a:pPr marL="514350" indent="-514350">
              <a:buFont typeface="+mj-lt"/>
              <a:buAutoNum type="arabicPeriod"/>
            </a:pPr>
            <a:r>
              <a:rPr lang="en-US" dirty="0"/>
              <a:t>int main(){</a:t>
            </a:r>
          </a:p>
          <a:p>
            <a:pPr marL="514350" indent="-514350">
              <a:buFont typeface="+mj-lt"/>
              <a:buAutoNum type="arabicPeriod"/>
            </a:pPr>
            <a:r>
              <a:rPr lang="en-US" dirty="0"/>
              <a:t>char </a:t>
            </a:r>
            <a:r>
              <a:rPr lang="en-US" dirty="0" err="1"/>
              <a:t>ch</a:t>
            </a:r>
            <a:r>
              <a:rPr lang="en-US" dirty="0"/>
              <a:t>;</a:t>
            </a:r>
          </a:p>
          <a:p>
            <a:pPr marL="514350" indent="-514350">
              <a:buFont typeface="+mj-lt"/>
              <a:buAutoNum type="arabicPeriod"/>
            </a:pPr>
            <a:r>
              <a:rPr lang="en-US" dirty="0" err="1"/>
              <a:t>cout</a:t>
            </a:r>
            <a:r>
              <a:rPr lang="en-US" dirty="0"/>
              <a:t>&lt;&lt;"enter any key to continue";</a:t>
            </a:r>
          </a:p>
          <a:p>
            <a:pPr marL="514350" indent="-514350">
              <a:buFont typeface="+mj-lt"/>
              <a:buAutoNum type="arabicPeriod"/>
            </a:pPr>
            <a:r>
              <a:rPr lang="en-US" dirty="0" err="1"/>
              <a:t>cin</a:t>
            </a:r>
            <a:r>
              <a:rPr lang="en-US" dirty="0"/>
              <a:t>&gt;&gt;</a:t>
            </a:r>
            <a:r>
              <a:rPr lang="en-US" dirty="0" err="1"/>
              <a:t>ch</a:t>
            </a:r>
            <a:r>
              <a:rPr lang="en-US" dirty="0"/>
              <a:t>;</a:t>
            </a:r>
          </a:p>
          <a:p>
            <a:pPr marL="514350" indent="-514350">
              <a:buFont typeface="+mj-lt"/>
              <a:buAutoNum type="arabicPeriod"/>
            </a:pPr>
            <a:r>
              <a:rPr lang="en-US" dirty="0" err="1"/>
              <a:t>cout</a:t>
            </a:r>
            <a:r>
              <a:rPr lang="en-US" dirty="0"/>
              <a:t>&lt;&lt;"you pressed"&lt;&lt;</a:t>
            </a:r>
            <a:r>
              <a:rPr lang="en-US" dirty="0" err="1"/>
              <a:t>ch</a:t>
            </a:r>
            <a:r>
              <a:rPr lang="en-US" dirty="0"/>
              <a:t>&lt;&lt;"key";</a:t>
            </a:r>
          </a:p>
          <a:p>
            <a:pPr marL="514350" indent="-514350">
              <a:buFont typeface="+mj-lt"/>
              <a:buAutoNum type="arabicPeriod"/>
            </a:pPr>
            <a:endParaRPr lang="en-US" dirty="0"/>
          </a:p>
          <a:p>
            <a:pPr marL="514350" indent="-514350">
              <a:buFont typeface="+mj-lt"/>
              <a:buAutoNum type="arabicPeriod"/>
            </a:pPr>
            <a:r>
              <a:rPr lang="en-US" dirty="0"/>
              <a:t>return 0;</a:t>
            </a:r>
          </a:p>
          <a:p>
            <a:pPr marL="514350" indent="-514350">
              <a:buFont typeface="+mj-lt"/>
              <a:buAutoNum type="arabicPeriod"/>
            </a:pPr>
            <a:r>
              <a:rPr lang="en-US" dirty="0"/>
              <a:t>}</a:t>
            </a:r>
            <a:endParaRPr lang="en-PK" dirty="0"/>
          </a:p>
        </p:txBody>
      </p:sp>
      <p:sp>
        <p:nvSpPr>
          <p:cNvPr id="4" name="Cloud 3">
            <a:extLst>
              <a:ext uri="{FF2B5EF4-FFF2-40B4-BE49-F238E27FC236}">
                <a16:creationId xmlns:a16="http://schemas.microsoft.com/office/drawing/2014/main" id="{287BF235-DB56-2E10-B939-F6CA66896EAD}"/>
              </a:ext>
            </a:extLst>
          </p:cNvPr>
          <p:cNvSpPr/>
          <p:nvPr/>
        </p:nvSpPr>
        <p:spPr>
          <a:xfrm>
            <a:off x="7315199" y="2136710"/>
            <a:ext cx="4544008" cy="2453951"/>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Pop up Quiz</a:t>
            </a:r>
          </a:p>
          <a:p>
            <a:pPr algn="ctr"/>
            <a:r>
              <a:rPr lang="en-US" dirty="0"/>
              <a:t>What will be output ?</a:t>
            </a:r>
            <a:endParaRPr lang="en-PK" dirty="0"/>
          </a:p>
        </p:txBody>
      </p:sp>
    </p:spTree>
    <p:extLst>
      <p:ext uri="{BB962C8B-B14F-4D97-AF65-F5344CB8AC3E}">
        <p14:creationId xmlns:p14="http://schemas.microsoft.com/office/powerpoint/2010/main" val="20073075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31018-4667-32AC-1E56-0CC1E6EE2014}"/>
              </a:ext>
            </a:extLst>
          </p:cNvPr>
          <p:cNvSpPr>
            <a:spLocks noGrp="1"/>
          </p:cNvSpPr>
          <p:nvPr>
            <p:ph type="title"/>
          </p:nvPr>
        </p:nvSpPr>
        <p:spPr/>
        <p:txBody>
          <a:bodyPr/>
          <a:lstStyle/>
          <a:p>
            <a:r>
              <a:rPr lang="en-US" dirty="0"/>
              <a:t>Working with strings and char</a:t>
            </a:r>
            <a:endParaRPr lang="en-PK" dirty="0"/>
          </a:p>
        </p:txBody>
      </p:sp>
      <p:sp>
        <p:nvSpPr>
          <p:cNvPr id="3" name="Content Placeholder 2">
            <a:extLst>
              <a:ext uri="{FF2B5EF4-FFF2-40B4-BE49-F238E27FC236}">
                <a16:creationId xmlns:a16="http://schemas.microsoft.com/office/drawing/2014/main" id="{ACCA0FAD-9216-2DF2-7089-042B5099C167}"/>
              </a:ext>
            </a:extLst>
          </p:cNvPr>
          <p:cNvSpPr>
            <a:spLocks noGrp="1"/>
          </p:cNvSpPr>
          <p:nvPr>
            <p:ph idx="1"/>
          </p:nvPr>
        </p:nvSpPr>
        <p:spPr/>
        <p:txBody>
          <a:bodyPr>
            <a:normAutofit fontScale="85000" lnSpcReduction="20000"/>
          </a:bodyPr>
          <a:lstStyle/>
          <a:p>
            <a:pPr marL="514350" indent="-514350">
              <a:buFont typeface="+mj-lt"/>
              <a:buAutoNum type="arabicPeriod"/>
            </a:pPr>
            <a:r>
              <a:rPr lang="en-US" dirty="0"/>
              <a:t>#include&lt;iostream&gt;</a:t>
            </a:r>
          </a:p>
          <a:p>
            <a:pPr marL="514350" indent="-514350">
              <a:buFont typeface="+mj-lt"/>
              <a:buAutoNum type="arabicPeriod"/>
            </a:pPr>
            <a:r>
              <a:rPr lang="en-US" dirty="0"/>
              <a:t>#include&lt;string&gt;</a:t>
            </a:r>
          </a:p>
          <a:p>
            <a:pPr marL="514350" indent="-514350">
              <a:buFont typeface="+mj-lt"/>
              <a:buAutoNum type="arabicPeriod"/>
            </a:pPr>
            <a:r>
              <a:rPr lang="en-US" dirty="0"/>
              <a:t>using namespace std;</a:t>
            </a:r>
          </a:p>
          <a:p>
            <a:pPr marL="514350" indent="-514350">
              <a:buFont typeface="+mj-lt"/>
              <a:buAutoNum type="arabicPeriod"/>
            </a:pPr>
            <a:r>
              <a:rPr lang="en-US" dirty="0"/>
              <a:t>int main(){</a:t>
            </a:r>
          </a:p>
          <a:p>
            <a:pPr marL="514350" indent="-514350">
              <a:buFont typeface="+mj-lt"/>
              <a:buAutoNum type="arabicPeriod"/>
            </a:pPr>
            <a:r>
              <a:rPr lang="en-US" dirty="0"/>
              <a:t>char </a:t>
            </a:r>
            <a:r>
              <a:rPr lang="en-US" dirty="0" err="1"/>
              <a:t>ch</a:t>
            </a:r>
            <a:r>
              <a:rPr lang="en-US" dirty="0"/>
              <a:t>;</a:t>
            </a:r>
          </a:p>
          <a:p>
            <a:pPr marL="514350" indent="-514350">
              <a:buFont typeface="+mj-lt"/>
              <a:buAutoNum type="arabicPeriod"/>
            </a:pPr>
            <a:r>
              <a:rPr lang="en-US" dirty="0" err="1"/>
              <a:t>cout</a:t>
            </a:r>
            <a:r>
              <a:rPr lang="en-US" dirty="0"/>
              <a:t>&lt;&lt;"enter any key to continue";</a:t>
            </a:r>
          </a:p>
          <a:p>
            <a:pPr marL="514350" indent="-514350">
              <a:buFont typeface="+mj-lt"/>
              <a:buAutoNum type="arabicPeriod"/>
            </a:pPr>
            <a:r>
              <a:rPr lang="en-US" dirty="0"/>
              <a:t>//</a:t>
            </a:r>
            <a:r>
              <a:rPr lang="en-US" dirty="0" err="1"/>
              <a:t>cin.get</a:t>
            </a:r>
            <a:r>
              <a:rPr lang="en-US" dirty="0"/>
              <a:t>();</a:t>
            </a:r>
          </a:p>
          <a:p>
            <a:pPr marL="514350" indent="-514350">
              <a:buFont typeface="+mj-lt"/>
              <a:buAutoNum type="arabicPeriod"/>
            </a:pPr>
            <a:r>
              <a:rPr lang="en-US" dirty="0" err="1"/>
              <a:t>cin.get</a:t>
            </a:r>
            <a:r>
              <a:rPr lang="en-US" dirty="0"/>
              <a:t>(</a:t>
            </a:r>
            <a:r>
              <a:rPr lang="en-US" dirty="0" err="1"/>
              <a:t>ch</a:t>
            </a:r>
            <a:r>
              <a:rPr lang="en-US" dirty="0"/>
              <a:t>);</a:t>
            </a:r>
          </a:p>
          <a:p>
            <a:pPr marL="514350" indent="-514350">
              <a:buFont typeface="+mj-lt"/>
              <a:buAutoNum type="arabicPeriod"/>
            </a:pPr>
            <a:r>
              <a:rPr lang="en-US" dirty="0" err="1"/>
              <a:t>cout</a:t>
            </a:r>
            <a:r>
              <a:rPr lang="en-US" dirty="0"/>
              <a:t>&lt;&lt;"you pressed"&lt;&lt;</a:t>
            </a:r>
            <a:r>
              <a:rPr lang="en-US" dirty="0" err="1"/>
              <a:t>ch</a:t>
            </a:r>
            <a:r>
              <a:rPr lang="en-US" dirty="0"/>
              <a:t>&lt;&lt;"key";</a:t>
            </a:r>
          </a:p>
          <a:p>
            <a:pPr marL="514350" indent="-514350">
              <a:buFont typeface="+mj-lt"/>
              <a:buAutoNum type="arabicPeriod"/>
            </a:pPr>
            <a:r>
              <a:rPr lang="en-US" dirty="0"/>
              <a:t>return 0;</a:t>
            </a:r>
          </a:p>
          <a:p>
            <a:pPr marL="514350" indent="-514350">
              <a:buFont typeface="+mj-lt"/>
              <a:buAutoNum type="arabicPeriod"/>
            </a:pPr>
            <a:r>
              <a:rPr lang="en-US" dirty="0"/>
              <a:t>}</a:t>
            </a:r>
            <a:endParaRPr lang="en-PK" dirty="0"/>
          </a:p>
        </p:txBody>
      </p:sp>
      <p:pic>
        <p:nvPicPr>
          <p:cNvPr id="5" name="Picture 4">
            <a:extLst>
              <a:ext uri="{FF2B5EF4-FFF2-40B4-BE49-F238E27FC236}">
                <a16:creationId xmlns:a16="http://schemas.microsoft.com/office/drawing/2014/main" id="{0BB56DAF-4556-4208-7A9F-50E5FB32BD23}"/>
              </a:ext>
            </a:extLst>
          </p:cNvPr>
          <p:cNvPicPr>
            <a:picLocks noChangeAspect="1"/>
          </p:cNvPicPr>
          <p:nvPr/>
        </p:nvPicPr>
        <p:blipFill>
          <a:blip r:embed="rId2"/>
          <a:stretch>
            <a:fillRect/>
          </a:stretch>
        </p:blipFill>
        <p:spPr>
          <a:xfrm>
            <a:off x="6018245" y="2110626"/>
            <a:ext cx="4842588" cy="2461374"/>
          </a:xfrm>
          <a:prstGeom prst="rect">
            <a:avLst/>
          </a:prstGeom>
        </p:spPr>
      </p:pic>
    </p:spTree>
    <p:extLst>
      <p:ext uri="{BB962C8B-B14F-4D97-AF65-F5344CB8AC3E}">
        <p14:creationId xmlns:p14="http://schemas.microsoft.com/office/powerpoint/2010/main" val="34379033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2E48629-0A7C-B980-90C9-1522CCBA297A}"/>
              </a:ext>
            </a:extLst>
          </p:cNvPr>
          <p:cNvSpPr>
            <a:spLocks noGrp="1"/>
          </p:cNvSpPr>
          <p:nvPr>
            <p:ph type="title"/>
          </p:nvPr>
        </p:nvSpPr>
        <p:spPr/>
        <p:txBody>
          <a:bodyPr/>
          <a:lstStyle/>
          <a:p>
            <a:r>
              <a:rPr lang="en-US" dirty="0"/>
              <a:t>Type conversions</a:t>
            </a:r>
            <a:endParaRPr lang="en-PK" dirty="0"/>
          </a:p>
        </p:txBody>
      </p:sp>
      <p:sp>
        <p:nvSpPr>
          <p:cNvPr id="5" name="Text Placeholder 4">
            <a:extLst>
              <a:ext uri="{FF2B5EF4-FFF2-40B4-BE49-F238E27FC236}">
                <a16:creationId xmlns:a16="http://schemas.microsoft.com/office/drawing/2014/main" id="{3EED4CAE-AE36-42ED-1D53-FAD8E129A5CA}"/>
              </a:ext>
            </a:extLst>
          </p:cNvPr>
          <p:cNvSpPr>
            <a:spLocks noGrp="1"/>
          </p:cNvSpPr>
          <p:nvPr>
            <p:ph type="body" idx="1"/>
          </p:nvPr>
        </p:nvSpPr>
        <p:spPr/>
        <p:txBody>
          <a:bodyPr/>
          <a:lstStyle/>
          <a:p>
            <a:endParaRPr lang="en-PK" dirty="0"/>
          </a:p>
        </p:txBody>
      </p:sp>
    </p:spTree>
    <p:extLst>
      <p:ext uri="{BB962C8B-B14F-4D97-AF65-F5344CB8AC3E}">
        <p14:creationId xmlns:p14="http://schemas.microsoft.com/office/powerpoint/2010/main" val="1949315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CCD04-5D8D-83C7-D667-E7D16AC206DC}"/>
              </a:ext>
            </a:extLst>
          </p:cNvPr>
          <p:cNvSpPr>
            <a:spLocks noGrp="1"/>
          </p:cNvSpPr>
          <p:nvPr>
            <p:ph type="title"/>
          </p:nvPr>
        </p:nvSpPr>
        <p:spPr/>
        <p:txBody>
          <a:bodyPr/>
          <a:lstStyle/>
          <a:p>
            <a:r>
              <a:rPr lang="en-US" dirty="0"/>
              <a:t>Type checking</a:t>
            </a:r>
            <a:endParaRPr lang="en-PK" dirty="0"/>
          </a:p>
        </p:txBody>
      </p:sp>
      <p:sp>
        <p:nvSpPr>
          <p:cNvPr id="3" name="Content Placeholder 2">
            <a:extLst>
              <a:ext uri="{FF2B5EF4-FFF2-40B4-BE49-F238E27FC236}">
                <a16:creationId xmlns:a16="http://schemas.microsoft.com/office/drawing/2014/main" id="{1110CBA6-2482-36C6-F47A-6B6A0806946B}"/>
              </a:ext>
            </a:extLst>
          </p:cNvPr>
          <p:cNvSpPr>
            <a:spLocks noGrp="1"/>
          </p:cNvSpPr>
          <p:nvPr>
            <p:ph idx="1"/>
          </p:nvPr>
        </p:nvSpPr>
        <p:spPr>
          <a:xfrm>
            <a:off x="838200" y="1909601"/>
            <a:ext cx="10515600" cy="738664"/>
          </a:xfrm>
        </p:spPr>
        <p:txBody>
          <a:bodyPr>
            <a:noAutofit/>
          </a:bodyPr>
          <a:lstStyle/>
          <a:p>
            <a:pPr marL="0" indent="0">
              <a:buNone/>
            </a:pPr>
            <a:r>
              <a:rPr lang="en-US" sz="2200" dirty="0"/>
              <a:t>Types of variables involved in data-type operations always must match the definitions </a:t>
            </a:r>
          </a:p>
          <a:p>
            <a:pPr marL="0" indent="0">
              <a:buNone/>
            </a:pPr>
            <a:r>
              <a:rPr lang="en-US" sz="2200" dirty="0"/>
              <a:t>The C++ compiler is your friend: it checks for type errors in your code</a:t>
            </a:r>
            <a:endParaRPr lang="en-PK" sz="2200" dirty="0"/>
          </a:p>
        </p:txBody>
      </p:sp>
      <p:sp>
        <p:nvSpPr>
          <p:cNvPr id="4" name="TextBox 3">
            <a:extLst>
              <a:ext uri="{FF2B5EF4-FFF2-40B4-BE49-F238E27FC236}">
                <a16:creationId xmlns:a16="http://schemas.microsoft.com/office/drawing/2014/main" id="{412E7709-F218-2259-6F69-F1A52F9BD2C5}"/>
              </a:ext>
            </a:extLst>
          </p:cNvPr>
          <p:cNvSpPr txBox="1"/>
          <p:nvPr/>
        </p:nvSpPr>
        <p:spPr>
          <a:xfrm>
            <a:off x="838200" y="5682343"/>
            <a:ext cx="10666445" cy="707886"/>
          </a:xfrm>
          <a:prstGeom prst="rect">
            <a:avLst/>
          </a:prstGeom>
          <a:noFill/>
        </p:spPr>
        <p:txBody>
          <a:bodyPr wrap="square" rtlCol="0">
            <a:spAutoFit/>
          </a:bodyPr>
          <a:lstStyle/>
          <a:p>
            <a:r>
              <a:rPr lang="en-US" sz="2200" dirty="0"/>
              <a:t>When appropriate, we often </a:t>
            </a:r>
            <a:r>
              <a:rPr lang="en-US" sz="2200" dirty="0">
                <a:solidFill>
                  <a:schemeClr val="accent1"/>
                </a:solidFill>
              </a:rPr>
              <a:t>convert</a:t>
            </a:r>
            <a:r>
              <a:rPr lang="en-US" sz="2200" dirty="0"/>
              <a:t> a value from one type to another to make types match</a:t>
            </a:r>
          </a:p>
          <a:p>
            <a:endParaRPr lang="en-PK" dirty="0"/>
          </a:p>
        </p:txBody>
      </p:sp>
      <p:sp>
        <p:nvSpPr>
          <p:cNvPr id="5" name="TextBox 4">
            <a:extLst>
              <a:ext uri="{FF2B5EF4-FFF2-40B4-BE49-F238E27FC236}">
                <a16:creationId xmlns:a16="http://schemas.microsoft.com/office/drawing/2014/main" id="{4E3EDC4D-E8B9-81B1-1398-3C309F1B485B}"/>
              </a:ext>
            </a:extLst>
          </p:cNvPr>
          <p:cNvSpPr txBox="1"/>
          <p:nvPr/>
        </p:nvSpPr>
        <p:spPr>
          <a:xfrm>
            <a:off x="1058830" y="2968399"/>
            <a:ext cx="2598770" cy="923330"/>
          </a:xfrm>
          <a:prstGeom prst="rect">
            <a:avLst/>
          </a:prstGeom>
          <a:solidFill>
            <a:schemeClr val="accent1">
              <a:lumMod val="20000"/>
              <a:lumOff val="80000"/>
              <a:alpha val="50000"/>
            </a:schemeClr>
          </a:solidFill>
        </p:spPr>
        <p:txBody>
          <a:bodyPr wrap="square" rtlCol="0">
            <a:spAutoFit/>
          </a:bodyPr>
          <a:lstStyle/>
          <a:p>
            <a:r>
              <a:rPr lang="fr-FR" dirty="0" err="1">
                <a:latin typeface="Consolas" panose="020B0609020204030204" pitchFamily="49" charset="0"/>
              </a:rPr>
              <a:t>int</a:t>
            </a:r>
            <a:r>
              <a:rPr lang="fr-FR" dirty="0">
                <a:latin typeface="Consolas" panose="020B0609020204030204" pitchFamily="49" charset="0"/>
              </a:rPr>
              <a:t> main() {</a:t>
            </a:r>
          </a:p>
          <a:p>
            <a:r>
              <a:rPr lang="fr-FR" dirty="0">
                <a:latin typeface="Consolas" panose="020B0609020204030204" pitchFamily="49" charset="0"/>
              </a:rPr>
              <a:t>    </a:t>
            </a:r>
            <a:r>
              <a:rPr lang="fr-FR" dirty="0" err="1">
                <a:latin typeface="Consolas" panose="020B0609020204030204" pitchFamily="49" charset="0"/>
              </a:rPr>
              <a:t>int</a:t>
            </a:r>
            <a:r>
              <a:rPr lang="fr-FR" dirty="0">
                <a:latin typeface="Consolas" panose="020B0609020204030204" pitchFamily="49" charset="0"/>
              </a:rPr>
              <a:t> x {3.5};</a:t>
            </a:r>
          </a:p>
          <a:p>
            <a:r>
              <a:rPr lang="fr-FR" dirty="0">
                <a:latin typeface="Consolas" panose="020B0609020204030204" pitchFamily="49" charset="0"/>
              </a:rPr>
              <a:t>}</a:t>
            </a:r>
            <a:endParaRPr lang="en-PK" dirty="0">
              <a:latin typeface="Consolas" panose="020B0609020204030204" pitchFamily="49" charset="0"/>
            </a:endParaRPr>
          </a:p>
        </p:txBody>
      </p:sp>
      <p:sp>
        <p:nvSpPr>
          <p:cNvPr id="6" name="TextBox 5">
            <a:extLst>
              <a:ext uri="{FF2B5EF4-FFF2-40B4-BE49-F238E27FC236}">
                <a16:creationId xmlns:a16="http://schemas.microsoft.com/office/drawing/2014/main" id="{1285771E-DCBE-111C-A44F-EA7B893B8292}"/>
              </a:ext>
            </a:extLst>
          </p:cNvPr>
          <p:cNvSpPr txBox="1"/>
          <p:nvPr/>
        </p:nvSpPr>
        <p:spPr>
          <a:xfrm>
            <a:off x="1343025" y="3983783"/>
            <a:ext cx="10239375" cy="1200329"/>
          </a:xfrm>
          <a:prstGeom prst="rect">
            <a:avLst/>
          </a:prstGeom>
          <a:solidFill>
            <a:schemeClr val="accent1">
              <a:lumMod val="20000"/>
              <a:lumOff val="80000"/>
              <a:alpha val="50000"/>
            </a:schemeClr>
          </a:solidFill>
        </p:spPr>
        <p:txBody>
          <a:bodyPr wrap="square" rtlCol="0">
            <a:spAutoFit/>
          </a:bodyPr>
          <a:lstStyle/>
          <a:p>
            <a:pPr marL="285750" indent="-285750">
              <a:buFont typeface="Wingdings" panose="05000000000000000000" pitchFamily="2" charset="2"/>
              <a:buChar char="Ø"/>
            </a:pPr>
            <a:r>
              <a:rPr lang="en-US" dirty="0">
                <a:latin typeface="Consolas" panose="020B0609020204030204" pitchFamily="49" charset="0"/>
              </a:rPr>
              <a:t>g++ main.cpp</a:t>
            </a:r>
            <a:br>
              <a:rPr lang="en-US" dirty="0">
                <a:latin typeface="Consolas" panose="020B0609020204030204" pitchFamily="49" charset="0"/>
              </a:rPr>
            </a:br>
            <a:r>
              <a:rPr lang="en-US" dirty="0">
                <a:latin typeface="Consolas" panose="020B0609020204030204" pitchFamily="49" charset="0"/>
              </a:rPr>
              <a:t>main.cpp:2:12: </a:t>
            </a:r>
            <a:r>
              <a:rPr lang="en-US" dirty="0">
                <a:solidFill>
                  <a:srgbClr val="FF0000"/>
                </a:solidFill>
                <a:latin typeface="Consolas" panose="020B0609020204030204" pitchFamily="49" charset="0"/>
              </a:rPr>
              <a:t>error: </a:t>
            </a:r>
            <a:r>
              <a:rPr lang="en-US" dirty="0">
                <a:latin typeface="Consolas" panose="020B0609020204030204" pitchFamily="49" charset="0"/>
              </a:rPr>
              <a:t>narrowing conversion of '3.5e+0' from 'double' to 'int’</a:t>
            </a:r>
          </a:p>
          <a:p>
            <a:r>
              <a:rPr lang="en-US" dirty="0">
                <a:latin typeface="Consolas" panose="020B0609020204030204" pitchFamily="49" charset="0"/>
              </a:rPr>
              <a:t>     2 |     int x {</a:t>
            </a:r>
            <a:r>
              <a:rPr lang="en-US" dirty="0">
                <a:solidFill>
                  <a:srgbClr val="FF0000"/>
                </a:solidFill>
                <a:latin typeface="Consolas" panose="020B0609020204030204" pitchFamily="49" charset="0"/>
              </a:rPr>
              <a:t>3.5</a:t>
            </a:r>
            <a:r>
              <a:rPr lang="en-US" dirty="0">
                <a:latin typeface="Consolas" panose="020B0609020204030204" pitchFamily="49" charset="0"/>
              </a:rPr>
              <a:t>};</a:t>
            </a:r>
          </a:p>
          <a:p>
            <a:r>
              <a:rPr lang="en-US" dirty="0">
                <a:latin typeface="Consolas" panose="020B0609020204030204" pitchFamily="49" charset="0"/>
              </a:rPr>
              <a:t>       |            ^~~</a:t>
            </a:r>
            <a:endParaRPr lang="en-PK" dirty="0">
              <a:latin typeface="Consolas" panose="020B0609020204030204" pitchFamily="49" charset="0"/>
            </a:endParaRPr>
          </a:p>
        </p:txBody>
      </p:sp>
    </p:spTree>
    <p:extLst>
      <p:ext uri="{BB962C8B-B14F-4D97-AF65-F5344CB8AC3E}">
        <p14:creationId xmlns:p14="http://schemas.microsoft.com/office/powerpoint/2010/main" val="34241823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7334B-9046-777C-F6B5-C6F5972ABC35}"/>
              </a:ext>
            </a:extLst>
          </p:cNvPr>
          <p:cNvSpPr>
            <a:spLocks noGrp="1"/>
          </p:cNvSpPr>
          <p:nvPr>
            <p:ph type="title"/>
          </p:nvPr>
        </p:nvSpPr>
        <p:spPr/>
        <p:txBody>
          <a:bodyPr/>
          <a:lstStyle/>
          <a:p>
            <a:r>
              <a:rPr lang="en-US" dirty="0"/>
              <a:t>Automatic (implicit) type conversions</a:t>
            </a:r>
            <a:endParaRPr lang="en-PK" dirty="0"/>
          </a:p>
        </p:txBody>
      </p:sp>
      <p:sp>
        <p:nvSpPr>
          <p:cNvPr id="4" name="TextBox 3">
            <a:extLst>
              <a:ext uri="{FF2B5EF4-FFF2-40B4-BE49-F238E27FC236}">
                <a16:creationId xmlns:a16="http://schemas.microsoft.com/office/drawing/2014/main" id="{C4855779-5107-27DF-8152-E0BDF2A92D87}"/>
              </a:ext>
            </a:extLst>
          </p:cNvPr>
          <p:cNvSpPr txBox="1"/>
          <p:nvPr/>
        </p:nvSpPr>
        <p:spPr>
          <a:xfrm>
            <a:off x="838200" y="1597384"/>
            <a:ext cx="7143751" cy="461665"/>
          </a:xfrm>
          <a:prstGeom prst="rect">
            <a:avLst/>
          </a:prstGeom>
          <a:solidFill>
            <a:schemeClr val="bg2">
              <a:alpha val="50000"/>
            </a:schemeClr>
          </a:solidFill>
        </p:spPr>
        <p:txBody>
          <a:bodyPr wrap="square" rtlCol="0">
            <a:spAutoFit/>
          </a:bodyPr>
          <a:lstStyle/>
          <a:p>
            <a:r>
              <a:rPr lang="en-US" sz="2400" dirty="0"/>
              <a:t>Type conversion is an essential aspect of programming.</a:t>
            </a:r>
            <a:endParaRPr lang="en-PK" sz="2400" dirty="0"/>
          </a:p>
        </p:txBody>
      </p:sp>
      <p:sp>
        <p:nvSpPr>
          <p:cNvPr id="5" name="TextBox 4">
            <a:extLst>
              <a:ext uri="{FF2B5EF4-FFF2-40B4-BE49-F238E27FC236}">
                <a16:creationId xmlns:a16="http://schemas.microsoft.com/office/drawing/2014/main" id="{D905C85E-38FF-00E2-707E-2441B9C32B13}"/>
              </a:ext>
            </a:extLst>
          </p:cNvPr>
          <p:cNvSpPr txBox="1"/>
          <p:nvPr/>
        </p:nvSpPr>
        <p:spPr>
          <a:xfrm>
            <a:off x="838200" y="2274484"/>
            <a:ext cx="9346749" cy="1200329"/>
          </a:xfrm>
          <a:prstGeom prst="rect">
            <a:avLst/>
          </a:prstGeom>
          <a:solidFill>
            <a:schemeClr val="bg2">
              <a:alpha val="50000"/>
            </a:schemeClr>
          </a:solidFill>
        </p:spPr>
        <p:txBody>
          <a:bodyPr wrap="square" rtlCol="0">
            <a:spAutoFit/>
          </a:bodyPr>
          <a:lstStyle/>
          <a:p>
            <a:r>
              <a:rPr lang="en-US" sz="2400" dirty="0">
                <a:solidFill>
                  <a:schemeClr val="accent1"/>
                </a:solidFill>
              </a:rPr>
              <a:t>Between numeric types</a:t>
            </a:r>
          </a:p>
          <a:p>
            <a:r>
              <a:rPr lang="en-US" sz="2400" dirty="0">
                <a:solidFill>
                  <a:schemeClr val="accent1"/>
                </a:solidFill>
              </a:rPr>
              <a:t>widening: </a:t>
            </a:r>
            <a:r>
              <a:rPr lang="en-US" sz="2400" dirty="0"/>
              <a:t>Conversions that preserve information, such as </a:t>
            </a:r>
            <a:r>
              <a:rPr lang="en-US" sz="2400" dirty="0">
                <a:latin typeface="Consolas" panose="020B0609020204030204" pitchFamily="49" charset="0"/>
              </a:rPr>
              <a:t>char</a:t>
            </a:r>
            <a:r>
              <a:rPr lang="en-US" sz="2400" dirty="0"/>
              <a:t> to </a:t>
            </a:r>
            <a:r>
              <a:rPr lang="en-US" sz="2400" dirty="0">
                <a:latin typeface="Consolas" panose="020B0609020204030204" pitchFamily="49" charset="0"/>
              </a:rPr>
              <a:t>int</a:t>
            </a:r>
            <a:r>
              <a:rPr lang="en-US" sz="2400" dirty="0"/>
              <a:t>.</a:t>
            </a:r>
          </a:p>
          <a:p>
            <a:r>
              <a:rPr lang="en-US" sz="2400" dirty="0">
                <a:solidFill>
                  <a:schemeClr val="accent1"/>
                </a:solidFill>
              </a:rPr>
              <a:t>narrowing: </a:t>
            </a:r>
            <a:r>
              <a:rPr lang="en-US" sz="2400" dirty="0"/>
              <a:t>Conversions that may lose information, such as </a:t>
            </a:r>
            <a:r>
              <a:rPr lang="en-US" sz="2400" dirty="0">
                <a:latin typeface="Consolas" panose="020B0609020204030204" pitchFamily="49" charset="0"/>
              </a:rPr>
              <a:t>int</a:t>
            </a:r>
            <a:r>
              <a:rPr lang="en-US" sz="2400" dirty="0"/>
              <a:t> to </a:t>
            </a:r>
            <a:r>
              <a:rPr lang="en-US" sz="2400" dirty="0">
                <a:latin typeface="Consolas" panose="020B0609020204030204" pitchFamily="49" charset="0"/>
              </a:rPr>
              <a:t>char</a:t>
            </a:r>
            <a:r>
              <a:rPr lang="en-US" sz="2400" dirty="0"/>
              <a:t>.</a:t>
            </a:r>
            <a:endParaRPr lang="en-PK" sz="2400" dirty="0"/>
          </a:p>
        </p:txBody>
      </p:sp>
      <p:graphicFrame>
        <p:nvGraphicFramePr>
          <p:cNvPr id="10" name="Table 10">
            <a:extLst>
              <a:ext uri="{FF2B5EF4-FFF2-40B4-BE49-F238E27FC236}">
                <a16:creationId xmlns:a16="http://schemas.microsoft.com/office/drawing/2014/main" id="{B247D242-DB15-36A4-40A4-01AC8FCD6741}"/>
              </a:ext>
            </a:extLst>
          </p:cNvPr>
          <p:cNvGraphicFramePr>
            <a:graphicFrameLocks noGrp="1"/>
          </p:cNvGraphicFramePr>
          <p:nvPr/>
        </p:nvGraphicFramePr>
        <p:xfrm>
          <a:off x="838199" y="3655725"/>
          <a:ext cx="4191001" cy="1676400"/>
        </p:xfrm>
        <a:graphic>
          <a:graphicData uri="http://schemas.openxmlformats.org/drawingml/2006/table">
            <a:tbl>
              <a:tblPr firstRow="1" bandRow="1">
                <a:tableStyleId>{5FD0F851-EC5A-4D38-B0AD-8093EC10F338}</a:tableStyleId>
              </a:tblPr>
              <a:tblGrid>
                <a:gridCol w="1747885">
                  <a:extLst>
                    <a:ext uri="{9D8B030D-6E8A-4147-A177-3AD203B41FA5}">
                      <a16:colId xmlns:a16="http://schemas.microsoft.com/office/drawing/2014/main" val="1493070760"/>
                    </a:ext>
                  </a:extLst>
                </a:gridCol>
                <a:gridCol w="1357287">
                  <a:extLst>
                    <a:ext uri="{9D8B030D-6E8A-4147-A177-3AD203B41FA5}">
                      <a16:colId xmlns:a16="http://schemas.microsoft.com/office/drawing/2014/main" val="1400602816"/>
                    </a:ext>
                  </a:extLst>
                </a:gridCol>
                <a:gridCol w="1085829">
                  <a:extLst>
                    <a:ext uri="{9D8B030D-6E8A-4147-A177-3AD203B41FA5}">
                      <a16:colId xmlns:a16="http://schemas.microsoft.com/office/drawing/2014/main" val="4003084707"/>
                    </a:ext>
                  </a:extLst>
                </a:gridCol>
              </a:tblGrid>
              <a:tr h="334607">
                <a:tc>
                  <a:txBody>
                    <a:bodyPr/>
                    <a:lstStyle/>
                    <a:p>
                      <a:pPr algn="ctr"/>
                      <a:r>
                        <a:rPr lang="en-US" sz="1600" dirty="0"/>
                        <a:t>expression</a:t>
                      </a:r>
                      <a:endParaRPr lang="en-PK" sz="1600" dirty="0">
                        <a:latin typeface="+mn-lt"/>
                      </a:endParaRPr>
                    </a:p>
                  </a:txBody>
                  <a:tcPr/>
                </a:tc>
                <a:tc>
                  <a:txBody>
                    <a:bodyPr/>
                    <a:lstStyle/>
                    <a:p>
                      <a:pPr algn="ctr"/>
                      <a:r>
                        <a:rPr lang="en-US" sz="1600" dirty="0"/>
                        <a:t>type</a:t>
                      </a:r>
                      <a:endParaRPr lang="en-PK" sz="1600" dirty="0">
                        <a:latin typeface="+mn-lt"/>
                      </a:endParaRPr>
                    </a:p>
                  </a:txBody>
                  <a:tcPr/>
                </a:tc>
                <a:tc>
                  <a:txBody>
                    <a:bodyPr/>
                    <a:lstStyle/>
                    <a:p>
                      <a:pPr algn="ctr"/>
                      <a:r>
                        <a:rPr lang="en-US" sz="1600" dirty="0"/>
                        <a:t>value</a:t>
                      </a:r>
                      <a:endParaRPr lang="en-PK" sz="1600" dirty="0">
                        <a:latin typeface="+mn-lt"/>
                      </a:endParaRPr>
                    </a:p>
                  </a:txBody>
                  <a:tcPr/>
                </a:tc>
                <a:extLst>
                  <a:ext uri="{0D108BD9-81ED-4DB2-BD59-A6C34878D82A}">
                    <a16:rowId xmlns:a16="http://schemas.microsoft.com/office/drawing/2014/main" val="1873545988"/>
                  </a:ext>
                </a:extLst>
              </a:tr>
              <a:tr h="334607">
                <a:tc>
                  <a:txBody>
                    <a:bodyPr/>
                    <a:lstStyle/>
                    <a:p>
                      <a:pPr algn="ctr"/>
                      <a:r>
                        <a:rPr lang="en-US" sz="1600" dirty="0"/>
                        <a:t>'A' + 1</a:t>
                      </a:r>
                      <a:endParaRPr lang="en-PK" sz="1600" dirty="0">
                        <a:latin typeface="Consolas" panose="020B0609020204030204" pitchFamily="49" charset="0"/>
                      </a:endParaRPr>
                    </a:p>
                  </a:txBody>
                  <a:tcPr/>
                </a:tc>
                <a:tc>
                  <a:txBody>
                    <a:bodyPr/>
                    <a:lstStyle/>
                    <a:p>
                      <a:pPr algn="ctr"/>
                      <a:r>
                        <a:rPr lang="en-US" sz="1600" dirty="0"/>
                        <a:t>int</a:t>
                      </a:r>
                      <a:endParaRPr lang="en-PK" sz="1600" dirty="0">
                        <a:latin typeface="Consolas" panose="020B0609020204030204" pitchFamily="49" charset="0"/>
                      </a:endParaRPr>
                    </a:p>
                  </a:txBody>
                  <a:tcPr/>
                </a:tc>
                <a:tc>
                  <a:txBody>
                    <a:bodyPr/>
                    <a:lstStyle/>
                    <a:p>
                      <a:pPr algn="ctr"/>
                      <a:r>
                        <a:rPr lang="en-US" sz="1600" dirty="0"/>
                        <a:t>66</a:t>
                      </a:r>
                      <a:endParaRPr lang="en-PK" sz="1600" dirty="0">
                        <a:latin typeface="Consolas" panose="020B0609020204030204" pitchFamily="49" charset="0"/>
                      </a:endParaRPr>
                    </a:p>
                  </a:txBody>
                  <a:tcPr/>
                </a:tc>
                <a:extLst>
                  <a:ext uri="{0D108BD9-81ED-4DB2-BD59-A6C34878D82A}">
                    <a16:rowId xmlns:a16="http://schemas.microsoft.com/office/drawing/2014/main" val="3546161354"/>
                  </a:ext>
                </a:extLst>
              </a:tr>
              <a:tr h="334607">
                <a:tc>
                  <a:txBody>
                    <a:bodyPr/>
                    <a:lstStyle/>
                    <a:p>
                      <a:pPr algn="ctr"/>
                      <a:r>
                        <a:rPr lang="en-US" sz="1600" dirty="0"/>
                        <a:t>11 * 0.25</a:t>
                      </a:r>
                      <a:endParaRPr lang="en-PK" sz="1600" dirty="0">
                        <a:latin typeface="Consolas" panose="020B0609020204030204" pitchFamily="49" charset="0"/>
                      </a:endParaRPr>
                    </a:p>
                  </a:txBody>
                  <a:tcPr/>
                </a:tc>
                <a:tc>
                  <a:txBody>
                    <a:bodyPr/>
                    <a:lstStyle/>
                    <a:p>
                      <a:pPr algn="ctr"/>
                      <a:r>
                        <a:rPr lang="en-US" sz="1600" dirty="0"/>
                        <a:t>double</a:t>
                      </a:r>
                      <a:endParaRPr lang="en-PK" sz="1600" dirty="0">
                        <a:latin typeface="Consolas" panose="020B0609020204030204" pitchFamily="49" charset="0"/>
                      </a:endParaRPr>
                    </a:p>
                  </a:txBody>
                  <a:tcPr/>
                </a:tc>
                <a:tc>
                  <a:txBody>
                    <a:bodyPr/>
                    <a:lstStyle/>
                    <a:p>
                      <a:pPr algn="ctr"/>
                      <a:r>
                        <a:rPr lang="en-US" sz="1600" dirty="0"/>
                        <a:t>2.75</a:t>
                      </a:r>
                      <a:endParaRPr lang="en-PK" sz="1600" dirty="0">
                        <a:latin typeface="Consolas" panose="020B0609020204030204" pitchFamily="49" charset="0"/>
                      </a:endParaRPr>
                    </a:p>
                  </a:txBody>
                  <a:tcPr/>
                </a:tc>
                <a:extLst>
                  <a:ext uri="{0D108BD9-81ED-4DB2-BD59-A6C34878D82A}">
                    <a16:rowId xmlns:a16="http://schemas.microsoft.com/office/drawing/2014/main" val="3516887517"/>
                  </a:ext>
                </a:extLst>
              </a:tr>
              <a:tr h="334607">
                <a:tc>
                  <a:txBody>
                    <a:bodyPr/>
                    <a:lstStyle/>
                    <a:p>
                      <a:pPr algn="ctr"/>
                      <a:r>
                        <a:rPr lang="en-US" sz="1600" dirty="0"/>
                        <a:t>3.1f + 1</a:t>
                      </a:r>
                      <a:endParaRPr lang="en-PK" sz="1600" dirty="0">
                        <a:latin typeface="Consolas" panose="020B0609020204030204" pitchFamily="49" charset="0"/>
                      </a:endParaRPr>
                    </a:p>
                  </a:txBody>
                  <a:tcPr/>
                </a:tc>
                <a:tc>
                  <a:txBody>
                    <a:bodyPr/>
                    <a:lstStyle/>
                    <a:p>
                      <a:pPr algn="ctr"/>
                      <a:r>
                        <a:rPr lang="en-US" sz="1600" dirty="0"/>
                        <a:t>float</a:t>
                      </a:r>
                      <a:endParaRPr lang="en-PK" sz="1600" dirty="0">
                        <a:latin typeface="Consolas" panose="020B0609020204030204" pitchFamily="49" charset="0"/>
                      </a:endParaRPr>
                    </a:p>
                  </a:txBody>
                  <a:tcPr/>
                </a:tc>
                <a:tc>
                  <a:txBody>
                    <a:bodyPr/>
                    <a:lstStyle/>
                    <a:p>
                      <a:pPr algn="ctr"/>
                      <a:r>
                        <a:rPr lang="en-US" sz="1600" dirty="0"/>
                        <a:t>4.1</a:t>
                      </a:r>
                      <a:endParaRPr lang="en-PK" sz="1600" dirty="0">
                        <a:latin typeface="Consolas" panose="020B0609020204030204" pitchFamily="49" charset="0"/>
                      </a:endParaRPr>
                    </a:p>
                  </a:txBody>
                  <a:tcPr/>
                </a:tc>
                <a:extLst>
                  <a:ext uri="{0D108BD9-81ED-4DB2-BD59-A6C34878D82A}">
                    <a16:rowId xmlns:a16="http://schemas.microsoft.com/office/drawing/2014/main" val="221420709"/>
                  </a:ext>
                </a:extLst>
              </a:tr>
              <a:tr h="334607">
                <a:tc>
                  <a:txBody>
                    <a:bodyPr/>
                    <a:lstStyle/>
                    <a:p>
                      <a:pPr algn="ctr"/>
                      <a:r>
                        <a:rPr lang="en-US" sz="1600" dirty="0"/>
                        <a:t>2ll+3</a:t>
                      </a:r>
                      <a:endParaRPr lang="en-PK" sz="1600" dirty="0">
                        <a:latin typeface="Consolas" panose="020B0609020204030204" pitchFamily="49" charset="0"/>
                      </a:endParaRPr>
                    </a:p>
                  </a:txBody>
                  <a:tcPr/>
                </a:tc>
                <a:tc>
                  <a:txBody>
                    <a:bodyPr/>
                    <a:lstStyle/>
                    <a:p>
                      <a:pPr algn="ctr"/>
                      <a:r>
                        <a:rPr lang="en-US" sz="1600" dirty="0"/>
                        <a:t>long </a:t>
                      </a:r>
                      <a:r>
                        <a:rPr lang="en-US" sz="1600" dirty="0" err="1"/>
                        <a:t>long</a:t>
                      </a:r>
                      <a:endParaRPr lang="en-PK" sz="1600" dirty="0">
                        <a:latin typeface="Consolas" panose="020B0609020204030204" pitchFamily="49" charset="0"/>
                      </a:endParaRPr>
                    </a:p>
                  </a:txBody>
                  <a:tcPr/>
                </a:tc>
                <a:tc>
                  <a:txBody>
                    <a:bodyPr/>
                    <a:lstStyle/>
                    <a:p>
                      <a:pPr algn="ctr"/>
                      <a:r>
                        <a:rPr lang="en-US" sz="1600" dirty="0"/>
                        <a:t>5</a:t>
                      </a:r>
                      <a:endParaRPr lang="en-PK" sz="1600" dirty="0">
                        <a:latin typeface="Consolas" panose="020B0609020204030204" pitchFamily="49" charset="0"/>
                      </a:endParaRPr>
                    </a:p>
                  </a:txBody>
                  <a:tcPr/>
                </a:tc>
                <a:extLst>
                  <a:ext uri="{0D108BD9-81ED-4DB2-BD59-A6C34878D82A}">
                    <a16:rowId xmlns:a16="http://schemas.microsoft.com/office/drawing/2014/main" val="1299853001"/>
                  </a:ext>
                </a:extLst>
              </a:tr>
            </a:tbl>
          </a:graphicData>
        </a:graphic>
      </p:graphicFrame>
      <p:sp>
        <p:nvSpPr>
          <p:cNvPr id="13" name="TextBox 12">
            <a:extLst>
              <a:ext uri="{FF2B5EF4-FFF2-40B4-BE49-F238E27FC236}">
                <a16:creationId xmlns:a16="http://schemas.microsoft.com/office/drawing/2014/main" id="{BB5EB844-29C1-1716-3AF5-662B33AB3972}"/>
              </a:ext>
            </a:extLst>
          </p:cNvPr>
          <p:cNvSpPr txBox="1"/>
          <p:nvPr/>
        </p:nvSpPr>
        <p:spPr>
          <a:xfrm>
            <a:off x="1864568" y="5877299"/>
            <a:ext cx="3957735" cy="369332"/>
          </a:xfrm>
          <a:prstGeom prst="rect">
            <a:avLst/>
          </a:prstGeom>
          <a:noFill/>
        </p:spPr>
        <p:txBody>
          <a:bodyPr wrap="square" rtlCol="0">
            <a:spAutoFit/>
          </a:bodyPr>
          <a:lstStyle/>
          <a:p>
            <a:r>
              <a:rPr lang="en-US" dirty="0">
                <a:solidFill>
                  <a:schemeClr val="accent2">
                    <a:lumMod val="50000"/>
                  </a:schemeClr>
                </a:solidFill>
              </a:rPr>
              <a:t> Pay attention to the type of your data</a:t>
            </a:r>
            <a:endParaRPr lang="en-PK" dirty="0">
              <a:solidFill>
                <a:schemeClr val="accent2">
                  <a:lumMod val="50000"/>
                </a:schemeClr>
              </a:solidFill>
            </a:endParaRPr>
          </a:p>
        </p:txBody>
      </p:sp>
      <p:pic>
        <p:nvPicPr>
          <p:cNvPr id="17" name="Graphic 16" descr="Warning with solid fill">
            <a:extLst>
              <a:ext uri="{FF2B5EF4-FFF2-40B4-BE49-F238E27FC236}">
                <a16:creationId xmlns:a16="http://schemas.microsoft.com/office/drawing/2014/main" id="{179A91E2-C2C2-BB9C-6436-7E431A54D1B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200" y="5604765"/>
            <a:ext cx="914400" cy="914400"/>
          </a:xfrm>
          <a:prstGeom prst="rect">
            <a:avLst/>
          </a:prstGeom>
        </p:spPr>
      </p:pic>
      <p:sp>
        <p:nvSpPr>
          <p:cNvPr id="18" name="TextBox 17">
            <a:extLst>
              <a:ext uri="{FF2B5EF4-FFF2-40B4-BE49-F238E27FC236}">
                <a16:creationId xmlns:a16="http://schemas.microsoft.com/office/drawing/2014/main" id="{4F2F3DEA-6645-261B-D380-8EC8E8D065C0}"/>
              </a:ext>
            </a:extLst>
          </p:cNvPr>
          <p:cNvSpPr txBox="1"/>
          <p:nvPr/>
        </p:nvSpPr>
        <p:spPr>
          <a:xfrm>
            <a:off x="6369699" y="5848318"/>
            <a:ext cx="3815249" cy="523220"/>
          </a:xfrm>
          <a:prstGeom prst="rect">
            <a:avLst/>
          </a:prstGeom>
          <a:noFill/>
        </p:spPr>
        <p:txBody>
          <a:bodyPr wrap="square" rtlCol="0">
            <a:spAutoFit/>
          </a:bodyPr>
          <a:lstStyle/>
          <a:p>
            <a:pPr algn="ctr"/>
            <a:r>
              <a:rPr lang="en-US" sz="1400" dirty="0">
                <a:solidFill>
                  <a:schemeClr val="accent1"/>
                </a:solidFill>
              </a:rPr>
              <a:t>Type conversion can give counterintuitive results</a:t>
            </a:r>
          </a:p>
          <a:p>
            <a:pPr algn="ctr"/>
            <a:r>
              <a:rPr lang="en-US" sz="1400" dirty="0">
                <a:solidFill>
                  <a:schemeClr val="accent1"/>
                </a:solidFill>
              </a:rPr>
              <a:t>but gets easier to understand with practice</a:t>
            </a:r>
            <a:endParaRPr lang="en-PK" sz="1400" dirty="0">
              <a:solidFill>
                <a:schemeClr val="accent1"/>
              </a:solidFill>
            </a:endParaRPr>
          </a:p>
        </p:txBody>
      </p:sp>
      <p:cxnSp>
        <p:nvCxnSpPr>
          <p:cNvPr id="20" name="Straight Arrow Connector 19">
            <a:extLst>
              <a:ext uri="{FF2B5EF4-FFF2-40B4-BE49-F238E27FC236}">
                <a16:creationId xmlns:a16="http://schemas.microsoft.com/office/drawing/2014/main" id="{E00A8E2E-91C5-5605-CF52-D997923F2918}"/>
              </a:ext>
            </a:extLst>
          </p:cNvPr>
          <p:cNvCxnSpPr>
            <a:cxnSpLocks/>
            <a:stCxn id="18" idx="1"/>
          </p:cNvCxnSpPr>
          <p:nvPr/>
        </p:nvCxnSpPr>
        <p:spPr>
          <a:xfrm flipH="1">
            <a:off x="5620140" y="6109928"/>
            <a:ext cx="7495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3" name="Table 10">
            <a:extLst>
              <a:ext uri="{FF2B5EF4-FFF2-40B4-BE49-F238E27FC236}">
                <a16:creationId xmlns:a16="http://schemas.microsoft.com/office/drawing/2014/main" id="{24884838-5F2D-F91D-470B-25832A95C817}"/>
              </a:ext>
            </a:extLst>
          </p:cNvPr>
          <p:cNvGraphicFramePr>
            <a:graphicFrameLocks noGrp="1"/>
          </p:cNvGraphicFramePr>
          <p:nvPr/>
        </p:nvGraphicFramePr>
        <p:xfrm>
          <a:off x="5531595" y="3655725"/>
          <a:ext cx="4900711" cy="1676400"/>
        </p:xfrm>
        <a:graphic>
          <a:graphicData uri="http://schemas.openxmlformats.org/drawingml/2006/table">
            <a:tbl>
              <a:tblPr firstRow="1" bandRow="1">
                <a:tableStyleId>{BDBED569-4797-4DF1-A0F4-6AAB3CD982D8}</a:tableStyleId>
              </a:tblPr>
              <a:tblGrid>
                <a:gridCol w="1586928">
                  <a:extLst>
                    <a:ext uri="{9D8B030D-6E8A-4147-A177-3AD203B41FA5}">
                      <a16:colId xmlns:a16="http://schemas.microsoft.com/office/drawing/2014/main" val="3885975941"/>
                    </a:ext>
                  </a:extLst>
                </a:gridCol>
                <a:gridCol w="1586928">
                  <a:extLst>
                    <a:ext uri="{9D8B030D-6E8A-4147-A177-3AD203B41FA5}">
                      <a16:colId xmlns:a16="http://schemas.microsoft.com/office/drawing/2014/main" val="1493070760"/>
                    </a:ext>
                  </a:extLst>
                </a:gridCol>
                <a:gridCol w="904937">
                  <a:extLst>
                    <a:ext uri="{9D8B030D-6E8A-4147-A177-3AD203B41FA5}">
                      <a16:colId xmlns:a16="http://schemas.microsoft.com/office/drawing/2014/main" val="1400602816"/>
                    </a:ext>
                  </a:extLst>
                </a:gridCol>
                <a:gridCol w="821918">
                  <a:extLst>
                    <a:ext uri="{9D8B030D-6E8A-4147-A177-3AD203B41FA5}">
                      <a16:colId xmlns:a16="http://schemas.microsoft.com/office/drawing/2014/main" val="4003084707"/>
                    </a:ext>
                  </a:extLst>
                </a:gridCol>
              </a:tblGrid>
              <a:tr h="334607">
                <a:tc>
                  <a:txBody>
                    <a:bodyPr/>
                    <a:lstStyle/>
                    <a:p>
                      <a:pPr algn="ctr"/>
                      <a:endParaRPr lang="en-US" sz="1600" dirty="0">
                        <a:latin typeface="Consolas" panose="020B0609020204030204" pitchFamily="49" charset="0"/>
                      </a:endParaRPr>
                    </a:p>
                  </a:txBody>
                  <a:tcPr/>
                </a:tc>
                <a:tc>
                  <a:txBody>
                    <a:bodyPr/>
                    <a:lstStyle/>
                    <a:p>
                      <a:pPr algn="ctr"/>
                      <a:r>
                        <a:rPr lang="en-US" sz="1600" dirty="0"/>
                        <a:t>expression</a:t>
                      </a:r>
                      <a:endParaRPr lang="en-US" sz="1600" dirty="0">
                        <a:latin typeface="+mn-lt"/>
                      </a:endParaRPr>
                    </a:p>
                  </a:txBody>
                  <a:tcPr/>
                </a:tc>
                <a:tc>
                  <a:txBody>
                    <a:bodyPr/>
                    <a:lstStyle/>
                    <a:p>
                      <a:pPr algn="ctr"/>
                      <a:r>
                        <a:rPr lang="en-US" sz="1600" dirty="0"/>
                        <a:t>type</a:t>
                      </a:r>
                      <a:endParaRPr lang="en-PK" sz="1600" dirty="0">
                        <a:latin typeface="+mn-lt"/>
                      </a:endParaRPr>
                    </a:p>
                  </a:txBody>
                  <a:tcPr/>
                </a:tc>
                <a:tc>
                  <a:txBody>
                    <a:bodyPr/>
                    <a:lstStyle/>
                    <a:p>
                      <a:pPr algn="ctr"/>
                      <a:r>
                        <a:rPr lang="en-US" sz="1600" dirty="0"/>
                        <a:t>value</a:t>
                      </a:r>
                      <a:endParaRPr lang="en-PK" sz="1600" dirty="0">
                        <a:latin typeface="+mn-lt"/>
                      </a:endParaRPr>
                    </a:p>
                  </a:txBody>
                  <a:tcPr/>
                </a:tc>
                <a:extLst>
                  <a:ext uri="{0D108BD9-81ED-4DB2-BD59-A6C34878D82A}">
                    <a16:rowId xmlns:a16="http://schemas.microsoft.com/office/drawing/2014/main" val="1873545988"/>
                  </a:ext>
                </a:extLst>
              </a:tr>
              <a:tr h="334607">
                <a:tc rowSpan="4">
                  <a:txBody>
                    <a:bodyPr/>
                    <a:lstStyle/>
                    <a:p>
                      <a:pPr algn="ctr"/>
                      <a:r>
                        <a:rPr lang="en-US" sz="1600" dirty="0"/>
                        <a:t>int i;</a:t>
                      </a:r>
                    </a:p>
                    <a:p>
                      <a:pPr algn="ctr"/>
                      <a:r>
                        <a:rPr lang="en-US" sz="1600" dirty="0"/>
                        <a:t>float f;</a:t>
                      </a:r>
                    </a:p>
                    <a:p>
                      <a:pPr algn="ctr"/>
                      <a:r>
                        <a:rPr lang="en-US" sz="1600" dirty="0"/>
                        <a:t>char c;</a:t>
                      </a:r>
                      <a:endParaRPr lang="en-PK" sz="1600" dirty="0">
                        <a:latin typeface="Consolas" panose="020B0609020204030204" pitchFamily="49" charset="0"/>
                      </a:endParaRPr>
                    </a:p>
                  </a:txBody>
                  <a:tcPr anchor="ctr"/>
                </a:tc>
                <a:tc>
                  <a:txBody>
                    <a:bodyPr/>
                    <a:lstStyle/>
                    <a:p>
                      <a:pPr algn="ctr"/>
                      <a:r>
                        <a:rPr lang="en-US" sz="1600" dirty="0"/>
                        <a:t>i = 3.9</a:t>
                      </a:r>
                      <a:endParaRPr lang="en-PK" sz="1600" dirty="0">
                        <a:latin typeface="Consolas" panose="020B0609020204030204" pitchFamily="49" charset="0"/>
                      </a:endParaRPr>
                    </a:p>
                  </a:txBody>
                  <a:tcPr/>
                </a:tc>
                <a:tc>
                  <a:txBody>
                    <a:bodyPr/>
                    <a:lstStyle/>
                    <a:p>
                      <a:pPr algn="ctr"/>
                      <a:r>
                        <a:rPr lang="en-US" sz="1600" dirty="0"/>
                        <a:t>int</a:t>
                      </a:r>
                      <a:endParaRPr lang="en-PK" sz="1600" dirty="0">
                        <a:latin typeface="Consolas" panose="020B0609020204030204" pitchFamily="49" charset="0"/>
                      </a:endParaRPr>
                    </a:p>
                  </a:txBody>
                  <a:tcPr/>
                </a:tc>
                <a:tc>
                  <a:txBody>
                    <a:bodyPr/>
                    <a:lstStyle/>
                    <a:p>
                      <a:pPr algn="ctr"/>
                      <a:r>
                        <a:rPr lang="en-US" sz="1600" dirty="0"/>
                        <a:t>3</a:t>
                      </a:r>
                      <a:endParaRPr lang="en-PK" sz="1600" dirty="0">
                        <a:latin typeface="Consolas" panose="020B0609020204030204" pitchFamily="49" charset="0"/>
                      </a:endParaRPr>
                    </a:p>
                  </a:txBody>
                  <a:tcPr/>
                </a:tc>
                <a:extLst>
                  <a:ext uri="{0D108BD9-81ED-4DB2-BD59-A6C34878D82A}">
                    <a16:rowId xmlns:a16="http://schemas.microsoft.com/office/drawing/2014/main" val="3546161354"/>
                  </a:ext>
                </a:extLst>
              </a:tr>
              <a:tr h="334607">
                <a:tc vMerge="1">
                  <a:txBody>
                    <a:bodyPr/>
                    <a:lstStyle/>
                    <a:p>
                      <a:pPr algn="ctr"/>
                      <a:endParaRPr lang="en-PK" sz="1600" dirty="0">
                        <a:latin typeface="Consolas" panose="020B0609020204030204" pitchFamily="49" charset="0"/>
                      </a:endParaRPr>
                    </a:p>
                  </a:txBody>
                  <a:tcPr/>
                </a:tc>
                <a:tc>
                  <a:txBody>
                    <a:bodyPr/>
                    <a:lstStyle/>
                    <a:p>
                      <a:pPr algn="ctr"/>
                      <a:r>
                        <a:rPr lang="en-US" sz="1600" dirty="0"/>
                        <a:t>f = 3.1</a:t>
                      </a:r>
                      <a:endParaRPr lang="en-PK" sz="1600" dirty="0">
                        <a:latin typeface="Consolas" panose="020B0609020204030204" pitchFamily="49" charset="0"/>
                      </a:endParaRPr>
                    </a:p>
                  </a:txBody>
                  <a:tcPr/>
                </a:tc>
                <a:tc>
                  <a:txBody>
                    <a:bodyPr/>
                    <a:lstStyle/>
                    <a:p>
                      <a:pPr algn="ctr"/>
                      <a:r>
                        <a:rPr lang="en-US" sz="1600" dirty="0"/>
                        <a:t>float</a:t>
                      </a:r>
                      <a:endParaRPr lang="en-PK" sz="1600" dirty="0">
                        <a:latin typeface="Consolas" panose="020B0609020204030204" pitchFamily="49" charset="0"/>
                      </a:endParaRPr>
                    </a:p>
                  </a:txBody>
                  <a:tcPr/>
                </a:tc>
                <a:tc>
                  <a:txBody>
                    <a:bodyPr/>
                    <a:lstStyle/>
                    <a:p>
                      <a:pPr algn="ctr"/>
                      <a:r>
                        <a:rPr lang="en-US" sz="1600" dirty="0"/>
                        <a:t>3.1</a:t>
                      </a:r>
                      <a:endParaRPr lang="en-PK" sz="1600" dirty="0">
                        <a:latin typeface="Consolas" panose="020B0609020204030204" pitchFamily="49" charset="0"/>
                      </a:endParaRPr>
                    </a:p>
                  </a:txBody>
                  <a:tcPr/>
                </a:tc>
                <a:extLst>
                  <a:ext uri="{0D108BD9-81ED-4DB2-BD59-A6C34878D82A}">
                    <a16:rowId xmlns:a16="http://schemas.microsoft.com/office/drawing/2014/main" val="3516887517"/>
                  </a:ext>
                </a:extLst>
              </a:tr>
              <a:tr h="334607">
                <a:tc vMerge="1">
                  <a:txBody>
                    <a:bodyPr/>
                    <a:lstStyle/>
                    <a:p>
                      <a:pPr algn="ctr"/>
                      <a:endParaRPr lang="en-PK" sz="1600" dirty="0">
                        <a:latin typeface="Consolas" panose="020B0609020204030204" pitchFamily="49" charset="0"/>
                      </a:endParaRPr>
                    </a:p>
                  </a:txBody>
                  <a:tcPr/>
                </a:tc>
                <a:tc>
                  <a:txBody>
                    <a:bodyPr/>
                    <a:lstStyle/>
                    <a:p>
                      <a:pPr algn="ctr"/>
                      <a:r>
                        <a:rPr lang="en-US" sz="1600" dirty="0"/>
                        <a:t>c = 65</a:t>
                      </a:r>
                      <a:endParaRPr lang="en-PK" sz="1600" dirty="0">
                        <a:latin typeface="Consolas" panose="020B0609020204030204" pitchFamily="49" charset="0"/>
                      </a:endParaRPr>
                    </a:p>
                  </a:txBody>
                  <a:tcPr/>
                </a:tc>
                <a:tc>
                  <a:txBody>
                    <a:bodyPr/>
                    <a:lstStyle/>
                    <a:p>
                      <a:pPr algn="ctr"/>
                      <a:r>
                        <a:rPr lang="en-US" sz="1600" dirty="0"/>
                        <a:t>char</a:t>
                      </a:r>
                      <a:endParaRPr lang="en-PK" sz="1600" dirty="0">
                        <a:latin typeface="Consolas" panose="020B0609020204030204" pitchFamily="49" charset="0"/>
                      </a:endParaRPr>
                    </a:p>
                  </a:txBody>
                  <a:tcPr/>
                </a:tc>
                <a:tc>
                  <a:txBody>
                    <a:bodyPr/>
                    <a:lstStyle/>
                    <a:p>
                      <a:pPr algn="ctr"/>
                      <a:r>
                        <a:rPr lang="en-US" sz="1600" dirty="0"/>
                        <a:t>'A'</a:t>
                      </a:r>
                      <a:endParaRPr lang="en-PK" sz="1600" dirty="0">
                        <a:latin typeface="Consolas" panose="020B0609020204030204" pitchFamily="49" charset="0"/>
                      </a:endParaRPr>
                    </a:p>
                  </a:txBody>
                  <a:tcPr/>
                </a:tc>
                <a:extLst>
                  <a:ext uri="{0D108BD9-81ED-4DB2-BD59-A6C34878D82A}">
                    <a16:rowId xmlns:a16="http://schemas.microsoft.com/office/drawing/2014/main" val="3686743439"/>
                  </a:ext>
                </a:extLst>
              </a:tr>
              <a:tr h="334607">
                <a:tc vMerge="1">
                  <a:txBody>
                    <a:bodyPr/>
                    <a:lstStyle/>
                    <a:p>
                      <a:pPr algn="ctr"/>
                      <a:endParaRPr lang="en-PK" sz="1600" dirty="0">
                        <a:latin typeface="Consolas" panose="020B0609020204030204" pitchFamily="49" charset="0"/>
                      </a:endParaRPr>
                    </a:p>
                  </a:txBody>
                  <a:tcPr/>
                </a:tc>
                <a:tc>
                  <a:txBody>
                    <a:bodyPr/>
                    <a:lstStyle/>
                    <a:p>
                      <a:pPr algn="ctr"/>
                      <a:r>
                        <a:rPr lang="en-US" sz="1600" dirty="0"/>
                        <a:t>i = 0.11 * 30</a:t>
                      </a:r>
                      <a:endParaRPr lang="en-PK" sz="1600" dirty="0">
                        <a:latin typeface="Consolas" panose="020B0609020204030204" pitchFamily="49" charset="0"/>
                      </a:endParaRPr>
                    </a:p>
                  </a:txBody>
                  <a:tcPr/>
                </a:tc>
                <a:tc>
                  <a:txBody>
                    <a:bodyPr/>
                    <a:lstStyle/>
                    <a:p>
                      <a:pPr algn="ctr"/>
                      <a:r>
                        <a:rPr lang="en-US" sz="1600" dirty="0"/>
                        <a:t>int</a:t>
                      </a:r>
                      <a:endParaRPr lang="en-PK" sz="1600" dirty="0">
                        <a:latin typeface="Consolas" panose="020B0609020204030204" pitchFamily="49" charset="0"/>
                      </a:endParaRPr>
                    </a:p>
                  </a:txBody>
                  <a:tcPr/>
                </a:tc>
                <a:tc>
                  <a:txBody>
                    <a:bodyPr/>
                    <a:lstStyle/>
                    <a:p>
                      <a:pPr algn="ctr"/>
                      <a:r>
                        <a:rPr lang="en-US" sz="1600" dirty="0"/>
                        <a:t>3</a:t>
                      </a:r>
                      <a:endParaRPr lang="en-PK" sz="1600" dirty="0">
                        <a:latin typeface="Consolas" panose="020B0609020204030204" pitchFamily="49" charset="0"/>
                      </a:endParaRPr>
                    </a:p>
                  </a:txBody>
                  <a:tcPr/>
                </a:tc>
                <a:extLst>
                  <a:ext uri="{0D108BD9-81ED-4DB2-BD59-A6C34878D82A}">
                    <a16:rowId xmlns:a16="http://schemas.microsoft.com/office/drawing/2014/main" val="691699635"/>
                  </a:ext>
                </a:extLst>
              </a:tr>
            </a:tbl>
          </a:graphicData>
        </a:graphic>
      </p:graphicFrame>
    </p:spTree>
    <p:extLst>
      <p:ext uri="{BB962C8B-B14F-4D97-AF65-F5344CB8AC3E}">
        <p14:creationId xmlns:p14="http://schemas.microsoft.com/office/powerpoint/2010/main" val="13973822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7334B-9046-777C-F6B5-C6F5972ABC35}"/>
              </a:ext>
            </a:extLst>
          </p:cNvPr>
          <p:cNvSpPr>
            <a:spLocks noGrp="1"/>
          </p:cNvSpPr>
          <p:nvPr>
            <p:ph type="title"/>
          </p:nvPr>
        </p:nvSpPr>
        <p:spPr/>
        <p:txBody>
          <a:bodyPr/>
          <a:lstStyle/>
          <a:p>
            <a:r>
              <a:rPr lang="en-US" dirty="0"/>
              <a:t>Explicit type conversion – Functions</a:t>
            </a:r>
            <a:endParaRPr lang="en-PK" dirty="0"/>
          </a:p>
        </p:txBody>
      </p:sp>
      <p:sp>
        <p:nvSpPr>
          <p:cNvPr id="6" name="TextBox 5">
            <a:extLst>
              <a:ext uri="{FF2B5EF4-FFF2-40B4-BE49-F238E27FC236}">
                <a16:creationId xmlns:a16="http://schemas.microsoft.com/office/drawing/2014/main" id="{82EA0365-379F-3C69-79B0-7636714BAEEF}"/>
              </a:ext>
            </a:extLst>
          </p:cNvPr>
          <p:cNvSpPr txBox="1"/>
          <p:nvPr/>
        </p:nvSpPr>
        <p:spPr>
          <a:xfrm>
            <a:off x="838200" y="1797886"/>
            <a:ext cx="5438775" cy="461665"/>
          </a:xfrm>
          <a:prstGeom prst="rect">
            <a:avLst/>
          </a:prstGeom>
          <a:solidFill>
            <a:schemeClr val="bg2">
              <a:alpha val="50000"/>
            </a:schemeClr>
          </a:solidFill>
        </p:spPr>
        <p:txBody>
          <a:bodyPr wrap="square" rtlCol="0">
            <a:spAutoFit/>
          </a:bodyPr>
          <a:lstStyle/>
          <a:p>
            <a:r>
              <a:rPr lang="en-US" sz="2400" dirty="0">
                <a:solidFill>
                  <a:schemeClr val="accent1"/>
                </a:solidFill>
              </a:rPr>
              <a:t>Explicit </a:t>
            </a:r>
            <a:r>
              <a:rPr lang="en-US" sz="2400" dirty="0"/>
              <a:t>function call</a:t>
            </a:r>
          </a:p>
        </p:txBody>
      </p:sp>
      <p:graphicFrame>
        <p:nvGraphicFramePr>
          <p:cNvPr id="11" name="Table 10">
            <a:extLst>
              <a:ext uri="{FF2B5EF4-FFF2-40B4-BE49-F238E27FC236}">
                <a16:creationId xmlns:a16="http://schemas.microsoft.com/office/drawing/2014/main" id="{CC78537A-2B2F-6F83-026A-AD7AB387E5DB}"/>
              </a:ext>
            </a:extLst>
          </p:cNvPr>
          <p:cNvGraphicFramePr>
            <a:graphicFrameLocks noGrp="1"/>
          </p:cNvGraphicFramePr>
          <p:nvPr/>
        </p:nvGraphicFramePr>
        <p:xfrm>
          <a:off x="2761968" y="4111719"/>
          <a:ext cx="4926456" cy="1341120"/>
        </p:xfrm>
        <a:graphic>
          <a:graphicData uri="http://schemas.openxmlformats.org/drawingml/2006/table">
            <a:tbl>
              <a:tblPr bandRow="1">
                <a:tableStyleId>{5C22544A-7EE6-4342-B048-85BDC9FD1C3A}</a:tableStyleId>
              </a:tblPr>
              <a:tblGrid>
                <a:gridCol w="2575270">
                  <a:extLst>
                    <a:ext uri="{9D8B030D-6E8A-4147-A177-3AD203B41FA5}">
                      <a16:colId xmlns:a16="http://schemas.microsoft.com/office/drawing/2014/main" val="1493070760"/>
                    </a:ext>
                  </a:extLst>
                </a:gridCol>
                <a:gridCol w="1408795">
                  <a:extLst>
                    <a:ext uri="{9D8B030D-6E8A-4147-A177-3AD203B41FA5}">
                      <a16:colId xmlns:a16="http://schemas.microsoft.com/office/drawing/2014/main" val="1400602816"/>
                    </a:ext>
                  </a:extLst>
                </a:gridCol>
                <a:gridCol w="942391">
                  <a:extLst>
                    <a:ext uri="{9D8B030D-6E8A-4147-A177-3AD203B41FA5}">
                      <a16:colId xmlns:a16="http://schemas.microsoft.com/office/drawing/2014/main" val="4003084707"/>
                    </a:ext>
                  </a:extLst>
                </a:gridCol>
              </a:tblGrid>
              <a:tr h="334607">
                <a:tc>
                  <a:txBody>
                    <a:bodyPr/>
                    <a:lstStyle/>
                    <a:p>
                      <a:pPr algn="ctr"/>
                      <a:r>
                        <a:rPr lang="en-US" sz="1600" dirty="0" err="1">
                          <a:latin typeface="Consolas" panose="020B0609020204030204" pitchFamily="49" charset="0"/>
                        </a:rPr>
                        <a:t>lround</a:t>
                      </a:r>
                      <a:r>
                        <a:rPr lang="en-US" sz="1600" dirty="0">
                          <a:latin typeface="Consolas" panose="020B0609020204030204" pitchFamily="49" charset="0"/>
                        </a:rPr>
                        <a:t>(2.71828)</a:t>
                      </a:r>
                      <a:endParaRPr lang="en-PK" sz="1600" dirty="0">
                        <a:latin typeface="Consolas" panose="020B0609020204030204" pitchFamily="49" charset="0"/>
                      </a:endParaRPr>
                    </a:p>
                  </a:txBody>
                  <a:tcPr/>
                </a:tc>
                <a:tc>
                  <a:txBody>
                    <a:bodyPr/>
                    <a:lstStyle/>
                    <a:p>
                      <a:pPr algn="ctr"/>
                      <a:r>
                        <a:rPr lang="en-US" sz="1600" dirty="0">
                          <a:latin typeface="Consolas" panose="020B0609020204030204" pitchFamily="49" charset="0"/>
                        </a:rPr>
                        <a:t>long</a:t>
                      </a:r>
                      <a:endParaRPr lang="en-PK" sz="1600" dirty="0">
                        <a:latin typeface="Consolas" panose="020B0609020204030204" pitchFamily="49" charset="0"/>
                      </a:endParaRPr>
                    </a:p>
                  </a:txBody>
                  <a:tcPr/>
                </a:tc>
                <a:tc>
                  <a:txBody>
                    <a:bodyPr/>
                    <a:lstStyle/>
                    <a:p>
                      <a:pPr algn="ctr"/>
                      <a:r>
                        <a:rPr lang="en-US" sz="1600" dirty="0">
                          <a:latin typeface="Consolas" panose="020B0609020204030204" pitchFamily="49" charset="0"/>
                        </a:rPr>
                        <a:t>3</a:t>
                      </a:r>
                      <a:endParaRPr lang="en-PK" sz="1600" dirty="0">
                        <a:latin typeface="Consolas" panose="020B0609020204030204" pitchFamily="49" charset="0"/>
                      </a:endParaRPr>
                    </a:p>
                  </a:txBody>
                  <a:tcPr/>
                </a:tc>
                <a:extLst>
                  <a:ext uri="{0D108BD9-81ED-4DB2-BD59-A6C34878D82A}">
                    <a16:rowId xmlns:a16="http://schemas.microsoft.com/office/drawing/2014/main" val="3546161354"/>
                  </a:ext>
                </a:extLst>
              </a:tr>
              <a:tr h="334607">
                <a:tc>
                  <a:txBody>
                    <a:bodyPr/>
                    <a:lstStyle/>
                    <a:p>
                      <a:pPr algn="ctr"/>
                      <a:r>
                        <a:rPr lang="en-US" sz="1600" dirty="0" err="1">
                          <a:latin typeface="Consolas" panose="020B0609020204030204" pitchFamily="49" charset="0"/>
                        </a:rPr>
                        <a:t>llround</a:t>
                      </a:r>
                      <a:r>
                        <a:rPr lang="en-US" sz="1600" dirty="0">
                          <a:latin typeface="Consolas" panose="020B0609020204030204" pitchFamily="49" charset="0"/>
                        </a:rPr>
                        <a:t>(2.71828)</a:t>
                      </a:r>
                      <a:endParaRPr lang="en-PK" sz="1600" dirty="0">
                        <a:latin typeface="Consolas" panose="020B0609020204030204" pitchFamily="49" charset="0"/>
                      </a:endParaRPr>
                    </a:p>
                  </a:txBody>
                  <a:tcPr/>
                </a:tc>
                <a:tc>
                  <a:txBody>
                    <a:bodyPr/>
                    <a:lstStyle/>
                    <a:p>
                      <a:pPr algn="ctr"/>
                      <a:r>
                        <a:rPr lang="en-US" sz="1600" dirty="0">
                          <a:latin typeface="Consolas" panose="020B0609020204030204" pitchFamily="49" charset="0"/>
                        </a:rPr>
                        <a:t>long </a:t>
                      </a:r>
                      <a:r>
                        <a:rPr lang="en-US" sz="1600" dirty="0" err="1">
                          <a:latin typeface="Consolas" panose="020B0609020204030204" pitchFamily="49" charset="0"/>
                        </a:rPr>
                        <a:t>long</a:t>
                      </a:r>
                      <a:endParaRPr lang="en-PK" sz="1600" dirty="0">
                        <a:latin typeface="Consolas" panose="020B0609020204030204" pitchFamily="49" charset="0"/>
                      </a:endParaRPr>
                    </a:p>
                  </a:txBody>
                  <a:tcPr/>
                </a:tc>
                <a:tc>
                  <a:txBody>
                    <a:bodyPr/>
                    <a:lstStyle/>
                    <a:p>
                      <a:pPr algn="ctr"/>
                      <a:r>
                        <a:rPr lang="en-US" sz="1600" dirty="0">
                          <a:latin typeface="Consolas" panose="020B0609020204030204" pitchFamily="49" charset="0"/>
                        </a:rPr>
                        <a:t>3</a:t>
                      </a:r>
                      <a:endParaRPr lang="en-PK" sz="1600" dirty="0">
                        <a:latin typeface="Consolas" panose="020B0609020204030204" pitchFamily="49" charset="0"/>
                      </a:endParaRPr>
                    </a:p>
                  </a:txBody>
                  <a:tcPr/>
                </a:tc>
                <a:extLst>
                  <a:ext uri="{0D108BD9-81ED-4DB2-BD59-A6C34878D82A}">
                    <a16:rowId xmlns:a16="http://schemas.microsoft.com/office/drawing/2014/main" val="1592712088"/>
                  </a:ext>
                </a:extLst>
              </a:tr>
              <a:tr h="334607">
                <a:tc>
                  <a:txBody>
                    <a:bodyPr/>
                    <a:lstStyle/>
                    <a:p>
                      <a:pPr algn="ctr"/>
                      <a:r>
                        <a:rPr lang="en-US" sz="1600" dirty="0" err="1">
                          <a:latin typeface="Consolas" panose="020B0609020204030204" pitchFamily="49" charset="0"/>
                        </a:rPr>
                        <a:t>to_string</a:t>
                      </a:r>
                      <a:r>
                        <a:rPr lang="en-US" sz="1600" dirty="0">
                          <a:latin typeface="Consolas" panose="020B0609020204030204" pitchFamily="49" charset="0"/>
                        </a:rPr>
                        <a:t>(123)+5</a:t>
                      </a:r>
                      <a:endParaRPr lang="en-PK" sz="1600" dirty="0">
                        <a:latin typeface="Consolas" panose="020B0609020204030204" pitchFamily="49" charset="0"/>
                      </a:endParaRPr>
                    </a:p>
                  </a:txBody>
                  <a:tcPr/>
                </a:tc>
                <a:tc>
                  <a:txBody>
                    <a:bodyPr/>
                    <a:lstStyle/>
                    <a:p>
                      <a:pPr algn="ctr"/>
                      <a:r>
                        <a:rPr lang="en-US" sz="1600" dirty="0">
                          <a:latin typeface="Consolas" panose="020B0609020204030204" pitchFamily="49" charset="0"/>
                        </a:rPr>
                        <a:t>std::string</a:t>
                      </a:r>
                      <a:endParaRPr lang="en-PK" sz="1600" dirty="0">
                        <a:latin typeface="Consolas" panose="020B0609020204030204" pitchFamily="49" charset="0"/>
                      </a:endParaRPr>
                    </a:p>
                  </a:txBody>
                  <a:tcPr/>
                </a:tc>
                <a:tc>
                  <a:txBody>
                    <a:bodyPr/>
                    <a:lstStyle/>
                    <a:p>
                      <a:pPr algn="ctr"/>
                      <a:r>
                        <a:rPr lang="en-US" sz="1600" dirty="0">
                          <a:latin typeface="Consolas" panose="020B0609020204030204" pitchFamily="49" charset="0"/>
                        </a:rPr>
                        <a:t>"1235"</a:t>
                      </a:r>
                      <a:endParaRPr lang="en-PK" sz="1600" dirty="0">
                        <a:latin typeface="Consolas" panose="020B0609020204030204" pitchFamily="49" charset="0"/>
                      </a:endParaRPr>
                    </a:p>
                  </a:txBody>
                  <a:tcPr/>
                </a:tc>
                <a:extLst>
                  <a:ext uri="{0D108BD9-81ED-4DB2-BD59-A6C34878D82A}">
                    <a16:rowId xmlns:a16="http://schemas.microsoft.com/office/drawing/2014/main" val="3516887517"/>
                  </a:ext>
                </a:extLst>
              </a:tr>
              <a:tr h="334607">
                <a:tc>
                  <a:txBody>
                    <a:bodyPr/>
                    <a:lstStyle/>
                    <a:p>
                      <a:pPr algn="ctr"/>
                      <a:r>
                        <a:rPr lang="en-US" sz="1600" dirty="0" err="1">
                          <a:latin typeface="Consolas" panose="020B0609020204030204" pitchFamily="49" charset="0"/>
                        </a:rPr>
                        <a:t>stoi</a:t>
                      </a:r>
                      <a:r>
                        <a:rPr lang="en-US" sz="1600" dirty="0">
                          <a:latin typeface="Consolas" panose="020B0609020204030204" pitchFamily="49" charset="0"/>
                        </a:rPr>
                        <a:t>("225")+5</a:t>
                      </a:r>
                      <a:endParaRPr lang="en-PK" sz="1600" dirty="0">
                        <a:latin typeface="Consolas" panose="020B0609020204030204" pitchFamily="49" charset="0"/>
                      </a:endParaRPr>
                    </a:p>
                  </a:txBody>
                  <a:tcPr/>
                </a:tc>
                <a:tc>
                  <a:txBody>
                    <a:bodyPr/>
                    <a:lstStyle/>
                    <a:p>
                      <a:pPr algn="ctr"/>
                      <a:r>
                        <a:rPr lang="en-US" sz="1600" dirty="0">
                          <a:latin typeface="Consolas" panose="020B0609020204030204" pitchFamily="49" charset="0"/>
                        </a:rPr>
                        <a:t>int</a:t>
                      </a:r>
                      <a:endParaRPr lang="en-PK" sz="1600" dirty="0">
                        <a:latin typeface="Consolas" panose="020B0609020204030204" pitchFamily="49" charset="0"/>
                      </a:endParaRPr>
                    </a:p>
                  </a:txBody>
                  <a:tcPr/>
                </a:tc>
                <a:tc>
                  <a:txBody>
                    <a:bodyPr/>
                    <a:lstStyle/>
                    <a:p>
                      <a:pPr algn="ctr"/>
                      <a:r>
                        <a:rPr lang="en-US" sz="1600" dirty="0">
                          <a:latin typeface="Consolas" panose="020B0609020204030204" pitchFamily="49" charset="0"/>
                        </a:rPr>
                        <a:t>230</a:t>
                      </a:r>
                      <a:endParaRPr lang="en-PK" sz="1600" dirty="0">
                        <a:latin typeface="Consolas" panose="020B0609020204030204" pitchFamily="49" charset="0"/>
                      </a:endParaRPr>
                    </a:p>
                  </a:txBody>
                  <a:tcPr/>
                </a:tc>
                <a:extLst>
                  <a:ext uri="{0D108BD9-81ED-4DB2-BD59-A6C34878D82A}">
                    <a16:rowId xmlns:a16="http://schemas.microsoft.com/office/drawing/2014/main" val="427074283"/>
                  </a:ext>
                </a:extLst>
              </a:tr>
            </a:tbl>
          </a:graphicData>
        </a:graphic>
      </p:graphicFrame>
      <p:sp>
        <p:nvSpPr>
          <p:cNvPr id="13" name="TextBox 12">
            <a:extLst>
              <a:ext uri="{FF2B5EF4-FFF2-40B4-BE49-F238E27FC236}">
                <a16:creationId xmlns:a16="http://schemas.microsoft.com/office/drawing/2014/main" id="{BB5EB844-29C1-1716-3AF5-662B33AB3972}"/>
              </a:ext>
            </a:extLst>
          </p:cNvPr>
          <p:cNvSpPr txBox="1"/>
          <p:nvPr/>
        </p:nvSpPr>
        <p:spPr>
          <a:xfrm>
            <a:off x="1864568" y="5877299"/>
            <a:ext cx="3957735" cy="369332"/>
          </a:xfrm>
          <a:prstGeom prst="rect">
            <a:avLst/>
          </a:prstGeom>
          <a:noFill/>
        </p:spPr>
        <p:txBody>
          <a:bodyPr wrap="square" rtlCol="0">
            <a:spAutoFit/>
          </a:bodyPr>
          <a:lstStyle/>
          <a:p>
            <a:r>
              <a:rPr lang="en-US" dirty="0">
                <a:solidFill>
                  <a:schemeClr val="accent2">
                    <a:lumMod val="50000"/>
                  </a:schemeClr>
                </a:solidFill>
              </a:rPr>
              <a:t> Pay attention to the type of your data</a:t>
            </a:r>
            <a:endParaRPr lang="en-PK" dirty="0">
              <a:solidFill>
                <a:schemeClr val="accent2">
                  <a:lumMod val="50000"/>
                </a:schemeClr>
              </a:solidFill>
            </a:endParaRPr>
          </a:p>
        </p:txBody>
      </p:sp>
      <p:pic>
        <p:nvPicPr>
          <p:cNvPr id="17" name="Graphic 16" descr="Warning with solid fill">
            <a:extLst>
              <a:ext uri="{FF2B5EF4-FFF2-40B4-BE49-F238E27FC236}">
                <a16:creationId xmlns:a16="http://schemas.microsoft.com/office/drawing/2014/main" id="{179A91E2-C2C2-BB9C-6436-7E431A54D1B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200" y="5604765"/>
            <a:ext cx="914400" cy="914400"/>
          </a:xfrm>
          <a:prstGeom prst="rect">
            <a:avLst/>
          </a:prstGeom>
        </p:spPr>
      </p:pic>
      <p:sp>
        <p:nvSpPr>
          <p:cNvPr id="18" name="TextBox 17">
            <a:extLst>
              <a:ext uri="{FF2B5EF4-FFF2-40B4-BE49-F238E27FC236}">
                <a16:creationId xmlns:a16="http://schemas.microsoft.com/office/drawing/2014/main" id="{4F2F3DEA-6645-261B-D380-8EC8E8D065C0}"/>
              </a:ext>
            </a:extLst>
          </p:cNvPr>
          <p:cNvSpPr txBox="1"/>
          <p:nvPr/>
        </p:nvSpPr>
        <p:spPr>
          <a:xfrm>
            <a:off x="6369699" y="5848318"/>
            <a:ext cx="3815249" cy="523220"/>
          </a:xfrm>
          <a:prstGeom prst="rect">
            <a:avLst/>
          </a:prstGeom>
          <a:noFill/>
        </p:spPr>
        <p:txBody>
          <a:bodyPr wrap="square" rtlCol="0">
            <a:spAutoFit/>
          </a:bodyPr>
          <a:lstStyle/>
          <a:p>
            <a:pPr algn="ctr"/>
            <a:r>
              <a:rPr lang="en-US" sz="1400" dirty="0">
                <a:solidFill>
                  <a:schemeClr val="accent1"/>
                </a:solidFill>
              </a:rPr>
              <a:t>Type conversion can give counterintuitive results</a:t>
            </a:r>
          </a:p>
          <a:p>
            <a:pPr algn="ctr"/>
            <a:r>
              <a:rPr lang="en-US" sz="1400" dirty="0">
                <a:solidFill>
                  <a:schemeClr val="accent1"/>
                </a:solidFill>
              </a:rPr>
              <a:t>but gets easier to understand with practice</a:t>
            </a:r>
            <a:endParaRPr lang="en-PK" sz="1400" dirty="0">
              <a:solidFill>
                <a:schemeClr val="accent1"/>
              </a:solidFill>
            </a:endParaRPr>
          </a:p>
        </p:txBody>
      </p:sp>
      <p:cxnSp>
        <p:nvCxnSpPr>
          <p:cNvPr id="20" name="Straight Arrow Connector 19">
            <a:extLst>
              <a:ext uri="{FF2B5EF4-FFF2-40B4-BE49-F238E27FC236}">
                <a16:creationId xmlns:a16="http://schemas.microsoft.com/office/drawing/2014/main" id="{E00A8E2E-91C5-5605-CF52-D997923F2918}"/>
              </a:ext>
            </a:extLst>
          </p:cNvPr>
          <p:cNvCxnSpPr>
            <a:cxnSpLocks/>
            <a:stCxn id="18" idx="1"/>
          </p:cNvCxnSpPr>
          <p:nvPr/>
        </p:nvCxnSpPr>
        <p:spPr>
          <a:xfrm flipH="1">
            <a:off x="5620140" y="6109928"/>
            <a:ext cx="7495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3" name="Table 4">
            <a:extLst>
              <a:ext uri="{FF2B5EF4-FFF2-40B4-BE49-F238E27FC236}">
                <a16:creationId xmlns:a16="http://schemas.microsoft.com/office/drawing/2014/main" id="{420CAA42-A0E8-4BC2-AAE1-80234204D780}"/>
              </a:ext>
            </a:extLst>
          </p:cNvPr>
          <p:cNvGraphicFramePr>
            <a:graphicFrameLocks noGrp="1"/>
          </p:cNvGraphicFramePr>
          <p:nvPr/>
        </p:nvGraphicFramePr>
        <p:xfrm>
          <a:off x="838200" y="2366749"/>
          <a:ext cx="8484851" cy="1483360"/>
        </p:xfrm>
        <a:graphic>
          <a:graphicData uri="http://schemas.openxmlformats.org/drawingml/2006/table">
            <a:tbl>
              <a:tblPr bandRow="1">
                <a:tableStyleId>{5C22544A-7EE6-4342-B048-85BDC9FD1C3A}</a:tableStyleId>
              </a:tblPr>
              <a:tblGrid>
                <a:gridCol w="4230092">
                  <a:extLst>
                    <a:ext uri="{9D8B030D-6E8A-4147-A177-3AD203B41FA5}">
                      <a16:colId xmlns:a16="http://schemas.microsoft.com/office/drawing/2014/main" val="3983175840"/>
                    </a:ext>
                  </a:extLst>
                </a:gridCol>
                <a:gridCol w="4254759">
                  <a:extLst>
                    <a:ext uri="{9D8B030D-6E8A-4147-A177-3AD203B41FA5}">
                      <a16:colId xmlns:a16="http://schemas.microsoft.com/office/drawing/2014/main" val="1187791799"/>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onsolas" panose="020B0609020204030204" pitchFamily="49" charset="0"/>
                        </a:rPr>
                        <a:t>long  </a:t>
                      </a:r>
                      <a:r>
                        <a:rPr lang="en-US" dirty="0" err="1">
                          <a:latin typeface="Consolas" panose="020B0609020204030204" pitchFamily="49" charset="0"/>
                        </a:rPr>
                        <a:t>lround</a:t>
                      </a:r>
                      <a:r>
                        <a:rPr lang="en-US" dirty="0">
                          <a:latin typeface="Consolas" panose="020B0609020204030204" pitchFamily="49" charset="0"/>
                        </a:rPr>
                        <a:t>(double)</a:t>
                      </a:r>
                      <a:endParaRPr lang="en-PK" dirty="0">
                        <a:latin typeface="Consolas" panose="020B0609020204030204" pitchFamily="49" charset="0"/>
                      </a:endParaRPr>
                    </a:p>
                  </a:txBody>
                  <a:tcPr/>
                </a:tc>
                <a:tc>
                  <a:txBody>
                    <a:bodyPr/>
                    <a:lstStyle/>
                    <a:p>
                      <a:r>
                        <a:rPr lang="en-US" dirty="0"/>
                        <a:t>round to the nearest integer</a:t>
                      </a:r>
                      <a:endParaRPr lang="en-PK" dirty="0"/>
                    </a:p>
                  </a:txBody>
                  <a:tcPr/>
                </a:tc>
                <a:extLst>
                  <a:ext uri="{0D108BD9-81ED-4DB2-BD59-A6C34878D82A}">
                    <a16:rowId xmlns:a16="http://schemas.microsoft.com/office/drawing/2014/main" val="180480698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onsolas" panose="020B0609020204030204" pitchFamily="49" charset="0"/>
                        </a:rPr>
                        <a:t>string </a:t>
                      </a:r>
                      <a:r>
                        <a:rPr lang="en-US" dirty="0" err="1">
                          <a:latin typeface="Consolas" panose="020B0609020204030204" pitchFamily="49" charset="0"/>
                        </a:rPr>
                        <a:t>to_string</a:t>
                      </a:r>
                      <a:r>
                        <a:rPr lang="en-US" dirty="0">
                          <a:latin typeface="Consolas" panose="020B0609020204030204" pitchFamily="49" charset="0"/>
                        </a:rPr>
                        <a:t>(double)</a:t>
                      </a:r>
                      <a:endParaRPr lang="en-PK" dirty="0">
                        <a:latin typeface="Consolas" panose="020B0609020204030204" pitchFamily="49" charset="0"/>
                      </a:endParaRPr>
                    </a:p>
                  </a:txBody>
                  <a:tcPr/>
                </a:tc>
                <a:tc>
                  <a:txBody>
                    <a:bodyPr/>
                    <a:lstStyle/>
                    <a:p>
                      <a:r>
                        <a:rPr lang="en-US" dirty="0"/>
                        <a:t>convert to </a:t>
                      </a:r>
                      <a:r>
                        <a:rPr lang="en-US" dirty="0">
                          <a:latin typeface="Consolas" panose="020B0609020204030204" pitchFamily="49" charset="0"/>
                        </a:rPr>
                        <a:t>std::string</a:t>
                      </a:r>
                      <a:endParaRPr lang="en-PK" dirty="0">
                        <a:latin typeface="Consolas" panose="020B0609020204030204" pitchFamily="49" charset="0"/>
                      </a:endParaRPr>
                    </a:p>
                  </a:txBody>
                  <a:tcPr/>
                </a:tc>
                <a:extLst>
                  <a:ext uri="{0D108BD9-81ED-4DB2-BD59-A6C34878D82A}">
                    <a16:rowId xmlns:a16="http://schemas.microsoft.com/office/drawing/2014/main" val="214819809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onsolas" panose="020B0609020204030204" pitchFamily="49" charset="0"/>
                        </a:rPr>
                        <a:t>int </a:t>
                      </a:r>
                      <a:r>
                        <a:rPr lang="en-US" dirty="0" err="1">
                          <a:latin typeface="Consolas" panose="020B0609020204030204" pitchFamily="49" charset="0"/>
                        </a:rPr>
                        <a:t>stoi</a:t>
                      </a:r>
                      <a:r>
                        <a:rPr lang="en-US" dirty="0">
                          <a:latin typeface="Consolas" panose="020B0609020204030204" pitchFamily="49" charset="0"/>
                        </a:rPr>
                        <a:t>(string)</a:t>
                      </a:r>
                      <a:endParaRPr lang="en-PK" dirty="0">
                        <a:latin typeface="Consolas" panose="020B0609020204030204" pitchFamily="49" charset="0"/>
                      </a:endParaRPr>
                    </a:p>
                  </a:txBody>
                  <a:tcPr/>
                </a:tc>
                <a:tc>
                  <a:txBody>
                    <a:bodyPr/>
                    <a:lstStyle/>
                    <a:p>
                      <a:r>
                        <a:rPr lang="en-US" dirty="0"/>
                        <a:t>convert from </a:t>
                      </a:r>
                      <a:r>
                        <a:rPr lang="en-US" dirty="0">
                          <a:latin typeface="Consolas" panose="020B0609020204030204" pitchFamily="49" charset="0"/>
                        </a:rPr>
                        <a:t>std::string</a:t>
                      </a:r>
                      <a:r>
                        <a:rPr lang="en-US" dirty="0"/>
                        <a:t> to </a:t>
                      </a:r>
                      <a:r>
                        <a:rPr lang="en-US" dirty="0">
                          <a:latin typeface="Consolas" panose="020B0609020204030204" pitchFamily="49" charset="0"/>
                        </a:rPr>
                        <a:t>int</a:t>
                      </a:r>
                      <a:endParaRPr lang="en-PK" dirty="0">
                        <a:latin typeface="Consolas" panose="020B0609020204030204" pitchFamily="49" charset="0"/>
                      </a:endParaRPr>
                    </a:p>
                  </a:txBody>
                  <a:tcPr/>
                </a:tc>
                <a:extLst>
                  <a:ext uri="{0D108BD9-81ED-4DB2-BD59-A6C34878D82A}">
                    <a16:rowId xmlns:a16="http://schemas.microsoft.com/office/drawing/2014/main" val="372948753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onsolas" panose="020B0609020204030204" pitchFamily="49" charset="0"/>
                        </a:rPr>
                        <a:t>long </a:t>
                      </a:r>
                      <a:r>
                        <a:rPr lang="en-US" dirty="0" err="1">
                          <a:latin typeface="Consolas" panose="020B0609020204030204" pitchFamily="49" charset="0"/>
                        </a:rPr>
                        <a:t>long</a:t>
                      </a:r>
                      <a:r>
                        <a:rPr lang="en-US" dirty="0">
                          <a:latin typeface="Consolas" panose="020B0609020204030204" pitchFamily="49" charset="0"/>
                        </a:rPr>
                        <a:t> </a:t>
                      </a:r>
                      <a:r>
                        <a:rPr lang="en-US" dirty="0" err="1">
                          <a:latin typeface="Consolas" panose="020B0609020204030204" pitchFamily="49" charset="0"/>
                        </a:rPr>
                        <a:t>stoll</a:t>
                      </a:r>
                      <a:r>
                        <a:rPr lang="en-US" dirty="0">
                          <a:latin typeface="Consolas" panose="020B0609020204030204" pitchFamily="49" charset="0"/>
                        </a:rPr>
                        <a:t>(string)</a:t>
                      </a:r>
                      <a:endParaRPr lang="en-PK" dirty="0">
                        <a:latin typeface="Consolas" panose="020B0609020204030204" pitchFamily="49" charset="0"/>
                      </a:endParaRPr>
                    </a:p>
                  </a:txBody>
                  <a:tcPr/>
                </a:tc>
                <a:tc>
                  <a:txBody>
                    <a:bodyPr/>
                    <a:lstStyle/>
                    <a:p>
                      <a:r>
                        <a:rPr lang="en-US" dirty="0">
                          <a:latin typeface="+mn-lt"/>
                        </a:rPr>
                        <a:t>convert from </a:t>
                      </a:r>
                      <a:r>
                        <a:rPr lang="en-US" dirty="0">
                          <a:latin typeface="Consolas" panose="020B0609020204030204" pitchFamily="49" charset="0"/>
                        </a:rPr>
                        <a:t>std::string</a:t>
                      </a:r>
                      <a:r>
                        <a:rPr lang="en-US" dirty="0">
                          <a:latin typeface="+mn-lt"/>
                        </a:rPr>
                        <a:t> to </a:t>
                      </a:r>
                      <a:r>
                        <a:rPr lang="en-US" dirty="0">
                          <a:latin typeface="Consolas" panose="020B0609020204030204" pitchFamily="49" charset="0"/>
                        </a:rPr>
                        <a:t>long </a:t>
                      </a:r>
                      <a:r>
                        <a:rPr lang="en-US" dirty="0" err="1">
                          <a:latin typeface="Consolas" panose="020B0609020204030204" pitchFamily="49" charset="0"/>
                        </a:rPr>
                        <a:t>long</a:t>
                      </a:r>
                      <a:endParaRPr lang="en-PK" dirty="0">
                        <a:latin typeface="Consolas" panose="020B0609020204030204" pitchFamily="49" charset="0"/>
                      </a:endParaRPr>
                    </a:p>
                  </a:txBody>
                  <a:tcPr/>
                </a:tc>
                <a:extLst>
                  <a:ext uri="{0D108BD9-81ED-4DB2-BD59-A6C34878D82A}">
                    <a16:rowId xmlns:a16="http://schemas.microsoft.com/office/drawing/2014/main" val="614241365"/>
                  </a:ext>
                </a:extLst>
              </a:tr>
            </a:tbl>
          </a:graphicData>
        </a:graphic>
      </p:graphicFrame>
      <p:sp>
        <p:nvSpPr>
          <p:cNvPr id="4" name="TextBox 3">
            <a:extLst>
              <a:ext uri="{FF2B5EF4-FFF2-40B4-BE49-F238E27FC236}">
                <a16:creationId xmlns:a16="http://schemas.microsoft.com/office/drawing/2014/main" id="{9E3B7461-6131-B0F3-C86B-8990DDB341CC}"/>
              </a:ext>
            </a:extLst>
          </p:cNvPr>
          <p:cNvSpPr txBox="1"/>
          <p:nvPr/>
        </p:nvSpPr>
        <p:spPr>
          <a:xfrm>
            <a:off x="1632492" y="4679038"/>
            <a:ext cx="1129476" cy="369332"/>
          </a:xfrm>
          <a:prstGeom prst="rect">
            <a:avLst/>
          </a:prstGeom>
          <a:noFill/>
        </p:spPr>
        <p:txBody>
          <a:bodyPr wrap="none" rtlCol="0">
            <a:spAutoFit/>
          </a:bodyPr>
          <a:lstStyle/>
          <a:p>
            <a:r>
              <a:rPr lang="en-US" dirty="0"/>
              <a:t>Examples:</a:t>
            </a:r>
            <a:endParaRPr lang="LID4096" dirty="0"/>
          </a:p>
        </p:txBody>
      </p:sp>
    </p:spTree>
    <p:extLst>
      <p:ext uri="{BB962C8B-B14F-4D97-AF65-F5344CB8AC3E}">
        <p14:creationId xmlns:p14="http://schemas.microsoft.com/office/powerpoint/2010/main" val="4637647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7334B-9046-777C-F6B5-C6F5972ABC35}"/>
              </a:ext>
            </a:extLst>
          </p:cNvPr>
          <p:cNvSpPr>
            <a:spLocks noGrp="1"/>
          </p:cNvSpPr>
          <p:nvPr>
            <p:ph type="title"/>
          </p:nvPr>
        </p:nvSpPr>
        <p:spPr/>
        <p:txBody>
          <a:bodyPr/>
          <a:lstStyle/>
          <a:p>
            <a:r>
              <a:rPr lang="en-US" dirty="0"/>
              <a:t>Explicit type conversion – Type casting</a:t>
            </a:r>
            <a:endParaRPr lang="en-PK" dirty="0"/>
          </a:p>
        </p:txBody>
      </p:sp>
      <p:sp>
        <p:nvSpPr>
          <p:cNvPr id="6" name="TextBox 5">
            <a:extLst>
              <a:ext uri="{FF2B5EF4-FFF2-40B4-BE49-F238E27FC236}">
                <a16:creationId xmlns:a16="http://schemas.microsoft.com/office/drawing/2014/main" id="{82EA0365-379F-3C69-79B0-7636714BAEEF}"/>
              </a:ext>
            </a:extLst>
          </p:cNvPr>
          <p:cNvSpPr txBox="1"/>
          <p:nvPr/>
        </p:nvSpPr>
        <p:spPr>
          <a:xfrm>
            <a:off x="763555" y="1746008"/>
            <a:ext cx="6934200" cy="400110"/>
          </a:xfrm>
          <a:prstGeom prst="rect">
            <a:avLst/>
          </a:prstGeom>
          <a:solidFill>
            <a:schemeClr val="accent1">
              <a:lumMod val="20000"/>
              <a:lumOff val="80000"/>
              <a:alpha val="50000"/>
            </a:schemeClr>
          </a:solidFill>
        </p:spPr>
        <p:txBody>
          <a:bodyPr wrap="square" rtlCol="0">
            <a:spAutoFit/>
          </a:bodyPr>
          <a:lstStyle/>
          <a:p>
            <a:r>
              <a:rPr lang="en-US" sz="2000" dirty="0">
                <a:solidFill>
                  <a:schemeClr val="accent1"/>
                </a:solidFill>
                <a:latin typeface="Consolas" panose="020B0609020204030204" pitchFamily="49" charset="0"/>
              </a:rPr>
              <a:t>(</a:t>
            </a:r>
            <a:r>
              <a:rPr lang="en-US" sz="2000" dirty="0" err="1">
                <a:solidFill>
                  <a:schemeClr val="accent1"/>
                </a:solidFill>
                <a:latin typeface="Consolas" panose="020B0609020204030204" pitchFamily="49" charset="0"/>
              </a:rPr>
              <a:t>data_type</a:t>
            </a:r>
            <a:r>
              <a:rPr lang="en-US" sz="2000" dirty="0">
                <a:solidFill>
                  <a:schemeClr val="accent1"/>
                </a:solidFill>
                <a:latin typeface="Consolas" panose="020B0609020204030204" pitchFamily="49" charset="0"/>
              </a:rPr>
              <a:t>) expression</a:t>
            </a:r>
            <a:r>
              <a:rPr lang="en-US" sz="2000" dirty="0"/>
              <a:t>   or   </a:t>
            </a:r>
            <a:r>
              <a:rPr lang="en-US" sz="2000" dirty="0" err="1">
                <a:solidFill>
                  <a:schemeClr val="accent1"/>
                </a:solidFill>
                <a:latin typeface="Consolas" panose="020B0609020204030204" pitchFamily="49" charset="0"/>
              </a:rPr>
              <a:t>data_type</a:t>
            </a:r>
            <a:r>
              <a:rPr lang="en-US" sz="2000" dirty="0">
                <a:solidFill>
                  <a:schemeClr val="accent1"/>
                </a:solidFill>
                <a:latin typeface="Consolas" panose="020B0609020204030204" pitchFamily="49" charset="0"/>
              </a:rPr>
              <a:t>(expression)</a:t>
            </a:r>
            <a:endParaRPr lang="en-US" sz="2000" dirty="0">
              <a:latin typeface="Consolas" panose="020B0609020204030204" pitchFamily="49" charset="0"/>
            </a:endParaRPr>
          </a:p>
        </p:txBody>
      </p:sp>
      <p:graphicFrame>
        <p:nvGraphicFramePr>
          <p:cNvPr id="12" name="Table 11">
            <a:extLst>
              <a:ext uri="{FF2B5EF4-FFF2-40B4-BE49-F238E27FC236}">
                <a16:creationId xmlns:a16="http://schemas.microsoft.com/office/drawing/2014/main" id="{2D42CA73-29DD-7728-5D52-83E9FA723436}"/>
              </a:ext>
            </a:extLst>
          </p:cNvPr>
          <p:cNvGraphicFramePr>
            <a:graphicFrameLocks noGrp="1"/>
          </p:cNvGraphicFramePr>
          <p:nvPr/>
        </p:nvGraphicFramePr>
        <p:xfrm>
          <a:off x="763555" y="3161540"/>
          <a:ext cx="4447588" cy="1676400"/>
        </p:xfrm>
        <a:graphic>
          <a:graphicData uri="http://schemas.openxmlformats.org/drawingml/2006/table">
            <a:tbl>
              <a:tblPr firstRow="1" bandRow="1">
                <a:tableStyleId>{5FD0F851-EC5A-4D38-B0AD-8093EC10F338}</a:tableStyleId>
              </a:tblPr>
              <a:tblGrid>
                <a:gridCol w="2724538">
                  <a:extLst>
                    <a:ext uri="{9D8B030D-6E8A-4147-A177-3AD203B41FA5}">
                      <a16:colId xmlns:a16="http://schemas.microsoft.com/office/drawing/2014/main" val="1493070760"/>
                    </a:ext>
                  </a:extLst>
                </a:gridCol>
                <a:gridCol w="877078">
                  <a:extLst>
                    <a:ext uri="{9D8B030D-6E8A-4147-A177-3AD203B41FA5}">
                      <a16:colId xmlns:a16="http://schemas.microsoft.com/office/drawing/2014/main" val="1400602816"/>
                    </a:ext>
                  </a:extLst>
                </a:gridCol>
                <a:gridCol w="845972">
                  <a:extLst>
                    <a:ext uri="{9D8B030D-6E8A-4147-A177-3AD203B41FA5}">
                      <a16:colId xmlns:a16="http://schemas.microsoft.com/office/drawing/2014/main" val="4003084707"/>
                    </a:ext>
                  </a:extLst>
                </a:gridCol>
              </a:tblGrid>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expression</a:t>
                      </a:r>
                      <a:endParaRPr lang="en-PK" sz="1600" dirty="0">
                        <a:latin typeface="Consolas" panose="020B0609020204030204" pitchFamily="49" charset="0"/>
                      </a:endParaRPr>
                    </a:p>
                  </a:txBody>
                  <a:tcPr/>
                </a:tc>
                <a:tc>
                  <a:txBody>
                    <a:bodyPr/>
                    <a:lstStyle/>
                    <a:p>
                      <a:pPr algn="ctr"/>
                      <a:r>
                        <a:rPr lang="en-US" sz="1600" dirty="0"/>
                        <a:t>type</a:t>
                      </a:r>
                      <a:endParaRPr lang="en-PK" sz="1600" dirty="0">
                        <a:latin typeface="Consolas" panose="020B0609020204030204" pitchFamily="49" charset="0"/>
                      </a:endParaRPr>
                    </a:p>
                  </a:txBody>
                  <a:tcPr/>
                </a:tc>
                <a:tc>
                  <a:txBody>
                    <a:bodyPr/>
                    <a:lstStyle/>
                    <a:p>
                      <a:pPr algn="ctr"/>
                      <a:r>
                        <a:rPr lang="en-US" sz="1600" dirty="0"/>
                        <a:t>value</a:t>
                      </a:r>
                      <a:endParaRPr lang="en-PK" sz="1600" dirty="0">
                        <a:latin typeface="Consolas" panose="020B0609020204030204" pitchFamily="49" charset="0"/>
                      </a:endParaRPr>
                    </a:p>
                  </a:txBody>
                  <a:tcPr/>
                </a:tc>
                <a:extLst>
                  <a:ext uri="{0D108BD9-81ED-4DB2-BD59-A6C34878D82A}">
                    <a16:rowId xmlns:a16="http://schemas.microsoft.com/office/drawing/2014/main" val="1992375012"/>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latin typeface="Consolas" panose="020B0609020204030204" pitchFamily="49" charset="0"/>
                        </a:rPr>
                        <a:t>(int) 2.71828</a:t>
                      </a:r>
                      <a:endParaRPr lang="en-PK" sz="1600" dirty="0">
                        <a:latin typeface="Consolas" panose="020B0609020204030204" pitchFamily="49" charset="0"/>
                      </a:endParaRPr>
                    </a:p>
                  </a:txBody>
                  <a:tcPr/>
                </a:tc>
                <a:tc>
                  <a:txBody>
                    <a:bodyPr/>
                    <a:lstStyle/>
                    <a:p>
                      <a:pPr algn="ctr"/>
                      <a:r>
                        <a:rPr lang="en-US" sz="1600" dirty="0">
                          <a:latin typeface="Consolas" panose="020B0609020204030204" pitchFamily="49" charset="0"/>
                        </a:rPr>
                        <a:t>int</a:t>
                      </a:r>
                      <a:endParaRPr lang="en-PK" sz="1600" dirty="0">
                        <a:latin typeface="Consolas" panose="020B0609020204030204" pitchFamily="49" charset="0"/>
                      </a:endParaRPr>
                    </a:p>
                  </a:txBody>
                  <a:tcPr/>
                </a:tc>
                <a:tc>
                  <a:txBody>
                    <a:bodyPr/>
                    <a:lstStyle/>
                    <a:p>
                      <a:pPr algn="ctr"/>
                      <a:r>
                        <a:rPr lang="en-US" sz="1600" dirty="0">
                          <a:latin typeface="Consolas" panose="020B0609020204030204" pitchFamily="49" charset="0"/>
                        </a:rPr>
                        <a:t>2</a:t>
                      </a:r>
                      <a:endParaRPr lang="en-PK" sz="1600" dirty="0">
                        <a:latin typeface="Consolas" panose="020B0609020204030204" pitchFamily="49" charset="0"/>
                      </a:endParaRPr>
                    </a:p>
                  </a:txBody>
                  <a:tcPr/>
                </a:tc>
                <a:extLst>
                  <a:ext uri="{0D108BD9-81ED-4DB2-BD59-A6C34878D82A}">
                    <a16:rowId xmlns:a16="http://schemas.microsoft.com/office/drawing/2014/main" val="2017742846"/>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latin typeface="Consolas" panose="020B0609020204030204" pitchFamily="49" charset="0"/>
                        </a:rPr>
                        <a:t>int (2.71828)</a:t>
                      </a:r>
                      <a:endParaRPr lang="en-PK" sz="1600" dirty="0">
                        <a:latin typeface="Consolas" panose="020B0609020204030204" pitchFamily="49" charset="0"/>
                      </a:endParaRPr>
                    </a:p>
                  </a:txBody>
                  <a:tcPr/>
                </a:tc>
                <a:tc>
                  <a:txBody>
                    <a:bodyPr/>
                    <a:lstStyle/>
                    <a:p>
                      <a:pPr algn="ctr"/>
                      <a:r>
                        <a:rPr lang="en-US" sz="1600" dirty="0">
                          <a:latin typeface="Consolas" panose="020B0609020204030204" pitchFamily="49" charset="0"/>
                        </a:rPr>
                        <a:t>int</a:t>
                      </a:r>
                      <a:endParaRPr lang="en-PK" sz="1600" dirty="0">
                        <a:latin typeface="Consolas" panose="020B0609020204030204" pitchFamily="49" charset="0"/>
                      </a:endParaRPr>
                    </a:p>
                  </a:txBody>
                  <a:tcPr/>
                </a:tc>
                <a:tc>
                  <a:txBody>
                    <a:bodyPr/>
                    <a:lstStyle/>
                    <a:p>
                      <a:pPr algn="ctr"/>
                      <a:r>
                        <a:rPr lang="en-US" sz="1600" dirty="0">
                          <a:latin typeface="Consolas" panose="020B0609020204030204" pitchFamily="49" charset="0"/>
                        </a:rPr>
                        <a:t>2</a:t>
                      </a:r>
                      <a:endParaRPr lang="en-PK" sz="1600" dirty="0">
                        <a:latin typeface="Consolas" panose="020B0609020204030204" pitchFamily="49" charset="0"/>
                      </a:endParaRPr>
                    </a:p>
                  </a:txBody>
                  <a:tcPr/>
                </a:tc>
                <a:extLst>
                  <a:ext uri="{0D108BD9-81ED-4DB2-BD59-A6C34878D82A}">
                    <a16:rowId xmlns:a16="http://schemas.microsoft.com/office/drawing/2014/main" val="2857560145"/>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latin typeface="Consolas" panose="020B0609020204030204" pitchFamily="49" charset="0"/>
                        </a:rPr>
                        <a:t>(int) </a:t>
                      </a:r>
                      <a:r>
                        <a:rPr lang="en-US" sz="1600" dirty="0" err="1">
                          <a:latin typeface="Consolas" panose="020B0609020204030204" pitchFamily="49" charset="0"/>
                        </a:rPr>
                        <a:t>lround</a:t>
                      </a:r>
                      <a:r>
                        <a:rPr lang="en-US" sz="1600" dirty="0">
                          <a:latin typeface="Consolas" panose="020B0609020204030204" pitchFamily="49" charset="0"/>
                        </a:rPr>
                        <a:t>(2.71828)</a:t>
                      </a:r>
                      <a:endParaRPr lang="en-PK" sz="1600" dirty="0">
                        <a:latin typeface="Consolas" panose="020B0609020204030204" pitchFamily="49" charset="0"/>
                      </a:endParaRPr>
                    </a:p>
                  </a:txBody>
                  <a:tcPr/>
                </a:tc>
                <a:tc>
                  <a:txBody>
                    <a:bodyPr/>
                    <a:lstStyle/>
                    <a:p>
                      <a:pPr algn="ctr"/>
                      <a:r>
                        <a:rPr lang="en-US" sz="1600" dirty="0">
                          <a:latin typeface="Consolas" panose="020B0609020204030204" pitchFamily="49" charset="0"/>
                        </a:rPr>
                        <a:t>int</a:t>
                      </a:r>
                      <a:endParaRPr lang="en-PK" sz="1600" dirty="0">
                        <a:latin typeface="Consolas" panose="020B0609020204030204" pitchFamily="49" charset="0"/>
                      </a:endParaRPr>
                    </a:p>
                  </a:txBody>
                  <a:tcPr/>
                </a:tc>
                <a:tc>
                  <a:txBody>
                    <a:bodyPr/>
                    <a:lstStyle/>
                    <a:p>
                      <a:pPr algn="ctr"/>
                      <a:r>
                        <a:rPr lang="en-US" sz="1600" dirty="0">
                          <a:latin typeface="Consolas" panose="020B0609020204030204" pitchFamily="49" charset="0"/>
                        </a:rPr>
                        <a:t>3</a:t>
                      </a:r>
                      <a:endParaRPr lang="en-PK" sz="1600" dirty="0">
                        <a:latin typeface="Consolas" panose="020B0609020204030204" pitchFamily="49" charset="0"/>
                      </a:endParaRPr>
                    </a:p>
                  </a:txBody>
                  <a:tcPr/>
                </a:tc>
                <a:extLst>
                  <a:ext uri="{0D108BD9-81ED-4DB2-BD59-A6C34878D82A}">
                    <a16:rowId xmlns:a16="http://schemas.microsoft.com/office/drawing/2014/main" val="3546161354"/>
                  </a:ext>
                </a:extLst>
              </a:tr>
              <a:tr h="334607">
                <a:tc>
                  <a:txBody>
                    <a:bodyPr/>
                    <a:lstStyle/>
                    <a:p>
                      <a:pPr algn="ctr"/>
                      <a:r>
                        <a:rPr lang="en-US" sz="1600" dirty="0">
                          <a:latin typeface="Consolas" panose="020B0609020204030204" pitchFamily="49" charset="0"/>
                        </a:rPr>
                        <a:t>11 * (int) 0.25</a:t>
                      </a:r>
                      <a:endParaRPr lang="en-PK" sz="1600" dirty="0">
                        <a:latin typeface="Consolas" panose="020B0609020204030204" pitchFamily="49" charset="0"/>
                      </a:endParaRPr>
                    </a:p>
                  </a:txBody>
                  <a:tcPr/>
                </a:tc>
                <a:tc>
                  <a:txBody>
                    <a:bodyPr/>
                    <a:lstStyle/>
                    <a:p>
                      <a:pPr algn="ctr"/>
                      <a:r>
                        <a:rPr lang="en-US" sz="1600" dirty="0">
                          <a:latin typeface="Consolas" panose="020B0609020204030204" pitchFamily="49" charset="0"/>
                        </a:rPr>
                        <a:t>int</a:t>
                      </a:r>
                      <a:endParaRPr lang="en-PK" sz="1600" dirty="0">
                        <a:latin typeface="Consolas" panose="020B0609020204030204" pitchFamily="49" charset="0"/>
                      </a:endParaRPr>
                    </a:p>
                  </a:txBody>
                  <a:tcPr/>
                </a:tc>
                <a:tc>
                  <a:txBody>
                    <a:bodyPr/>
                    <a:lstStyle/>
                    <a:p>
                      <a:pPr algn="ctr"/>
                      <a:r>
                        <a:rPr lang="en-US" sz="1600" dirty="0">
                          <a:latin typeface="Consolas" panose="020B0609020204030204" pitchFamily="49" charset="0"/>
                        </a:rPr>
                        <a:t>0</a:t>
                      </a:r>
                      <a:endParaRPr lang="en-PK" sz="1600" dirty="0">
                        <a:latin typeface="Consolas" panose="020B0609020204030204" pitchFamily="49" charset="0"/>
                      </a:endParaRPr>
                    </a:p>
                  </a:txBody>
                  <a:tcPr/>
                </a:tc>
                <a:extLst>
                  <a:ext uri="{0D108BD9-81ED-4DB2-BD59-A6C34878D82A}">
                    <a16:rowId xmlns:a16="http://schemas.microsoft.com/office/drawing/2014/main" val="3516887517"/>
                  </a:ext>
                </a:extLst>
              </a:tr>
            </a:tbl>
          </a:graphicData>
        </a:graphic>
      </p:graphicFrame>
      <p:sp>
        <p:nvSpPr>
          <p:cNvPr id="13" name="TextBox 12">
            <a:extLst>
              <a:ext uri="{FF2B5EF4-FFF2-40B4-BE49-F238E27FC236}">
                <a16:creationId xmlns:a16="http://schemas.microsoft.com/office/drawing/2014/main" id="{BB5EB844-29C1-1716-3AF5-662B33AB3972}"/>
              </a:ext>
            </a:extLst>
          </p:cNvPr>
          <p:cNvSpPr txBox="1"/>
          <p:nvPr/>
        </p:nvSpPr>
        <p:spPr>
          <a:xfrm>
            <a:off x="1864568" y="5877299"/>
            <a:ext cx="3957735" cy="369332"/>
          </a:xfrm>
          <a:prstGeom prst="rect">
            <a:avLst/>
          </a:prstGeom>
          <a:noFill/>
        </p:spPr>
        <p:txBody>
          <a:bodyPr wrap="square" rtlCol="0">
            <a:spAutoFit/>
          </a:bodyPr>
          <a:lstStyle/>
          <a:p>
            <a:r>
              <a:rPr lang="en-US" dirty="0">
                <a:solidFill>
                  <a:schemeClr val="accent2">
                    <a:lumMod val="50000"/>
                  </a:schemeClr>
                </a:solidFill>
              </a:rPr>
              <a:t> Pay attention to the type of your data</a:t>
            </a:r>
            <a:endParaRPr lang="en-PK" dirty="0">
              <a:solidFill>
                <a:schemeClr val="accent2">
                  <a:lumMod val="50000"/>
                </a:schemeClr>
              </a:solidFill>
            </a:endParaRPr>
          </a:p>
        </p:txBody>
      </p:sp>
      <p:pic>
        <p:nvPicPr>
          <p:cNvPr id="17" name="Graphic 16" descr="Warning with solid fill">
            <a:extLst>
              <a:ext uri="{FF2B5EF4-FFF2-40B4-BE49-F238E27FC236}">
                <a16:creationId xmlns:a16="http://schemas.microsoft.com/office/drawing/2014/main" id="{179A91E2-C2C2-BB9C-6436-7E431A54D1B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200" y="5604765"/>
            <a:ext cx="914400" cy="914400"/>
          </a:xfrm>
          <a:prstGeom prst="rect">
            <a:avLst/>
          </a:prstGeom>
        </p:spPr>
      </p:pic>
      <p:sp>
        <p:nvSpPr>
          <p:cNvPr id="18" name="TextBox 17">
            <a:extLst>
              <a:ext uri="{FF2B5EF4-FFF2-40B4-BE49-F238E27FC236}">
                <a16:creationId xmlns:a16="http://schemas.microsoft.com/office/drawing/2014/main" id="{4F2F3DEA-6645-261B-D380-8EC8E8D065C0}"/>
              </a:ext>
            </a:extLst>
          </p:cNvPr>
          <p:cNvSpPr txBox="1"/>
          <p:nvPr/>
        </p:nvSpPr>
        <p:spPr>
          <a:xfrm>
            <a:off x="6369699" y="5848318"/>
            <a:ext cx="3815249" cy="523220"/>
          </a:xfrm>
          <a:prstGeom prst="rect">
            <a:avLst/>
          </a:prstGeom>
          <a:noFill/>
        </p:spPr>
        <p:txBody>
          <a:bodyPr wrap="square" rtlCol="0">
            <a:spAutoFit/>
          </a:bodyPr>
          <a:lstStyle/>
          <a:p>
            <a:pPr algn="ctr"/>
            <a:r>
              <a:rPr lang="en-US" sz="1400" dirty="0">
                <a:solidFill>
                  <a:schemeClr val="accent1"/>
                </a:solidFill>
              </a:rPr>
              <a:t>Type conversion can give counterintuitive results</a:t>
            </a:r>
          </a:p>
          <a:p>
            <a:pPr algn="ctr"/>
            <a:r>
              <a:rPr lang="en-US" sz="1400" dirty="0">
                <a:solidFill>
                  <a:schemeClr val="accent1"/>
                </a:solidFill>
              </a:rPr>
              <a:t>but gets easier to understand with practice</a:t>
            </a:r>
            <a:endParaRPr lang="en-PK" sz="1400" dirty="0">
              <a:solidFill>
                <a:schemeClr val="accent1"/>
              </a:solidFill>
            </a:endParaRPr>
          </a:p>
        </p:txBody>
      </p:sp>
      <p:cxnSp>
        <p:nvCxnSpPr>
          <p:cNvPr id="20" name="Straight Arrow Connector 19">
            <a:extLst>
              <a:ext uri="{FF2B5EF4-FFF2-40B4-BE49-F238E27FC236}">
                <a16:creationId xmlns:a16="http://schemas.microsoft.com/office/drawing/2014/main" id="{E00A8E2E-91C5-5605-CF52-D997923F2918}"/>
              </a:ext>
            </a:extLst>
          </p:cNvPr>
          <p:cNvCxnSpPr>
            <a:cxnSpLocks/>
            <a:stCxn id="18" idx="1"/>
          </p:cNvCxnSpPr>
          <p:nvPr/>
        </p:nvCxnSpPr>
        <p:spPr>
          <a:xfrm flipH="1">
            <a:off x="5620140" y="6109928"/>
            <a:ext cx="7495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70254C6-7821-025F-3299-0DE0F7DB4250}"/>
              </a:ext>
            </a:extLst>
          </p:cNvPr>
          <p:cNvSpPr txBox="1"/>
          <p:nvPr/>
        </p:nvSpPr>
        <p:spPr>
          <a:xfrm>
            <a:off x="763555" y="2340361"/>
            <a:ext cx="6934200" cy="400110"/>
          </a:xfrm>
          <a:prstGeom prst="rect">
            <a:avLst/>
          </a:prstGeom>
          <a:solidFill>
            <a:schemeClr val="accent1">
              <a:lumMod val="20000"/>
              <a:lumOff val="80000"/>
              <a:alpha val="50000"/>
            </a:schemeClr>
          </a:solidFill>
        </p:spPr>
        <p:txBody>
          <a:bodyPr wrap="square" rtlCol="0">
            <a:spAutoFit/>
          </a:bodyPr>
          <a:lstStyle/>
          <a:p>
            <a:r>
              <a:rPr lang="en-US" sz="2000" dirty="0" err="1">
                <a:solidFill>
                  <a:schemeClr val="accent1"/>
                </a:solidFill>
                <a:latin typeface="Consolas" panose="020B0609020204030204" pitchFamily="49" charset="0"/>
              </a:rPr>
              <a:t>static_cast</a:t>
            </a:r>
            <a:r>
              <a:rPr lang="en-US" sz="2000" dirty="0">
                <a:solidFill>
                  <a:schemeClr val="accent1"/>
                </a:solidFill>
                <a:latin typeface="Consolas" panose="020B0609020204030204" pitchFamily="49" charset="0"/>
              </a:rPr>
              <a:t>&lt;</a:t>
            </a:r>
            <a:r>
              <a:rPr lang="en-US" sz="2000" dirty="0" err="1">
                <a:solidFill>
                  <a:schemeClr val="accent1"/>
                </a:solidFill>
                <a:latin typeface="Consolas" panose="020B0609020204030204" pitchFamily="49" charset="0"/>
              </a:rPr>
              <a:t>data_type</a:t>
            </a:r>
            <a:r>
              <a:rPr lang="en-US" sz="2000" dirty="0">
                <a:solidFill>
                  <a:schemeClr val="accent1"/>
                </a:solidFill>
                <a:latin typeface="Consolas" panose="020B0609020204030204" pitchFamily="49" charset="0"/>
              </a:rPr>
              <a:t>&gt;(expression)</a:t>
            </a:r>
            <a:endParaRPr lang="en-US" sz="2000" dirty="0">
              <a:latin typeface="Consolas" panose="020B0609020204030204" pitchFamily="49" charset="0"/>
            </a:endParaRPr>
          </a:p>
        </p:txBody>
      </p:sp>
      <p:sp>
        <p:nvSpPr>
          <p:cNvPr id="7" name="TextBox 6">
            <a:extLst>
              <a:ext uri="{FF2B5EF4-FFF2-40B4-BE49-F238E27FC236}">
                <a16:creationId xmlns:a16="http://schemas.microsoft.com/office/drawing/2014/main" id="{44504FCC-D3AF-01C1-4492-9BEDD28BB059}"/>
              </a:ext>
            </a:extLst>
          </p:cNvPr>
          <p:cNvSpPr txBox="1"/>
          <p:nvPr/>
        </p:nvSpPr>
        <p:spPr>
          <a:xfrm>
            <a:off x="7869679" y="1792174"/>
            <a:ext cx="797654" cy="369332"/>
          </a:xfrm>
          <a:prstGeom prst="rect">
            <a:avLst/>
          </a:prstGeom>
          <a:noFill/>
        </p:spPr>
        <p:txBody>
          <a:bodyPr wrap="none" rtlCol="0">
            <a:spAutoFit/>
          </a:bodyPr>
          <a:lstStyle/>
          <a:p>
            <a:r>
              <a:rPr lang="en-US" dirty="0">
                <a:solidFill>
                  <a:schemeClr val="accent2">
                    <a:lumMod val="50000"/>
                  </a:schemeClr>
                </a:solidFill>
              </a:rPr>
              <a:t>C style</a:t>
            </a:r>
            <a:endParaRPr lang="LID4096" dirty="0">
              <a:solidFill>
                <a:schemeClr val="accent2">
                  <a:lumMod val="50000"/>
                </a:schemeClr>
              </a:solidFill>
            </a:endParaRPr>
          </a:p>
        </p:txBody>
      </p:sp>
      <p:sp>
        <p:nvSpPr>
          <p:cNvPr id="8" name="TextBox 7">
            <a:extLst>
              <a:ext uri="{FF2B5EF4-FFF2-40B4-BE49-F238E27FC236}">
                <a16:creationId xmlns:a16="http://schemas.microsoft.com/office/drawing/2014/main" id="{591902DD-7E78-16E8-8454-49150C801362}"/>
              </a:ext>
            </a:extLst>
          </p:cNvPr>
          <p:cNvSpPr txBox="1"/>
          <p:nvPr/>
        </p:nvSpPr>
        <p:spPr>
          <a:xfrm>
            <a:off x="7869679" y="2381635"/>
            <a:ext cx="2692725" cy="369332"/>
          </a:xfrm>
          <a:prstGeom prst="rect">
            <a:avLst/>
          </a:prstGeom>
          <a:noFill/>
        </p:spPr>
        <p:txBody>
          <a:bodyPr wrap="none" rtlCol="0">
            <a:spAutoFit/>
          </a:bodyPr>
          <a:lstStyle/>
          <a:p>
            <a:r>
              <a:rPr lang="en-US" dirty="0">
                <a:solidFill>
                  <a:schemeClr val="accent2">
                    <a:lumMod val="50000"/>
                  </a:schemeClr>
                </a:solidFill>
              </a:rPr>
              <a:t>C++ style (safer &amp; verbose)</a:t>
            </a:r>
            <a:endParaRPr lang="LID4096" dirty="0">
              <a:solidFill>
                <a:schemeClr val="accent2">
                  <a:lumMod val="50000"/>
                </a:schemeClr>
              </a:solidFill>
            </a:endParaRPr>
          </a:p>
        </p:txBody>
      </p:sp>
      <p:graphicFrame>
        <p:nvGraphicFramePr>
          <p:cNvPr id="14" name="Table 13">
            <a:extLst>
              <a:ext uri="{FF2B5EF4-FFF2-40B4-BE49-F238E27FC236}">
                <a16:creationId xmlns:a16="http://schemas.microsoft.com/office/drawing/2014/main" id="{78999296-9902-2E61-C789-06E4E47AFEC7}"/>
              </a:ext>
            </a:extLst>
          </p:cNvPr>
          <p:cNvGraphicFramePr>
            <a:graphicFrameLocks noGrp="1"/>
          </p:cNvGraphicFramePr>
          <p:nvPr/>
        </p:nvGraphicFramePr>
        <p:xfrm>
          <a:off x="5822303" y="3160286"/>
          <a:ext cx="5355770" cy="1676400"/>
        </p:xfrm>
        <a:graphic>
          <a:graphicData uri="http://schemas.openxmlformats.org/drawingml/2006/table">
            <a:tbl>
              <a:tblPr firstRow="1" bandRow="1">
                <a:tableStyleId>{5FD0F851-EC5A-4D38-B0AD-8093EC10F338}</a:tableStyleId>
              </a:tblPr>
              <a:tblGrid>
                <a:gridCol w="3280879">
                  <a:extLst>
                    <a:ext uri="{9D8B030D-6E8A-4147-A177-3AD203B41FA5}">
                      <a16:colId xmlns:a16="http://schemas.microsoft.com/office/drawing/2014/main" val="1493070760"/>
                    </a:ext>
                  </a:extLst>
                </a:gridCol>
                <a:gridCol w="1056174">
                  <a:extLst>
                    <a:ext uri="{9D8B030D-6E8A-4147-A177-3AD203B41FA5}">
                      <a16:colId xmlns:a16="http://schemas.microsoft.com/office/drawing/2014/main" val="1400602816"/>
                    </a:ext>
                  </a:extLst>
                </a:gridCol>
                <a:gridCol w="1018717">
                  <a:extLst>
                    <a:ext uri="{9D8B030D-6E8A-4147-A177-3AD203B41FA5}">
                      <a16:colId xmlns:a16="http://schemas.microsoft.com/office/drawing/2014/main" val="4003084707"/>
                    </a:ext>
                  </a:extLst>
                </a:gridCol>
              </a:tblGrid>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expression</a:t>
                      </a:r>
                      <a:endParaRPr lang="en-PK" sz="1600" dirty="0">
                        <a:latin typeface="Consolas" panose="020B0609020204030204" pitchFamily="49" charset="0"/>
                      </a:endParaRPr>
                    </a:p>
                  </a:txBody>
                  <a:tcPr/>
                </a:tc>
                <a:tc>
                  <a:txBody>
                    <a:bodyPr/>
                    <a:lstStyle/>
                    <a:p>
                      <a:pPr algn="ctr"/>
                      <a:r>
                        <a:rPr lang="en-US" sz="1600" dirty="0"/>
                        <a:t>type</a:t>
                      </a:r>
                      <a:endParaRPr lang="en-PK" sz="1600" dirty="0">
                        <a:latin typeface="Consolas" panose="020B0609020204030204" pitchFamily="49" charset="0"/>
                      </a:endParaRPr>
                    </a:p>
                  </a:txBody>
                  <a:tcPr/>
                </a:tc>
                <a:tc>
                  <a:txBody>
                    <a:bodyPr/>
                    <a:lstStyle/>
                    <a:p>
                      <a:pPr algn="ctr"/>
                      <a:r>
                        <a:rPr lang="en-US" sz="1600" dirty="0"/>
                        <a:t>value</a:t>
                      </a:r>
                      <a:endParaRPr lang="en-PK" sz="1600" dirty="0">
                        <a:latin typeface="Consolas" panose="020B0609020204030204" pitchFamily="49" charset="0"/>
                      </a:endParaRPr>
                    </a:p>
                  </a:txBody>
                  <a:tcPr/>
                </a:tc>
                <a:extLst>
                  <a:ext uri="{0D108BD9-81ED-4DB2-BD59-A6C34878D82A}">
                    <a16:rowId xmlns:a16="http://schemas.microsoft.com/office/drawing/2014/main" val="1992375012"/>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rPr>
                        <a:t>static_cast</a:t>
                      </a:r>
                      <a:r>
                        <a:rPr lang="en-US" sz="1600" dirty="0">
                          <a:latin typeface="Consolas" panose="020B0609020204030204" pitchFamily="49" charset="0"/>
                        </a:rPr>
                        <a:t>&lt;int&gt;(2.71828)</a:t>
                      </a:r>
                      <a:endParaRPr lang="en-PK" sz="1600" dirty="0">
                        <a:latin typeface="Consolas" panose="020B0609020204030204" pitchFamily="49" charset="0"/>
                      </a:endParaRPr>
                    </a:p>
                  </a:txBody>
                  <a:tcPr/>
                </a:tc>
                <a:tc>
                  <a:txBody>
                    <a:bodyPr/>
                    <a:lstStyle/>
                    <a:p>
                      <a:pPr algn="ctr"/>
                      <a:r>
                        <a:rPr lang="en-US" sz="1600" dirty="0">
                          <a:latin typeface="Consolas" panose="020B0609020204030204" pitchFamily="49" charset="0"/>
                        </a:rPr>
                        <a:t>int</a:t>
                      </a:r>
                      <a:endParaRPr lang="en-PK" sz="1600" dirty="0">
                        <a:latin typeface="Consolas" panose="020B0609020204030204" pitchFamily="49" charset="0"/>
                      </a:endParaRPr>
                    </a:p>
                  </a:txBody>
                  <a:tcPr/>
                </a:tc>
                <a:tc>
                  <a:txBody>
                    <a:bodyPr/>
                    <a:lstStyle/>
                    <a:p>
                      <a:pPr algn="ctr"/>
                      <a:r>
                        <a:rPr lang="en-US" sz="1600" dirty="0">
                          <a:latin typeface="Consolas" panose="020B0609020204030204" pitchFamily="49" charset="0"/>
                        </a:rPr>
                        <a:t>2</a:t>
                      </a:r>
                      <a:endParaRPr lang="en-PK" sz="1600" dirty="0">
                        <a:latin typeface="Consolas" panose="020B0609020204030204" pitchFamily="49" charset="0"/>
                      </a:endParaRPr>
                    </a:p>
                  </a:txBody>
                  <a:tcPr/>
                </a:tc>
                <a:extLst>
                  <a:ext uri="{0D108BD9-81ED-4DB2-BD59-A6C34878D82A}">
                    <a16:rowId xmlns:a16="http://schemas.microsoft.com/office/drawing/2014/main" val="2017742846"/>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latin typeface="Consolas" panose="020B0609020204030204" pitchFamily="49" charset="0"/>
                        </a:rPr>
                        <a:t>(int)2.99 * 20</a:t>
                      </a:r>
                      <a:endParaRPr lang="en-PK" sz="1600" dirty="0">
                        <a:latin typeface="Consolas" panose="020B0609020204030204" pitchFamily="49" charset="0"/>
                      </a:endParaRPr>
                    </a:p>
                  </a:txBody>
                  <a:tcPr/>
                </a:tc>
                <a:tc>
                  <a:txBody>
                    <a:bodyPr/>
                    <a:lstStyle/>
                    <a:p>
                      <a:pPr algn="ctr"/>
                      <a:r>
                        <a:rPr lang="en-US" sz="1600" dirty="0">
                          <a:latin typeface="Consolas" panose="020B0609020204030204" pitchFamily="49" charset="0"/>
                        </a:rPr>
                        <a:t>int</a:t>
                      </a:r>
                      <a:endParaRPr lang="en-PK" sz="1600" dirty="0">
                        <a:latin typeface="Consolas" panose="020B0609020204030204" pitchFamily="49" charset="0"/>
                      </a:endParaRPr>
                    </a:p>
                  </a:txBody>
                  <a:tcPr/>
                </a:tc>
                <a:tc>
                  <a:txBody>
                    <a:bodyPr/>
                    <a:lstStyle/>
                    <a:p>
                      <a:pPr algn="ctr"/>
                      <a:r>
                        <a:rPr lang="en-US" sz="1600" dirty="0">
                          <a:latin typeface="Consolas" panose="020B0609020204030204" pitchFamily="49" charset="0"/>
                        </a:rPr>
                        <a:t>40</a:t>
                      </a:r>
                      <a:endParaRPr lang="en-PK" sz="1600" dirty="0">
                        <a:latin typeface="Consolas" panose="020B0609020204030204" pitchFamily="49" charset="0"/>
                      </a:endParaRPr>
                    </a:p>
                  </a:txBody>
                  <a:tcPr/>
                </a:tc>
                <a:extLst>
                  <a:ext uri="{0D108BD9-81ED-4DB2-BD59-A6C34878D82A}">
                    <a16:rowId xmlns:a16="http://schemas.microsoft.com/office/drawing/2014/main" val="3546161354"/>
                  </a:ext>
                </a:extLst>
              </a:tr>
              <a:tr h="334607">
                <a:tc>
                  <a:txBody>
                    <a:bodyPr/>
                    <a:lstStyle/>
                    <a:p>
                      <a:pPr algn="ctr"/>
                      <a:r>
                        <a:rPr lang="en-US" sz="1600" dirty="0">
                          <a:latin typeface="Consolas" panose="020B0609020204030204" pitchFamily="49" charset="0"/>
                        </a:rPr>
                        <a:t>5 / 9 * 10.0</a:t>
                      </a:r>
                      <a:endParaRPr lang="en-PK" sz="1600" dirty="0">
                        <a:latin typeface="Consolas" panose="020B0609020204030204" pitchFamily="49" charset="0"/>
                      </a:endParaRPr>
                    </a:p>
                  </a:txBody>
                  <a:tcPr/>
                </a:tc>
                <a:tc>
                  <a:txBody>
                    <a:bodyPr/>
                    <a:lstStyle/>
                    <a:p>
                      <a:pPr algn="ctr"/>
                      <a:r>
                        <a:rPr lang="en-US" sz="1600" dirty="0">
                          <a:latin typeface="Consolas" panose="020B0609020204030204" pitchFamily="49" charset="0"/>
                        </a:rPr>
                        <a:t>double</a:t>
                      </a:r>
                      <a:endParaRPr lang="en-PK" sz="1600" dirty="0">
                        <a:latin typeface="Consolas" panose="020B0609020204030204" pitchFamily="49" charset="0"/>
                      </a:endParaRPr>
                    </a:p>
                  </a:txBody>
                  <a:tcPr/>
                </a:tc>
                <a:tc>
                  <a:txBody>
                    <a:bodyPr/>
                    <a:lstStyle/>
                    <a:p>
                      <a:pPr algn="ctr"/>
                      <a:r>
                        <a:rPr lang="en-US" sz="1600" dirty="0">
                          <a:latin typeface="Consolas" panose="020B0609020204030204" pitchFamily="49" charset="0"/>
                        </a:rPr>
                        <a:t>0</a:t>
                      </a:r>
                      <a:endParaRPr lang="en-PK" sz="1600" dirty="0">
                        <a:latin typeface="Consolas" panose="020B0609020204030204" pitchFamily="49" charset="0"/>
                      </a:endParaRPr>
                    </a:p>
                  </a:txBody>
                  <a:tcPr/>
                </a:tc>
                <a:extLst>
                  <a:ext uri="{0D108BD9-81ED-4DB2-BD59-A6C34878D82A}">
                    <a16:rowId xmlns:a16="http://schemas.microsoft.com/office/drawing/2014/main" val="3516887517"/>
                  </a:ext>
                </a:extLst>
              </a:tr>
              <a:tr h="334607">
                <a:tc>
                  <a:txBody>
                    <a:bodyPr/>
                    <a:lstStyle/>
                    <a:p>
                      <a:pPr algn="ctr"/>
                      <a:r>
                        <a:rPr lang="en-US" sz="1600" dirty="0">
                          <a:latin typeface="Consolas" panose="020B0609020204030204" pitchFamily="49" charset="0"/>
                        </a:rPr>
                        <a:t>10.0 * 5 / 9</a:t>
                      </a:r>
                      <a:endParaRPr lang="en-PK" sz="1600" dirty="0">
                        <a:latin typeface="Consolas" panose="020B0609020204030204" pitchFamily="49" charset="0"/>
                      </a:endParaRPr>
                    </a:p>
                  </a:txBody>
                  <a:tcPr/>
                </a:tc>
                <a:tc>
                  <a:txBody>
                    <a:bodyPr/>
                    <a:lstStyle/>
                    <a:p>
                      <a:pPr algn="ctr"/>
                      <a:r>
                        <a:rPr lang="en-US" sz="1600" dirty="0">
                          <a:latin typeface="Consolas" panose="020B0609020204030204" pitchFamily="49" charset="0"/>
                        </a:rPr>
                        <a:t>double</a:t>
                      </a:r>
                      <a:endParaRPr lang="en-PK" sz="1600" dirty="0">
                        <a:latin typeface="Consolas" panose="020B0609020204030204" pitchFamily="49" charset="0"/>
                      </a:endParaRPr>
                    </a:p>
                  </a:txBody>
                  <a:tcPr/>
                </a:tc>
                <a:tc>
                  <a:txBody>
                    <a:bodyPr/>
                    <a:lstStyle/>
                    <a:p>
                      <a:pPr algn="ctr"/>
                      <a:r>
                        <a:rPr lang="en-PK" sz="1600" dirty="0">
                          <a:latin typeface="Consolas" panose="020B0609020204030204" pitchFamily="49" charset="0"/>
                        </a:rPr>
                        <a:t>5.55556</a:t>
                      </a:r>
                    </a:p>
                  </a:txBody>
                  <a:tcPr/>
                </a:tc>
                <a:extLst>
                  <a:ext uri="{0D108BD9-81ED-4DB2-BD59-A6C34878D82A}">
                    <a16:rowId xmlns:a16="http://schemas.microsoft.com/office/drawing/2014/main" val="4279086269"/>
                  </a:ext>
                </a:extLst>
              </a:tr>
            </a:tbl>
          </a:graphicData>
        </a:graphic>
      </p:graphicFrame>
    </p:spTree>
    <p:extLst>
      <p:ext uri="{BB962C8B-B14F-4D97-AF65-F5344CB8AC3E}">
        <p14:creationId xmlns:p14="http://schemas.microsoft.com/office/powerpoint/2010/main" val="17766312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5E6DE-3A2C-E6CB-296C-7DA7B8FF8862}"/>
              </a:ext>
            </a:extLst>
          </p:cNvPr>
          <p:cNvSpPr>
            <a:spLocks noGrp="1"/>
          </p:cNvSpPr>
          <p:nvPr>
            <p:ph type="title"/>
          </p:nvPr>
        </p:nvSpPr>
        <p:spPr/>
        <p:txBody>
          <a:bodyPr>
            <a:normAutofit/>
          </a:bodyPr>
          <a:lstStyle/>
          <a:p>
            <a:r>
              <a:rPr lang="en-US" sz="4000" dirty="0"/>
              <a:t>Avoiding narrowing conversion in initializations</a:t>
            </a:r>
            <a:endParaRPr lang="LID4096" sz="4000" dirty="0"/>
          </a:p>
        </p:txBody>
      </p:sp>
      <p:sp>
        <p:nvSpPr>
          <p:cNvPr id="4" name="TextBox 3">
            <a:extLst>
              <a:ext uri="{FF2B5EF4-FFF2-40B4-BE49-F238E27FC236}">
                <a16:creationId xmlns:a16="http://schemas.microsoft.com/office/drawing/2014/main" id="{19A2C7FD-2D8B-32D3-0D54-EB036DA89323}"/>
              </a:ext>
            </a:extLst>
          </p:cNvPr>
          <p:cNvSpPr txBox="1"/>
          <p:nvPr/>
        </p:nvSpPr>
        <p:spPr>
          <a:xfrm>
            <a:off x="838199" y="2448095"/>
            <a:ext cx="2209800" cy="369332"/>
          </a:xfrm>
          <a:prstGeom prst="rect">
            <a:avLst/>
          </a:prstGeom>
          <a:solidFill>
            <a:schemeClr val="accent1">
              <a:lumMod val="20000"/>
              <a:lumOff val="80000"/>
              <a:alpha val="50000"/>
            </a:schemeClr>
          </a:solidFill>
        </p:spPr>
        <p:txBody>
          <a:bodyPr wrap="square" rtlCol="0">
            <a:spAutoFit/>
          </a:bodyPr>
          <a:lstStyle/>
          <a:p>
            <a:r>
              <a:rPr lang="fr-FR" dirty="0" err="1">
                <a:latin typeface="Consolas" panose="020B0609020204030204" pitchFamily="49" charset="0"/>
              </a:rPr>
              <a:t>int</a:t>
            </a:r>
            <a:r>
              <a:rPr lang="fr-FR" dirty="0">
                <a:latin typeface="Consolas" panose="020B0609020204030204" pitchFamily="49" charset="0"/>
              </a:rPr>
              <a:t> x0 = 7.8;</a:t>
            </a:r>
          </a:p>
        </p:txBody>
      </p:sp>
      <p:sp>
        <p:nvSpPr>
          <p:cNvPr id="5" name="TextBox 4">
            <a:extLst>
              <a:ext uri="{FF2B5EF4-FFF2-40B4-BE49-F238E27FC236}">
                <a16:creationId xmlns:a16="http://schemas.microsoft.com/office/drawing/2014/main" id="{3E9530C6-1ACA-8F3A-BBB8-A2D7AA7F4AF9}"/>
              </a:ext>
            </a:extLst>
          </p:cNvPr>
          <p:cNvSpPr txBox="1"/>
          <p:nvPr/>
        </p:nvSpPr>
        <p:spPr>
          <a:xfrm>
            <a:off x="838200" y="1797886"/>
            <a:ext cx="5438775" cy="461665"/>
          </a:xfrm>
          <a:prstGeom prst="rect">
            <a:avLst/>
          </a:prstGeom>
          <a:solidFill>
            <a:schemeClr val="bg2">
              <a:lumMod val="90000"/>
              <a:alpha val="50000"/>
            </a:schemeClr>
          </a:solidFill>
        </p:spPr>
        <p:txBody>
          <a:bodyPr wrap="square" rtlCol="0">
            <a:spAutoFit/>
          </a:bodyPr>
          <a:lstStyle/>
          <a:p>
            <a:r>
              <a:rPr lang="en-US" sz="2400" dirty="0"/>
              <a:t>Four notations for initialization</a:t>
            </a:r>
          </a:p>
        </p:txBody>
      </p:sp>
      <p:sp>
        <p:nvSpPr>
          <p:cNvPr id="6" name="TextBox 5">
            <a:extLst>
              <a:ext uri="{FF2B5EF4-FFF2-40B4-BE49-F238E27FC236}">
                <a16:creationId xmlns:a16="http://schemas.microsoft.com/office/drawing/2014/main" id="{BF3B0F87-91F4-C759-5253-2DDBED8A9292}"/>
              </a:ext>
            </a:extLst>
          </p:cNvPr>
          <p:cNvSpPr txBox="1"/>
          <p:nvPr/>
        </p:nvSpPr>
        <p:spPr>
          <a:xfrm>
            <a:off x="838200" y="3019244"/>
            <a:ext cx="2209800" cy="369332"/>
          </a:xfrm>
          <a:prstGeom prst="rect">
            <a:avLst/>
          </a:prstGeom>
          <a:solidFill>
            <a:schemeClr val="accent1">
              <a:lumMod val="20000"/>
              <a:lumOff val="80000"/>
              <a:alpha val="50000"/>
            </a:schemeClr>
          </a:solidFill>
        </p:spPr>
        <p:txBody>
          <a:bodyPr wrap="square" rtlCol="0">
            <a:spAutoFit/>
          </a:bodyPr>
          <a:lstStyle/>
          <a:p>
            <a:r>
              <a:rPr lang="fr-FR" dirty="0" err="1">
                <a:latin typeface="Consolas" panose="020B0609020204030204" pitchFamily="49" charset="0"/>
              </a:rPr>
              <a:t>int</a:t>
            </a:r>
            <a:r>
              <a:rPr lang="fr-FR" dirty="0">
                <a:latin typeface="Consolas" panose="020B0609020204030204" pitchFamily="49" charset="0"/>
              </a:rPr>
              <a:t> x1 {7.8}; </a:t>
            </a:r>
          </a:p>
        </p:txBody>
      </p:sp>
      <p:sp>
        <p:nvSpPr>
          <p:cNvPr id="7" name="TextBox 6">
            <a:extLst>
              <a:ext uri="{FF2B5EF4-FFF2-40B4-BE49-F238E27FC236}">
                <a16:creationId xmlns:a16="http://schemas.microsoft.com/office/drawing/2014/main" id="{77492947-7287-E46F-8560-77FB7E16903F}"/>
              </a:ext>
            </a:extLst>
          </p:cNvPr>
          <p:cNvSpPr txBox="1"/>
          <p:nvPr/>
        </p:nvSpPr>
        <p:spPr>
          <a:xfrm>
            <a:off x="838201" y="3668956"/>
            <a:ext cx="2209800" cy="369332"/>
          </a:xfrm>
          <a:prstGeom prst="rect">
            <a:avLst/>
          </a:prstGeom>
          <a:solidFill>
            <a:schemeClr val="accent1">
              <a:lumMod val="20000"/>
              <a:lumOff val="80000"/>
              <a:alpha val="50000"/>
            </a:schemeClr>
          </a:solidFill>
        </p:spPr>
        <p:txBody>
          <a:bodyPr wrap="square" rtlCol="0">
            <a:spAutoFit/>
          </a:bodyPr>
          <a:lstStyle/>
          <a:p>
            <a:r>
              <a:rPr lang="fr-FR" dirty="0" err="1">
                <a:latin typeface="Consolas" panose="020B0609020204030204" pitchFamily="49" charset="0"/>
              </a:rPr>
              <a:t>int</a:t>
            </a:r>
            <a:r>
              <a:rPr lang="fr-FR" dirty="0">
                <a:latin typeface="Consolas" panose="020B0609020204030204" pitchFamily="49" charset="0"/>
              </a:rPr>
              <a:t> x2 = {7.8}; </a:t>
            </a:r>
          </a:p>
        </p:txBody>
      </p:sp>
      <p:sp>
        <p:nvSpPr>
          <p:cNvPr id="8" name="TextBox 7">
            <a:extLst>
              <a:ext uri="{FF2B5EF4-FFF2-40B4-BE49-F238E27FC236}">
                <a16:creationId xmlns:a16="http://schemas.microsoft.com/office/drawing/2014/main" id="{A515B463-09AC-2F46-4C77-810392D673EE}"/>
              </a:ext>
            </a:extLst>
          </p:cNvPr>
          <p:cNvSpPr txBox="1"/>
          <p:nvPr/>
        </p:nvSpPr>
        <p:spPr>
          <a:xfrm>
            <a:off x="838200" y="4318668"/>
            <a:ext cx="2209799" cy="369332"/>
          </a:xfrm>
          <a:prstGeom prst="rect">
            <a:avLst/>
          </a:prstGeom>
          <a:solidFill>
            <a:schemeClr val="accent1">
              <a:lumMod val="20000"/>
              <a:lumOff val="80000"/>
              <a:alpha val="50000"/>
            </a:schemeClr>
          </a:solidFill>
        </p:spPr>
        <p:txBody>
          <a:bodyPr wrap="square" rtlCol="0">
            <a:spAutoFit/>
          </a:bodyPr>
          <a:lstStyle/>
          <a:p>
            <a:r>
              <a:rPr lang="fr-FR" dirty="0" err="1">
                <a:latin typeface="Consolas" panose="020B0609020204030204" pitchFamily="49" charset="0"/>
              </a:rPr>
              <a:t>int</a:t>
            </a:r>
            <a:r>
              <a:rPr lang="fr-FR" dirty="0">
                <a:latin typeface="Consolas" panose="020B0609020204030204" pitchFamily="49" charset="0"/>
              </a:rPr>
              <a:t> x3 (7.8); </a:t>
            </a:r>
            <a:endParaRPr lang="en-PK" dirty="0">
              <a:latin typeface="Consolas" panose="020B0609020204030204" pitchFamily="49" charset="0"/>
            </a:endParaRPr>
          </a:p>
        </p:txBody>
      </p:sp>
      <p:sp>
        <p:nvSpPr>
          <p:cNvPr id="9" name="TextBox 8">
            <a:extLst>
              <a:ext uri="{FF2B5EF4-FFF2-40B4-BE49-F238E27FC236}">
                <a16:creationId xmlns:a16="http://schemas.microsoft.com/office/drawing/2014/main" id="{EF083F3F-13FD-B2A3-9AE4-557A8839D355}"/>
              </a:ext>
            </a:extLst>
          </p:cNvPr>
          <p:cNvSpPr txBox="1"/>
          <p:nvPr/>
        </p:nvSpPr>
        <p:spPr>
          <a:xfrm>
            <a:off x="838199" y="4968380"/>
            <a:ext cx="9896475" cy="461665"/>
          </a:xfrm>
          <a:prstGeom prst="rect">
            <a:avLst/>
          </a:prstGeom>
          <a:solidFill>
            <a:schemeClr val="bg2">
              <a:lumMod val="90000"/>
              <a:alpha val="50000"/>
            </a:schemeClr>
          </a:solidFill>
        </p:spPr>
        <p:txBody>
          <a:bodyPr wrap="square" rtlCol="0">
            <a:spAutoFit/>
          </a:bodyPr>
          <a:lstStyle/>
          <a:p>
            <a:r>
              <a:rPr lang="en-US" sz="2400" dirty="0">
                <a:latin typeface="Consolas" panose="020B0609020204030204" pitchFamily="49" charset="0"/>
              </a:rPr>
              <a:t>{}</a:t>
            </a:r>
            <a:r>
              <a:rPr lang="en-US" sz="2400" dirty="0"/>
              <a:t> and </a:t>
            </a:r>
            <a:r>
              <a:rPr lang="en-US" sz="2400" dirty="0">
                <a:latin typeface="Consolas" panose="020B0609020204030204" pitchFamily="49" charset="0"/>
              </a:rPr>
              <a:t>={}</a:t>
            </a:r>
            <a:r>
              <a:rPr lang="en-US" sz="2400" dirty="0"/>
              <a:t> notations provide compile-time protection against narrowing</a:t>
            </a:r>
          </a:p>
        </p:txBody>
      </p:sp>
      <p:sp>
        <p:nvSpPr>
          <p:cNvPr id="10" name="TextBox 9">
            <a:extLst>
              <a:ext uri="{FF2B5EF4-FFF2-40B4-BE49-F238E27FC236}">
                <a16:creationId xmlns:a16="http://schemas.microsoft.com/office/drawing/2014/main" id="{2BE48F0D-ECD2-5880-1697-CC5B8338DBA6}"/>
              </a:ext>
            </a:extLst>
          </p:cNvPr>
          <p:cNvSpPr txBox="1"/>
          <p:nvPr/>
        </p:nvSpPr>
        <p:spPr>
          <a:xfrm>
            <a:off x="3250874" y="2499507"/>
            <a:ext cx="3061351" cy="369332"/>
          </a:xfrm>
          <a:prstGeom prst="rect">
            <a:avLst/>
          </a:prstGeom>
          <a:noFill/>
        </p:spPr>
        <p:txBody>
          <a:bodyPr wrap="none" rtlCol="0">
            <a:spAutoFit/>
          </a:bodyPr>
          <a:lstStyle/>
          <a:p>
            <a:r>
              <a:rPr lang="fr-FR" dirty="0" err="1">
                <a:solidFill>
                  <a:schemeClr val="accent1"/>
                </a:solidFill>
              </a:rPr>
              <a:t>narrows</a:t>
            </a:r>
            <a:r>
              <a:rPr lang="fr-FR" dirty="0">
                <a:solidFill>
                  <a:schemeClr val="accent1"/>
                </a:solidFill>
              </a:rPr>
              <a:t>, </a:t>
            </a:r>
            <a:r>
              <a:rPr lang="fr-FR" dirty="0" err="1">
                <a:solidFill>
                  <a:schemeClr val="accent1"/>
                </a:solidFill>
              </a:rPr>
              <a:t>some</a:t>
            </a:r>
            <a:r>
              <a:rPr lang="fr-FR" dirty="0">
                <a:solidFill>
                  <a:schemeClr val="accent1"/>
                </a:solidFill>
              </a:rPr>
              <a:t> </a:t>
            </a:r>
            <a:r>
              <a:rPr lang="fr-FR" dirty="0" err="1">
                <a:solidFill>
                  <a:schemeClr val="accent1"/>
                </a:solidFill>
              </a:rPr>
              <a:t>compilers</a:t>
            </a:r>
            <a:r>
              <a:rPr lang="fr-FR" dirty="0">
                <a:solidFill>
                  <a:schemeClr val="accent1"/>
                </a:solidFill>
              </a:rPr>
              <a:t> </a:t>
            </a:r>
            <a:r>
              <a:rPr lang="fr-FR" dirty="0" err="1">
                <a:solidFill>
                  <a:schemeClr val="accent1"/>
                </a:solidFill>
              </a:rPr>
              <a:t>warn</a:t>
            </a:r>
            <a:endParaRPr lang="LID4096" dirty="0">
              <a:solidFill>
                <a:schemeClr val="accent1"/>
              </a:solidFill>
            </a:endParaRPr>
          </a:p>
        </p:txBody>
      </p:sp>
      <p:sp>
        <p:nvSpPr>
          <p:cNvPr id="11" name="TextBox 10">
            <a:extLst>
              <a:ext uri="{FF2B5EF4-FFF2-40B4-BE49-F238E27FC236}">
                <a16:creationId xmlns:a16="http://schemas.microsoft.com/office/drawing/2014/main" id="{84A9CCE4-ED7D-DFCA-FF7A-A26F87ACF29C}"/>
              </a:ext>
            </a:extLst>
          </p:cNvPr>
          <p:cNvSpPr txBox="1"/>
          <p:nvPr/>
        </p:nvSpPr>
        <p:spPr>
          <a:xfrm>
            <a:off x="3250874" y="3105444"/>
            <a:ext cx="2457404" cy="369332"/>
          </a:xfrm>
          <a:prstGeom prst="rect">
            <a:avLst/>
          </a:prstGeom>
          <a:noFill/>
        </p:spPr>
        <p:txBody>
          <a:bodyPr wrap="none" rtlCol="0">
            <a:spAutoFit/>
          </a:bodyPr>
          <a:lstStyle/>
          <a:p>
            <a:r>
              <a:rPr lang="fr-FR" dirty="0" err="1">
                <a:solidFill>
                  <a:schemeClr val="accent1"/>
                </a:solidFill>
              </a:rPr>
              <a:t>error</a:t>
            </a:r>
            <a:r>
              <a:rPr lang="fr-FR" dirty="0">
                <a:solidFill>
                  <a:schemeClr val="accent1"/>
                </a:solidFill>
              </a:rPr>
              <a:t>: {} </a:t>
            </a:r>
            <a:r>
              <a:rPr lang="fr-FR" dirty="0" err="1">
                <a:solidFill>
                  <a:schemeClr val="accent1"/>
                </a:solidFill>
              </a:rPr>
              <a:t>doesn’t</a:t>
            </a:r>
            <a:r>
              <a:rPr lang="fr-FR" dirty="0">
                <a:solidFill>
                  <a:schemeClr val="accent1"/>
                </a:solidFill>
              </a:rPr>
              <a:t> </a:t>
            </a:r>
            <a:r>
              <a:rPr lang="fr-FR" dirty="0" err="1">
                <a:solidFill>
                  <a:schemeClr val="accent1"/>
                </a:solidFill>
              </a:rPr>
              <a:t>narrow</a:t>
            </a:r>
            <a:endParaRPr lang="LID4096" dirty="0">
              <a:solidFill>
                <a:schemeClr val="accent1"/>
              </a:solidFill>
            </a:endParaRPr>
          </a:p>
        </p:txBody>
      </p:sp>
      <p:sp>
        <p:nvSpPr>
          <p:cNvPr id="12" name="TextBox 11">
            <a:extLst>
              <a:ext uri="{FF2B5EF4-FFF2-40B4-BE49-F238E27FC236}">
                <a16:creationId xmlns:a16="http://schemas.microsoft.com/office/drawing/2014/main" id="{E5FA2E8C-0268-9906-8E39-391A71199B77}"/>
              </a:ext>
            </a:extLst>
          </p:cNvPr>
          <p:cNvSpPr txBox="1"/>
          <p:nvPr/>
        </p:nvSpPr>
        <p:spPr>
          <a:xfrm>
            <a:off x="3250874" y="3720776"/>
            <a:ext cx="5275419" cy="369332"/>
          </a:xfrm>
          <a:prstGeom prst="rect">
            <a:avLst/>
          </a:prstGeom>
          <a:noFill/>
        </p:spPr>
        <p:txBody>
          <a:bodyPr wrap="none" rtlCol="0">
            <a:spAutoFit/>
          </a:bodyPr>
          <a:lstStyle/>
          <a:p>
            <a:r>
              <a:rPr lang="en-US" dirty="0">
                <a:solidFill>
                  <a:schemeClr val="accent1"/>
                </a:solidFill>
              </a:rPr>
              <a:t>error: ={} doesn’t narrow (the redundant = is allowed)</a:t>
            </a:r>
            <a:endParaRPr lang="LID4096" dirty="0">
              <a:solidFill>
                <a:schemeClr val="accent1"/>
              </a:solidFill>
            </a:endParaRPr>
          </a:p>
        </p:txBody>
      </p:sp>
      <p:sp>
        <p:nvSpPr>
          <p:cNvPr id="13" name="TextBox 12">
            <a:extLst>
              <a:ext uri="{FF2B5EF4-FFF2-40B4-BE49-F238E27FC236}">
                <a16:creationId xmlns:a16="http://schemas.microsoft.com/office/drawing/2014/main" id="{73A8F38B-2618-FDAE-FBB0-73CCB1719DE4}"/>
              </a:ext>
            </a:extLst>
          </p:cNvPr>
          <p:cNvSpPr txBox="1"/>
          <p:nvPr/>
        </p:nvSpPr>
        <p:spPr>
          <a:xfrm>
            <a:off x="3250874" y="4318668"/>
            <a:ext cx="3151119" cy="369332"/>
          </a:xfrm>
          <a:prstGeom prst="rect">
            <a:avLst/>
          </a:prstGeom>
          <a:noFill/>
        </p:spPr>
        <p:txBody>
          <a:bodyPr wrap="none" rtlCol="0">
            <a:spAutoFit/>
          </a:bodyPr>
          <a:lstStyle/>
          <a:p>
            <a:r>
              <a:rPr lang="fr-FR" dirty="0" err="1">
                <a:solidFill>
                  <a:schemeClr val="accent1"/>
                </a:solidFill>
              </a:rPr>
              <a:t>narrows</a:t>
            </a:r>
            <a:r>
              <a:rPr lang="fr-FR" dirty="0">
                <a:solidFill>
                  <a:schemeClr val="accent1"/>
                </a:solidFill>
              </a:rPr>
              <a:t>, </a:t>
            </a:r>
            <a:r>
              <a:rPr lang="fr-FR" dirty="0" err="1">
                <a:solidFill>
                  <a:schemeClr val="accent1"/>
                </a:solidFill>
              </a:rPr>
              <a:t>some</a:t>
            </a:r>
            <a:r>
              <a:rPr lang="fr-FR" dirty="0">
                <a:solidFill>
                  <a:schemeClr val="accent1"/>
                </a:solidFill>
              </a:rPr>
              <a:t> </a:t>
            </a:r>
            <a:r>
              <a:rPr lang="fr-FR" dirty="0" err="1">
                <a:solidFill>
                  <a:schemeClr val="accent1"/>
                </a:solidFill>
              </a:rPr>
              <a:t>compilers</a:t>
            </a:r>
            <a:r>
              <a:rPr lang="fr-FR" dirty="0">
                <a:solidFill>
                  <a:schemeClr val="accent1"/>
                </a:solidFill>
              </a:rPr>
              <a:t> </a:t>
            </a:r>
            <a:r>
              <a:rPr lang="fr-FR" dirty="0" err="1">
                <a:solidFill>
                  <a:schemeClr val="accent1"/>
                </a:solidFill>
              </a:rPr>
              <a:t>warn</a:t>
            </a:r>
            <a:endParaRPr lang="LID4096" dirty="0">
              <a:solidFill>
                <a:schemeClr val="accent1"/>
              </a:solidFill>
            </a:endParaRPr>
          </a:p>
        </p:txBody>
      </p:sp>
    </p:spTree>
    <p:extLst>
      <p:ext uri="{BB962C8B-B14F-4D97-AF65-F5344CB8AC3E}">
        <p14:creationId xmlns:p14="http://schemas.microsoft.com/office/powerpoint/2010/main" val="15134215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948FB-9D19-5073-AEF6-DC6165DEF42C}"/>
              </a:ext>
            </a:extLst>
          </p:cNvPr>
          <p:cNvSpPr>
            <a:spLocks noGrp="1"/>
          </p:cNvSpPr>
          <p:nvPr>
            <p:ph type="title"/>
          </p:nvPr>
        </p:nvSpPr>
        <p:spPr/>
        <p:txBody>
          <a:bodyPr/>
          <a:lstStyle/>
          <a:p>
            <a:r>
              <a:rPr lang="en-US" dirty="0"/>
              <a:t>Key Takeaways</a:t>
            </a:r>
            <a:endParaRPr lang="en-PK" dirty="0"/>
          </a:p>
        </p:txBody>
      </p:sp>
      <p:sp>
        <p:nvSpPr>
          <p:cNvPr id="3" name="Content Placeholder 2">
            <a:extLst>
              <a:ext uri="{FF2B5EF4-FFF2-40B4-BE49-F238E27FC236}">
                <a16:creationId xmlns:a16="http://schemas.microsoft.com/office/drawing/2014/main" id="{91B32926-7018-32E6-5DE2-BD6F9B1146A4}"/>
              </a:ext>
            </a:extLst>
          </p:cNvPr>
          <p:cNvSpPr>
            <a:spLocks noGrp="1"/>
          </p:cNvSpPr>
          <p:nvPr>
            <p:ph idx="1"/>
          </p:nvPr>
        </p:nvSpPr>
        <p:spPr/>
        <p:txBody>
          <a:bodyPr/>
          <a:lstStyle/>
          <a:p>
            <a:r>
              <a:rPr lang="en-US" dirty="0"/>
              <a:t>List Initialization {}: This is the safest way to initialize variables in C++ if you want to avoid narrowing conversions. The compiler will give an error if narrowing would occur.</a:t>
            </a:r>
          </a:p>
          <a:p>
            <a:r>
              <a:rPr lang="en-US" dirty="0"/>
              <a:t>Other Forms (=, (), and direct assignment): These allow narrowing conversions, and some compilers might issue warnings, but they won't prevent the conversion.</a:t>
            </a:r>
            <a:endParaRPr lang="en-PK" dirty="0"/>
          </a:p>
        </p:txBody>
      </p:sp>
    </p:spTree>
    <p:extLst>
      <p:ext uri="{BB962C8B-B14F-4D97-AF65-F5344CB8AC3E}">
        <p14:creationId xmlns:p14="http://schemas.microsoft.com/office/powerpoint/2010/main" val="32325192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B3038-901D-FE43-B57D-41A6999B9B54}"/>
              </a:ext>
            </a:extLst>
          </p:cNvPr>
          <p:cNvSpPr>
            <a:spLocks noGrp="1"/>
          </p:cNvSpPr>
          <p:nvPr>
            <p:ph type="title"/>
          </p:nvPr>
        </p:nvSpPr>
        <p:spPr/>
        <p:txBody>
          <a:bodyPr/>
          <a:lstStyle/>
          <a:p>
            <a:r>
              <a:rPr lang="en-US" dirty="0"/>
              <a:t>Type deduction: </a:t>
            </a:r>
            <a:r>
              <a:rPr lang="en-US" dirty="0">
                <a:latin typeface="Consolas" panose="020B0609020204030204" pitchFamily="49" charset="0"/>
              </a:rPr>
              <a:t>auto</a:t>
            </a:r>
            <a:endParaRPr lang="LID4096" dirty="0">
              <a:latin typeface="Consolas" panose="020B0609020204030204" pitchFamily="49" charset="0"/>
            </a:endParaRPr>
          </a:p>
        </p:txBody>
      </p:sp>
      <p:sp>
        <p:nvSpPr>
          <p:cNvPr id="4" name="TextBox 3">
            <a:extLst>
              <a:ext uri="{FF2B5EF4-FFF2-40B4-BE49-F238E27FC236}">
                <a16:creationId xmlns:a16="http://schemas.microsoft.com/office/drawing/2014/main" id="{6DC67F1A-4AF7-7DE0-8809-4AB1B4EE5446}"/>
              </a:ext>
            </a:extLst>
          </p:cNvPr>
          <p:cNvSpPr txBox="1"/>
          <p:nvPr/>
        </p:nvSpPr>
        <p:spPr>
          <a:xfrm>
            <a:off x="838200" y="1797886"/>
            <a:ext cx="5438775" cy="461665"/>
          </a:xfrm>
          <a:prstGeom prst="rect">
            <a:avLst/>
          </a:prstGeom>
          <a:solidFill>
            <a:schemeClr val="bg2">
              <a:lumMod val="90000"/>
              <a:alpha val="50000"/>
            </a:schemeClr>
          </a:solidFill>
        </p:spPr>
        <p:txBody>
          <a:bodyPr wrap="square" rtlCol="0">
            <a:spAutoFit/>
          </a:bodyPr>
          <a:lstStyle/>
          <a:p>
            <a:r>
              <a:rPr lang="en-US" sz="2400" dirty="0"/>
              <a:t>Can avoid repetitiveness in definitions</a:t>
            </a:r>
          </a:p>
        </p:txBody>
      </p:sp>
      <p:sp>
        <p:nvSpPr>
          <p:cNvPr id="5" name="TextBox 4">
            <a:extLst>
              <a:ext uri="{FF2B5EF4-FFF2-40B4-BE49-F238E27FC236}">
                <a16:creationId xmlns:a16="http://schemas.microsoft.com/office/drawing/2014/main" id="{0EC1EE3B-850D-57C4-1ABC-D45BD2E023D1}"/>
              </a:ext>
            </a:extLst>
          </p:cNvPr>
          <p:cNvSpPr txBox="1"/>
          <p:nvPr/>
        </p:nvSpPr>
        <p:spPr>
          <a:xfrm>
            <a:off x="838200" y="2366749"/>
            <a:ext cx="2598770" cy="646331"/>
          </a:xfrm>
          <a:prstGeom prst="rect">
            <a:avLst/>
          </a:prstGeom>
          <a:solidFill>
            <a:schemeClr val="accent1">
              <a:lumMod val="20000"/>
              <a:lumOff val="80000"/>
              <a:alpha val="50000"/>
            </a:schemeClr>
          </a:solidFill>
        </p:spPr>
        <p:txBody>
          <a:bodyPr wrap="square" rtlCol="0">
            <a:spAutoFit/>
          </a:bodyPr>
          <a:lstStyle/>
          <a:p>
            <a:r>
              <a:rPr lang="fr-FR" dirty="0" err="1">
                <a:latin typeface="Consolas" panose="020B0609020204030204" pitchFamily="49" charset="0"/>
              </a:rPr>
              <a:t>int</a:t>
            </a:r>
            <a:r>
              <a:rPr lang="fr-FR" dirty="0">
                <a:latin typeface="Consolas" panose="020B0609020204030204" pitchFamily="49" charset="0"/>
              </a:rPr>
              <a:t> x = 7;</a:t>
            </a:r>
          </a:p>
          <a:p>
            <a:r>
              <a:rPr lang="fr-FR" dirty="0">
                <a:latin typeface="Consolas" panose="020B0609020204030204" pitchFamily="49" charset="0"/>
              </a:rPr>
              <a:t>double d = 7.7;</a:t>
            </a:r>
            <a:endParaRPr lang="en-PK" dirty="0">
              <a:latin typeface="Consolas" panose="020B0609020204030204" pitchFamily="49" charset="0"/>
            </a:endParaRPr>
          </a:p>
        </p:txBody>
      </p:sp>
      <p:sp>
        <p:nvSpPr>
          <p:cNvPr id="6" name="TextBox 5">
            <a:extLst>
              <a:ext uri="{FF2B5EF4-FFF2-40B4-BE49-F238E27FC236}">
                <a16:creationId xmlns:a16="http://schemas.microsoft.com/office/drawing/2014/main" id="{93C8CE8E-96DC-18EF-D678-9395E3EBCEF1}"/>
              </a:ext>
            </a:extLst>
          </p:cNvPr>
          <p:cNvSpPr txBox="1"/>
          <p:nvPr/>
        </p:nvSpPr>
        <p:spPr>
          <a:xfrm>
            <a:off x="838200" y="3120278"/>
            <a:ext cx="8567057" cy="461665"/>
          </a:xfrm>
          <a:prstGeom prst="rect">
            <a:avLst/>
          </a:prstGeom>
          <a:solidFill>
            <a:schemeClr val="bg2">
              <a:alpha val="50000"/>
            </a:schemeClr>
          </a:solidFill>
        </p:spPr>
        <p:txBody>
          <a:bodyPr wrap="square" rtlCol="0">
            <a:spAutoFit/>
          </a:bodyPr>
          <a:lstStyle/>
          <a:p>
            <a:r>
              <a:rPr lang="en-US" sz="2400" dirty="0"/>
              <a:t>Let the compiler deduce the type from the type of the initializer</a:t>
            </a:r>
          </a:p>
        </p:txBody>
      </p:sp>
      <p:sp>
        <p:nvSpPr>
          <p:cNvPr id="7" name="TextBox 6">
            <a:extLst>
              <a:ext uri="{FF2B5EF4-FFF2-40B4-BE49-F238E27FC236}">
                <a16:creationId xmlns:a16="http://schemas.microsoft.com/office/drawing/2014/main" id="{E96B69B4-F726-8654-D59A-13838E5402E2}"/>
              </a:ext>
            </a:extLst>
          </p:cNvPr>
          <p:cNvSpPr txBox="1"/>
          <p:nvPr/>
        </p:nvSpPr>
        <p:spPr>
          <a:xfrm>
            <a:off x="3854517" y="2420348"/>
            <a:ext cx="1537600" cy="646331"/>
          </a:xfrm>
          <a:prstGeom prst="rect">
            <a:avLst/>
          </a:prstGeom>
          <a:noFill/>
        </p:spPr>
        <p:txBody>
          <a:bodyPr wrap="none" rtlCol="0">
            <a:spAutoFit/>
          </a:bodyPr>
          <a:lstStyle/>
          <a:p>
            <a:r>
              <a:rPr lang="en-US" dirty="0">
                <a:solidFill>
                  <a:schemeClr val="accent1"/>
                </a:solidFill>
              </a:rPr>
              <a:t>7 is </a:t>
            </a:r>
            <a:r>
              <a:rPr lang="en-US" dirty="0">
                <a:solidFill>
                  <a:schemeClr val="accent1"/>
                </a:solidFill>
                <a:latin typeface="Consolas" panose="020B0609020204030204" pitchFamily="49" charset="0"/>
              </a:rPr>
              <a:t>int</a:t>
            </a:r>
            <a:br>
              <a:rPr lang="en-US" dirty="0">
                <a:solidFill>
                  <a:schemeClr val="accent1"/>
                </a:solidFill>
              </a:rPr>
            </a:br>
            <a:r>
              <a:rPr lang="en-US" dirty="0">
                <a:solidFill>
                  <a:schemeClr val="accent1"/>
                </a:solidFill>
              </a:rPr>
              <a:t>7.7 is </a:t>
            </a:r>
            <a:r>
              <a:rPr lang="en-US" dirty="0">
                <a:solidFill>
                  <a:schemeClr val="accent1"/>
                </a:solidFill>
                <a:latin typeface="Consolas" panose="020B0609020204030204" pitchFamily="49" charset="0"/>
              </a:rPr>
              <a:t>double</a:t>
            </a:r>
            <a:endParaRPr lang="LID4096" dirty="0">
              <a:solidFill>
                <a:schemeClr val="accent1"/>
              </a:solidFill>
              <a:latin typeface="Consolas" panose="020B0609020204030204" pitchFamily="49" charset="0"/>
            </a:endParaRPr>
          </a:p>
        </p:txBody>
      </p:sp>
      <p:sp>
        <p:nvSpPr>
          <p:cNvPr id="8" name="TextBox 7">
            <a:extLst>
              <a:ext uri="{FF2B5EF4-FFF2-40B4-BE49-F238E27FC236}">
                <a16:creationId xmlns:a16="http://schemas.microsoft.com/office/drawing/2014/main" id="{8257F97A-9F28-15E9-D525-EADB31A6DF98}"/>
              </a:ext>
            </a:extLst>
          </p:cNvPr>
          <p:cNvSpPr txBox="1"/>
          <p:nvPr/>
        </p:nvSpPr>
        <p:spPr>
          <a:xfrm>
            <a:off x="838200" y="3689141"/>
            <a:ext cx="2598770" cy="646331"/>
          </a:xfrm>
          <a:prstGeom prst="rect">
            <a:avLst/>
          </a:prstGeom>
          <a:solidFill>
            <a:schemeClr val="accent1">
              <a:lumMod val="20000"/>
              <a:lumOff val="80000"/>
              <a:alpha val="50000"/>
            </a:schemeClr>
          </a:solidFill>
        </p:spPr>
        <p:txBody>
          <a:bodyPr wrap="square" rtlCol="0">
            <a:spAutoFit/>
          </a:bodyPr>
          <a:lstStyle/>
          <a:p>
            <a:r>
              <a:rPr lang="fr-FR" dirty="0">
                <a:latin typeface="Consolas" panose="020B0609020204030204" pitchFamily="49" charset="0"/>
              </a:rPr>
              <a:t>auto x = 7;</a:t>
            </a:r>
          </a:p>
          <a:p>
            <a:r>
              <a:rPr lang="fr-FR" dirty="0">
                <a:latin typeface="Consolas" panose="020B0609020204030204" pitchFamily="49" charset="0"/>
              </a:rPr>
              <a:t>auto d = 7.7;</a:t>
            </a:r>
            <a:endParaRPr lang="en-PK" dirty="0">
              <a:latin typeface="Consolas" panose="020B0609020204030204" pitchFamily="49" charset="0"/>
            </a:endParaRPr>
          </a:p>
        </p:txBody>
      </p:sp>
      <p:sp>
        <p:nvSpPr>
          <p:cNvPr id="9" name="TextBox 8">
            <a:extLst>
              <a:ext uri="{FF2B5EF4-FFF2-40B4-BE49-F238E27FC236}">
                <a16:creationId xmlns:a16="http://schemas.microsoft.com/office/drawing/2014/main" id="{6C46D81A-1E8E-8426-9CA9-82AA78D85251}"/>
              </a:ext>
            </a:extLst>
          </p:cNvPr>
          <p:cNvSpPr txBox="1"/>
          <p:nvPr/>
        </p:nvSpPr>
        <p:spPr>
          <a:xfrm>
            <a:off x="3854517" y="3742740"/>
            <a:ext cx="2989601" cy="646331"/>
          </a:xfrm>
          <a:prstGeom prst="rect">
            <a:avLst/>
          </a:prstGeom>
          <a:noFill/>
        </p:spPr>
        <p:txBody>
          <a:bodyPr wrap="none" rtlCol="0">
            <a:spAutoFit/>
          </a:bodyPr>
          <a:lstStyle/>
          <a:p>
            <a:r>
              <a:rPr lang="en-US" dirty="0">
                <a:solidFill>
                  <a:schemeClr val="accent1"/>
                </a:solidFill>
              </a:rPr>
              <a:t>x is </a:t>
            </a:r>
            <a:r>
              <a:rPr lang="en-US" dirty="0">
                <a:solidFill>
                  <a:schemeClr val="accent1"/>
                </a:solidFill>
                <a:latin typeface="Consolas" panose="020B0609020204030204" pitchFamily="49" charset="0"/>
              </a:rPr>
              <a:t>int</a:t>
            </a:r>
            <a:r>
              <a:rPr lang="en-US" dirty="0">
                <a:solidFill>
                  <a:schemeClr val="accent1"/>
                </a:solidFill>
              </a:rPr>
              <a:t> (because 7 is)</a:t>
            </a:r>
            <a:br>
              <a:rPr lang="en-US" dirty="0">
                <a:solidFill>
                  <a:schemeClr val="accent1"/>
                </a:solidFill>
              </a:rPr>
            </a:br>
            <a:r>
              <a:rPr lang="en-US" dirty="0">
                <a:solidFill>
                  <a:schemeClr val="accent1"/>
                </a:solidFill>
              </a:rPr>
              <a:t>7.7 is </a:t>
            </a:r>
            <a:r>
              <a:rPr lang="en-US" dirty="0">
                <a:solidFill>
                  <a:schemeClr val="accent1"/>
                </a:solidFill>
                <a:latin typeface="Consolas" panose="020B0609020204030204" pitchFamily="49" charset="0"/>
              </a:rPr>
              <a:t>double</a:t>
            </a:r>
            <a:r>
              <a:rPr lang="en-US" dirty="0">
                <a:solidFill>
                  <a:schemeClr val="accent1"/>
                </a:solidFill>
              </a:rPr>
              <a:t> (because 7.7 is)</a:t>
            </a:r>
            <a:endParaRPr lang="LID4096" dirty="0">
              <a:solidFill>
                <a:schemeClr val="accent1"/>
              </a:solidFill>
            </a:endParaRPr>
          </a:p>
        </p:txBody>
      </p:sp>
      <p:sp>
        <p:nvSpPr>
          <p:cNvPr id="10" name="TextBox 9">
            <a:extLst>
              <a:ext uri="{FF2B5EF4-FFF2-40B4-BE49-F238E27FC236}">
                <a16:creationId xmlns:a16="http://schemas.microsoft.com/office/drawing/2014/main" id="{CBB4DABE-40A0-8EF4-0A40-B164C6941170}"/>
              </a:ext>
            </a:extLst>
          </p:cNvPr>
          <p:cNvSpPr txBox="1"/>
          <p:nvPr/>
        </p:nvSpPr>
        <p:spPr>
          <a:xfrm>
            <a:off x="838199" y="4496269"/>
            <a:ext cx="8567057" cy="1200329"/>
          </a:xfrm>
          <a:prstGeom prst="rect">
            <a:avLst/>
          </a:prstGeom>
          <a:solidFill>
            <a:schemeClr val="bg2">
              <a:alpha val="50000"/>
            </a:schemeClr>
          </a:solidFill>
        </p:spPr>
        <p:txBody>
          <a:bodyPr wrap="square" rtlCol="0">
            <a:spAutoFit/>
          </a:bodyPr>
          <a:lstStyle/>
          <a:p>
            <a:r>
              <a:rPr lang="en-US" sz="2400" dirty="0"/>
              <a:t>Use </a:t>
            </a:r>
            <a:r>
              <a:rPr lang="en-US" sz="2400" dirty="0">
                <a:latin typeface="Consolas" panose="020B0609020204030204" pitchFamily="49" charset="0"/>
              </a:rPr>
              <a:t>auto</a:t>
            </a:r>
            <a:r>
              <a:rPr lang="en-US" sz="2400" dirty="0"/>
              <a:t> when, and only when, </a:t>
            </a:r>
          </a:p>
          <a:p>
            <a:pPr marL="342900" indent="-342900">
              <a:buFont typeface="Arial" panose="020B0604020202020204" pitchFamily="34" charset="0"/>
              <a:buChar char="•"/>
            </a:pPr>
            <a:r>
              <a:rPr lang="en-US" sz="2400" dirty="0"/>
              <a:t>the type is obvious from the initializer </a:t>
            </a:r>
          </a:p>
          <a:p>
            <a:pPr marL="342900" indent="-342900">
              <a:buFont typeface="Arial" panose="020B0604020202020204" pitchFamily="34" charset="0"/>
              <a:buChar char="•"/>
            </a:pPr>
            <a:r>
              <a:rPr lang="en-US" sz="2400" dirty="0"/>
              <a:t>we don’t want any conversion.</a:t>
            </a:r>
          </a:p>
        </p:txBody>
      </p:sp>
    </p:spTree>
    <p:extLst>
      <p:ext uri="{BB962C8B-B14F-4D97-AF65-F5344CB8AC3E}">
        <p14:creationId xmlns:p14="http://schemas.microsoft.com/office/powerpoint/2010/main" val="23794719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60C357C4-C054-95EB-D827-248F2AE32B25}"/>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5100" kern="1200">
                <a:solidFill>
                  <a:schemeClr val="tx1"/>
                </a:solidFill>
                <a:latin typeface="+mj-lt"/>
                <a:ea typeface="+mj-ea"/>
                <a:cs typeface="+mj-cs"/>
              </a:rPr>
              <a:t>Conditionals</a:t>
            </a:r>
          </a:p>
        </p:txBody>
      </p:sp>
      <p:sp>
        <p:nvSpPr>
          <p:cNvPr id="5" name="Text Placeholder 4">
            <a:extLst>
              <a:ext uri="{FF2B5EF4-FFF2-40B4-BE49-F238E27FC236}">
                <a16:creationId xmlns:a16="http://schemas.microsoft.com/office/drawing/2014/main" id="{0587C85B-DE44-7E74-19F0-499A80E8762A}"/>
              </a:ext>
            </a:extLst>
          </p:cNvPr>
          <p:cNvSpPr>
            <a:spLocks noGrp="1"/>
          </p:cNvSpPr>
          <p:nvPr>
            <p:ph type="body" idx="1"/>
          </p:nvPr>
        </p:nvSpPr>
        <p:spPr>
          <a:xfrm>
            <a:off x="638882" y="4631161"/>
            <a:ext cx="3571810" cy="1559327"/>
          </a:xfrm>
        </p:spPr>
        <p:txBody>
          <a:bodyPr vert="horz" lIns="91440" tIns="45720" rIns="91440" bIns="45720" rtlCol="0">
            <a:normAutofit/>
          </a:bodyPr>
          <a:lstStyle/>
          <a:p>
            <a:r>
              <a:rPr lang="en-US" kern="1200" dirty="0">
                <a:solidFill>
                  <a:schemeClr val="tx1"/>
                </a:solidFill>
                <a:latin typeface="+mn-lt"/>
                <a:ea typeface="+mn-ea"/>
                <a:cs typeface="+mn-cs"/>
              </a:rPr>
              <a:t>The </a:t>
            </a:r>
            <a:r>
              <a:rPr lang="en-US" kern="1200" dirty="0">
                <a:solidFill>
                  <a:schemeClr val="tx1"/>
                </a:solidFill>
                <a:latin typeface="Consolas" panose="020B0609020204030204" pitchFamily="49" charset="0"/>
              </a:rPr>
              <a:t>if</a:t>
            </a:r>
            <a:r>
              <a:rPr lang="en-US" kern="1200" dirty="0">
                <a:solidFill>
                  <a:schemeClr val="tx1"/>
                </a:solidFill>
                <a:latin typeface="+mn-lt"/>
                <a:ea typeface="+mn-ea"/>
                <a:cs typeface="+mn-cs"/>
              </a:rPr>
              <a:t> statement</a:t>
            </a:r>
          </a:p>
        </p:txBody>
      </p:sp>
      <p:sp>
        <p:nvSpPr>
          <p:cNvPr id="14"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person standing on a crossroad">
            <a:extLst>
              <a:ext uri="{FF2B5EF4-FFF2-40B4-BE49-F238E27FC236}">
                <a16:creationId xmlns:a16="http://schemas.microsoft.com/office/drawing/2014/main" id="{01B7956C-C780-85A2-B481-C0A4BEC83F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54296" y="1088570"/>
            <a:ext cx="7214616" cy="4653427"/>
          </a:xfrm>
          <a:prstGeom prst="rect">
            <a:avLst/>
          </a:prstGeom>
        </p:spPr>
      </p:pic>
    </p:spTree>
    <p:extLst>
      <p:ext uri="{BB962C8B-B14F-4D97-AF65-F5344CB8AC3E}">
        <p14:creationId xmlns:p14="http://schemas.microsoft.com/office/powerpoint/2010/main" val="9144351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4B247-1B08-D852-E86B-B8DD3FD15413}"/>
              </a:ext>
            </a:extLst>
          </p:cNvPr>
          <p:cNvSpPr>
            <a:spLocks noGrp="1"/>
          </p:cNvSpPr>
          <p:nvPr>
            <p:ph type="title"/>
          </p:nvPr>
        </p:nvSpPr>
        <p:spPr/>
        <p:txBody>
          <a:bodyPr/>
          <a:lstStyle/>
          <a:p>
            <a:r>
              <a:rPr lang="en-US" dirty="0"/>
              <a:t>Nested Ternary Operator</a:t>
            </a:r>
            <a:endParaRPr lang="en-PK" dirty="0"/>
          </a:p>
        </p:txBody>
      </p:sp>
      <p:sp>
        <p:nvSpPr>
          <p:cNvPr id="3" name="Content Placeholder 2">
            <a:extLst>
              <a:ext uri="{FF2B5EF4-FFF2-40B4-BE49-F238E27FC236}">
                <a16:creationId xmlns:a16="http://schemas.microsoft.com/office/drawing/2014/main" id="{810CC8BF-5415-9153-BD6D-1EFFD8BD7ADB}"/>
              </a:ext>
            </a:extLst>
          </p:cNvPr>
          <p:cNvSpPr>
            <a:spLocks noGrp="1"/>
          </p:cNvSpPr>
          <p:nvPr>
            <p:ph idx="1"/>
          </p:nvPr>
        </p:nvSpPr>
        <p:spPr/>
        <p:txBody>
          <a:bodyPr>
            <a:normAutofit fontScale="77500" lnSpcReduction="20000"/>
          </a:bodyPr>
          <a:lstStyle/>
          <a:p>
            <a:pPr marL="0" indent="0">
              <a:buNone/>
            </a:pPr>
            <a:r>
              <a:rPr lang="en-US" dirty="0"/>
              <a:t>#include &lt;iostream&gt;</a:t>
            </a:r>
          </a:p>
          <a:p>
            <a:pPr marL="0" indent="0">
              <a:buNone/>
            </a:pPr>
            <a:endParaRPr lang="en-US" dirty="0"/>
          </a:p>
          <a:p>
            <a:pPr marL="0" indent="0">
              <a:buNone/>
            </a:pPr>
            <a:r>
              <a:rPr lang="en-US" dirty="0"/>
              <a:t>int main() {</a:t>
            </a:r>
          </a:p>
          <a:p>
            <a:pPr marL="0" indent="0">
              <a:buNone/>
            </a:pPr>
            <a:r>
              <a:rPr lang="en-US" dirty="0"/>
              <a:t>    int number;</a:t>
            </a:r>
          </a:p>
          <a:p>
            <a:pPr marL="0" indent="0">
              <a:buNone/>
            </a:pPr>
            <a:r>
              <a:rPr lang="en-US" dirty="0"/>
              <a:t>    std::</a:t>
            </a:r>
            <a:r>
              <a:rPr lang="en-US" dirty="0" err="1"/>
              <a:t>cout</a:t>
            </a:r>
            <a:r>
              <a:rPr lang="en-US" dirty="0"/>
              <a:t> &lt;&lt; "Enter a number: ";</a:t>
            </a:r>
          </a:p>
          <a:p>
            <a:pPr marL="0" indent="0">
              <a:buNone/>
            </a:pPr>
            <a:r>
              <a:rPr lang="en-US" dirty="0"/>
              <a:t>    std::</a:t>
            </a:r>
            <a:r>
              <a:rPr lang="en-US" dirty="0" err="1"/>
              <a:t>cin</a:t>
            </a:r>
            <a:r>
              <a:rPr lang="en-US" dirty="0"/>
              <a:t> &gt;&gt; number;</a:t>
            </a:r>
          </a:p>
          <a:p>
            <a:pPr marL="0" indent="0">
              <a:buNone/>
            </a:pPr>
            <a:endParaRPr lang="en-US" dirty="0"/>
          </a:p>
          <a:p>
            <a:pPr marL="0" indent="0">
              <a:buNone/>
            </a:pPr>
            <a:r>
              <a:rPr lang="en-US" dirty="0"/>
              <a:t>    std::</a:t>
            </a:r>
            <a:r>
              <a:rPr lang="en-US" dirty="0" err="1"/>
              <a:t>cout</a:t>
            </a:r>
            <a:r>
              <a:rPr lang="en-US" dirty="0"/>
              <a:t> &lt;&lt; (number &gt; 0 ? "Positive" : (number &lt; 0 ? "Negative" : "Zero")) &lt;&lt; std::</a:t>
            </a:r>
            <a:r>
              <a:rPr lang="en-US" dirty="0" err="1"/>
              <a:t>endl</a:t>
            </a:r>
            <a:r>
              <a:rPr lang="en-US" dirty="0"/>
              <a:t>;</a:t>
            </a:r>
          </a:p>
          <a:p>
            <a:pPr marL="0" indent="0">
              <a:buNone/>
            </a:pPr>
            <a:endParaRPr lang="en-US" dirty="0"/>
          </a:p>
          <a:p>
            <a:pPr marL="0" indent="0">
              <a:buNone/>
            </a:pPr>
            <a:r>
              <a:rPr lang="en-US" dirty="0"/>
              <a:t>    return 0;</a:t>
            </a:r>
          </a:p>
          <a:p>
            <a:pPr marL="0" indent="0">
              <a:buNone/>
            </a:pPr>
            <a:r>
              <a:rPr lang="en-US" dirty="0"/>
              <a:t>}</a:t>
            </a:r>
          </a:p>
          <a:p>
            <a:pPr marL="0" indent="0">
              <a:buNone/>
            </a:pPr>
            <a:endParaRPr lang="en-PK" dirty="0"/>
          </a:p>
        </p:txBody>
      </p:sp>
    </p:spTree>
    <p:extLst>
      <p:ext uri="{BB962C8B-B14F-4D97-AF65-F5344CB8AC3E}">
        <p14:creationId xmlns:p14="http://schemas.microsoft.com/office/powerpoint/2010/main" val="2652390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8E4AA-C7B1-0D75-CD5E-53ED7DDFC042}"/>
              </a:ext>
            </a:extLst>
          </p:cNvPr>
          <p:cNvSpPr>
            <a:spLocks noGrp="1"/>
          </p:cNvSpPr>
          <p:nvPr>
            <p:ph type="title"/>
          </p:nvPr>
        </p:nvSpPr>
        <p:spPr/>
        <p:txBody>
          <a:bodyPr/>
          <a:lstStyle/>
          <a:p>
            <a:r>
              <a:rPr lang="en-US" dirty="0"/>
              <a:t>The </a:t>
            </a:r>
            <a:r>
              <a:rPr lang="en-US" dirty="0">
                <a:latin typeface="Consolas" panose="020B0609020204030204" pitchFamily="49" charset="0"/>
              </a:rPr>
              <a:t>if</a:t>
            </a:r>
            <a:r>
              <a:rPr lang="en-US" dirty="0"/>
              <a:t> statement</a:t>
            </a:r>
            <a:endParaRPr lang="en-PK" dirty="0"/>
          </a:p>
        </p:txBody>
      </p:sp>
      <p:sp>
        <p:nvSpPr>
          <p:cNvPr id="3" name="Content Placeholder 2">
            <a:extLst>
              <a:ext uri="{FF2B5EF4-FFF2-40B4-BE49-F238E27FC236}">
                <a16:creationId xmlns:a16="http://schemas.microsoft.com/office/drawing/2014/main" id="{9FC36353-049F-111A-FF47-F4C8D386E9EE}"/>
              </a:ext>
            </a:extLst>
          </p:cNvPr>
          <p:cNvSpPr>
            <a:spLocks noGrp="1"/>
          </p:cNvSpPr>
          <p:nvPr>
            <p:ph idx="1"/>
          </p:nvPr>
        </p:nvSpPr>
        <p:spPr>
          <a:xfrm>
            <a:off x="838200" y="1530350"/>
            <a:ext cx="10515600" cy="1527175"/>
          </a:xfrm>
        </p:spPr>
        <p:txBody>
          <a:bodyPr>
            <a:normAutofit fontScale="85000" lnSpcReduction="20000"/>
          </a:bodyPr>
          <a:lstStyle/>
          <a:p>
            <a:pPr marL="0" indent="0">
              <a:buNone/>
            </a:pPr>
            <a:r>
              <a:rPr lang="en-US" dirty="0"/>
              <a:t>Execute certain statements depending on the values of certain variables.</a:t>
            </a:r>
          </a:p>
          <a:p>
            <a:r>
              <a:rPr lang="en-US" dirty="0"/>
              <a:t>Evaluate a </a:t>
            </a:r>
            <a:r>
              <a:rPr lang="en-US" dirty="0" err="1"/>
              <a:t>boolean</a:t>
            </a:r>
            <a:r>
              <a:rPr lang="en-US" dirty="0"/>
              <a:t> expression.</a:t>
            </a:r>
          </a:p>
          <a:p>
            <a:r>
              <a:rPr lang="en-US" dirty="0"/>
              <a:t>If </a:t>
            </a:r>
            <a:r>
              <a:rPr lang="en-US" dirty="0">
                <a:latin typeface="Consolas" panose="020B0609020204030204" pitchFamily="49" charset="0"/>
              </a:rPr>
              <a:t>true</a:t>
            </a:r>
            <a:r>
              <a:rPr lang="en-US" dirty="0"/>
              <a:t>, execute a statement.</a:t>
            </a:r>
          </a:p>
          <a:p>
            <a:r>
              <a:rPr lang="en-US" dirty="0"/>
              <a:t>The </a:t>
            </a:r>
            <a:r>
              <a:rPr lang="en-US" dirty="0">
                <a:solidFill>
                  <a:schemeClr val="accent1"/>
                </a:solidFill>
                <a:latin typeface="Consolas" panose="020B0609020204030204" pitchFamily="49" charset="0"/>
              </a:rPr>
              <a:t>else</a:t>
            </a:r>
            <a:r>
              <a:rPr lang="en-US" dirty="0">
                <a:solidFill>
                  <a:schemeClr val="accent1"/>
                </a:solidFill>
              </a:rPr>
              <a:t> option</a:t>
            </a:r>
            <a:r>
              <a:rPr lang="en-US" dirty="0"/>
              <a:t>: If </a:t>
            </a:r>
            <a:r>
              <a:rPr lang="en-US" dirty="0">
                <a:latin typeface="Consolas" panose="020B0609020204030204" pitchFamily="49" charset="0"/>
              </a:rPr>
              <a:t>false</a:t>
            </a:r>
            <a:r>
              <a:rPr lang="en-US" dirty="0"/>
              <a:t>, execute a different statement.</a:t>
            </a:r>
            <a:endParaRPr lang="en-PK" dirty="0"/>
          </a:p>
        </p:txBody>
      </p:sp>
      <p:sp>
        <p:nvSpPr>
          <p:cNvPr id="4" name="TextBox 3">
            <a:extLst>
              <a:ext uri="{FF2B5EF4-FFF2-40B4-BE49-F238E27FC236}">
                <a16:creationId xmlns:a16="http://schemas.microsoft.com/office/drawing/2014/main" id="{E9BDFB09-67C5-6C56-C9A1-BA40170A0C12}"/>
              </a:ext>
            </a:extLst>
          </p:cNvPr>
          <p:cNvSpPr txBox="1"/>
          <p:nvPr/>
        </p:nvSpPr>
        <p:spPr>
          <a:xfrm>
            <a:off x="1162049" y="3409950"/>
            <a:ext cx="3495676" cy="369332"/>
          </a:xfrm>
          <a:prstGeom prst="rect">
            <a:avLst/>
          </a:prstGeom>
          <a:noFill/>
        </p:spPr>
        <p:txBody>
          <a:bodyPr wrap="square" rtlCol="0">
            <a:spAutoFit/>
          </a:bodyPr>
          <a:lstStyle/>
          <a:p>
            <a:r>
              <a:rPr lang="en-US" dirty="0">
                <a:solidFill>
                  <a:schemeClr val="accent1"/>
                </a:solidFill>
              </a:rPr>
              <a:t>Example: </a:t>
            </a:r>
            <a:r>
              <a:rPr lang="en-US" dirty="0">
                <a:latin typeface="Consolas" panose="020B0609020204030204" pitchFamily="49" charset="0"/>
              </a:rPr>
              <a:t>if (x &lt; 0) x = -x;</a:t>
            </a:r>
            <a:endParaRPr lang="en-PK" dirty="0">
              <a:latin typeface="Consolas" panose="020B0609020204030204" pitchFamily="49" charset="0"/>
            </a:endParaRPr>
          </a:p>
        </p:txBody>
      </p:sp>
      <p:sp>
        <p:nvSpPr>
          <p:cNvPr id="7" name="TextBox 6">
            <a:extLst>
              <a:ext uri="{FF2B5EF4-FFF2-40B4-BE49-F238E27FC236}">
                <a16:creationId xmlns:a16="http://schemas.microsoft.com/office/drawing/2014/main" id="{F2D41699-6B2E-7055-D433-64486420EED2}"/>
              </a:ext>
            </a:extLst>
          </p:cNvPr>
          <p:cNvSpPr txBox="1"/>
          <p:nvPr/>
        </p:nvSpPr>
        <p:spPr>
          <a:xfrm>
            <a:off x="6800849" y="3228975"/>
            <a:ext cx="3495676" cy="646331"/>
          </a:xfrm>
          <a:prstGeom prst="rect">
            <a:avLst/>
          </a:prstGeom>
          <a:noFill/>
        </p:spPr>
        <p:txBody>
          <a:bodyPr wrap="square" rtlCol="0">
            <a:spAutoFit/>
          </a:bodyPr>
          <a:lstStyle/>
          <a:p>
            <a:r>
              <a:rPr lang="en-US" dirty="0">
                <a:solidFill>
                  <a:schemeClr val="accent1"/>
                </a:solidFill>
              </a:rPr>
              <a:t>Example: </a:t>
            </a:r>
            <a:r>
              <a:rPr lang="en-US" dirty="0">
                <a:latin typeface="Consolas" panose="020B0609020204030204" pitchFamily="49" charset="0"/>
              </a:rPr>
              <a:t>if (x &gt; y) max = x;</a:t>
            </a:r>
          </a:p>
          <a:p>
            <a:r>
              <a:rPr lang="en-US" dirty="0">
                <a:latin typeface="Consolas" panose="020B0609020204030204" pitchFamily="49" charset="0"/>
              </a:rPr>
              <a:t>       else       max = y;</a:t>
            </a:r>
            <a:endParaRPr lang="en-PK" dirty="0">
              <a:latin typeface="Consolas" panose="020B0609020204030204" pitchFamily="49" charset="0"/>
            </a:endParaRPr>
          </a:p>
        </p:txBody>
      </p:sp>
      <p:sp>
        <p:nvSpPr>
          <p:cNvPr id="8" name="Flowchart: Decision 7">
            <a:extLst>
              <a:ext uri="{FF2B5EF4-FFF2-40B4-BE49-F238E27FC236}">
                <a16:creationId xmlns:a16="http://schemas.microsoft.com/office/drawing/2014/main" id="{D9256114-6372-817D-7A81-CC6EE12390E4}"/>
              </a:ext>
            </a:extLst>
          </p:cNvPr>
          <p:cNvSpPr/>
          <p:nvPr/>
        </p:nvSpPr>
        <p:spPr>
          <a:xfrm>
            <a:off x="2066437" y="4060359"/>
            <a:ext cx="1152526" cy="768221"/>
          </a:xfrm>
          <a:prstGeom prst="flowChartDecision">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dirty="0">
                <a:latin typeface="Consolas" panose="020B0609020204030204" pitchFamily="49" charset="0"/>
              </a:rPr>
              <a:t>x &lt; 0</a:t>
            </a:r>
            <a:endParaRPr lang="en-PK" sz="1400" dirty="0">
              <a:latin typeface="Consolas" panose="020B0609020204030204" pitchFamily="49" charset="0"/>
            </a:endParaRPr>
          </a:p>
        </p:txBody>
      </p:sp>
      <p:sp>
        <p:nvSpPr>
          <p:cNvPr id="10" name="Rectangle: Rounded Corners 9">
            <a:extLst>
              <a:ext uri="{FF2B5EF4-FFF2-40B4-BE49-F238E27FC236}">
                <a16:creationId xmlns:a16="http://schemas.microsoft.com/office/drawing/2014/main" id="{165F56EA-1D01-8BF7-856C-88D5DF6F4D5E}"/>
              </a:ext>
            </a:extLst>
          </p:cNvPr>
          <p:cNvSpPr/>
          <p:nvPr/>
        </p:nvSpPr>
        <p:spPr>
          <a:xfrm>
            <a:off x="722830" y="4896627"/>
            <a:ext cx="1343607" cy="34523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x = -x</a:t>
            </a:r>
            <a:endParaRPr lang="en-PK" sz="1400" dirty="0">
              <a:latin typeface="Consolas" panose="020B0609020204030204" pitchFamily="49" charset="0"/>
            </a:endParaRPr>
          </a:p>
        </p:txBody>
      </p:sp>
      <p:sp>
        <p:nvSpPr>
          <p:cNvPr id="19" name="TextBox 18">
            <a:extLst>
              <a:ext uri="{FF2B5EF4-FFF2-40B4-BE49-F238E27FC236}">
                <a16:creationId xmlns:a16="http://schemas.microsoft.com/office/drawing/2014/main" id="{67077C46-2C2E-13F3-C3F9-D50ABEB9F714}"/>
              </a:ext>
            </a:extLst>
          </p:cNvPr>
          <p:cNvSpPr txBox="1"/>
          <p:nvPr/>
        </p:nvSpPr>
        <p:spPr>
          <a:xfrm>
            <a:off x="894862" y="6139962"/>
            <a:ext cx="3495676" cy="369332"/>
          </a:xfrm>
          <a:prstGeom prst="rect">
            <a:avLst/>
          </a:prstGeom>
          <a:noFill/>
        </p:spPr>
        <p:txBody>
          <a:bodyPr wrap="square" rtlCol="0">
            <a:spAutoFit/>
          </a:bodyPr>
          <a:lstStyle/>
          <a:p>
            <a:pPr algn="ctr"/>
            <a:r>
              <a:rPr lang="en-US" dirty="0"/>
              <a:t>Replaces x with absolute value of x</a:t>
            </a:r>
            <a:endParaRPr lang="en-PK" dirty="0"/>
          </a:p>
        </p:txBody>
      </p:sp>
      <p:cxnSp>
        <p:nvCxnSpPr>
          <p:cNvPr id="21" name="Connector: Elbow 20">
            <a:extLst>
              <a:ext uri="{FF2B5EF4-FFF2-40B4-BE49-F238E27FC236}">
                <a16:creationId xmlns:a16="http://schemas.microsoft.com/office/drawing/2014/main" id="{65DF58C5-CC71-F7BD-0895-11CBD4D03E8E}"/>
              </a:ext>
            </a:extLst>
          </p:cNvPr>
          <p:cNvCxnSpPr>
            <a:stCxn id="8" idx="1"/>
            <a:endCxn id="10" idx="0"/>
          </p:cNvCxnSpPr>
          <p:nvPr/>
        </p:nvCxnSpPr>
        <p:spPr>
          <a:xfrm rot="10800000" flipV="1">
            <a:off x="1394635" y="4444469"/>
            <a:ext cx="671803" cy="45215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35BF3CF4-F03D-F26C-B995-AAFCD2E13BD3}"/>
              </a:ext>
            </a:extLst>
          </p:cNvPr>
          <p:cNvSpPr/>
          <p:nvPr/>
        </p:nvSpPr>
        <p:spPr>
          <a:xfrm>
            <a:off x="2642700" y="5884899"/>
            <a:ext cx="76200" cy="95842"/>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25" name="Oval 24">
            <a:extLst>
              <a:ext uri="{FF2B5EF4-FFF2-40B4-BE49-F238E27FC236}">
                <a16:creationId xmlns:a16="http://schemas.microsoft.com/office/drawing/2014/main" id="{578677ED-B4E3-5E31-6AB5-A76BBF0FEC71}"/>
              </a:ext>
            </a:extLst>
          </p:cNvPr>
          <p:cNvSpPr/>
          <p:nvPr/>
        </p:nvSpPr>
        <p:spPr>
          <a:xfrm>
            <a:off x="2642700" y="5541011"/>
            <a:ext cx="0" cy="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cxnSp>
        <p:nvCxnSpPr>
          <p:cNvPr id="32" name="Connector: Elbow 31">
            <a:extLst>
              <a:ext uri="{FF2B5EF4-FFF2-40B4-BE49-F238E27FC236}">
                <a16:creationId xmlns:a16="http://schemas.microsoft.com/office/drawing/2014/main" id="{9D07033C-E061-2B00-E99F-A3903C9C4E05}"/>
              </a:ext>
            </a:extLst>
          </p:cNvPr>
          <p:cNvCxnSpPr>
            <a:stCxn id="10" idx="2"/>
            <a:endCxn id="25" idx="2"/>
          </p:cNvCxnSpPr>
          <p:nvPr/>
        </p:nvCxnSpPr>
        <p:spPr>
          <a:xfrm rot="16200000" flipH="1">
            <a:off x="1869091" y="4767403"/>
            <a:ext cx="299152" cy="1248066"/>
          </a:xfrm>
          <a:prstGeom prst="bentConnector2">
            <a:avLst/>
          </a:prstGeom>
          <a:ln>
            <a:tailEnd type="non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A542D9A9-E64B-4F30-123C-F7F045DB43CE}"/>
              </a:ext>
            </a:extLst>
          </p:cNvPr>
          <p:cNvCxnSpPr>
            <a:stCxn id="25" idx="2"/>
            <a:endCxn id="22" idx="1"/>
          </p:cNvCxnSpPr>
          <p:nvPr/>
        </p:nvCxnSpPr>
        <p:spPr>
          <a:xfrm>
            <a:off x="2642700" y="5541012"/>
            <a:ext cx="11159" cy="3579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Oval 35">
            <a:extLst>
              <a:ext uri="{FF2B5EF4-FFF2-40B4-BE49-F238E27FC236}">
                <a16:creationId xmlns:a16="http://schemas.microsoft.com/office/drawing/2014/main" id="{3EAC10D4-1BB7-B180-9713-0742CEC9A746}"/>
              </a:ext>
            </a:extLst>
          </p:cNvPr>
          <p:cNvSpPr/>
          <p:nvPr/>
        </p:nvSpPr>
        <p:spPr>
          <a:xfrm>
            <a:off x="3900000" y="5021322"/>
            <a:ext cx="0" cy="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cxnSp>
        <p:nvCxnSpPr>
          <p:cNvPr id="38" name="Connector: Elbow 37">
            <a:extLst>
              <a:ext uri="{FF2B5EF4-FFF2-40B4-BE49-F238E27FC236}">
                <a16:creationId xmlns:a16="http://schemas.microsoft.com/office/drawing/2014/main" id="{016D40C7-A918-7775-7C86-455120393AD8}"/>
              </a:ext>
            </a:extLst>
          </p:cNvPr>
          <p:cNvCxnSpPr>
            <a:cxnSpLocks/>
            <a:stCxn id="8" idx="3"/>
            <a:endCxn id="36" idx="0"/>
          </p:cNvCxnSpPr>
          <p:nvPr/>
        </p:nvCxnSpPr>
        <p:spPr>
          <a:xfrm>
            <a:off x="3218963" y="4444470"/>
            <a:ext cx="681038" cy="576852"/>
          </a:xfrm>
          <a:prstGeom prst="bentConnector2">
            <a:avLst/>
          </a:prstGeom>
          <a:ln>
            <a:tailEnd type="none"/>
          </a:ln>
        </p:spPr>
        <p:style>
          <a:lnRef idx="1">
            <a:schemeClr val="accent1"/>
          </a:lnRef>
          <a:fillRef idx="0">
            <a:schemeClr val="accent1"/>
          </a:fillRef>
          <a:effectRef idx="0">
            <a:schemeClr val="accent1"/>
          </a:effectRef>
          <a:fontRef idx="minor">
            <a:schemeClr val="tx1"/>
          </a:fontRef>
        </p:style>
      </p:cxnSp>
      <p:cxnSp>
        <p:nvCxnSpPr>
          <p:cNvPr id="40" name="Connector: Elbow 39">
            <a:extLst>
              <a:ext uri="{FF2B5EF4-FFF2-40B4-BE49-F238E27FC236}">
                <a16:creationId xmlns:a16="http://schemas.microsoft.com/office/drawing/2014/main" id="{1C941AE0-3262-4D88-1D6B-939B2D928E1A}"/>
              </a:ext>
            </a:extLst>
          </p:cNvPr>
          <p:cNvCxnSpPr>
            <a:cxnSpLocks/>
            <a:stCxn id="36" idx="4"/>
            <a:endCxn id="25" idx="6"/>
          </p:cNvCxnSpPr>
          <p:nvPr/>
        </p:nvCxnSpPr>
        <p:spPr>
          <a:xfrm rot="5400000">
            <a:off x="3011507" y="4652517"/>
            <a:ext cx="519689" cy="1257300"/>
          </a:xfrm>
          <a:prstGeom prst="bentConnector2">
            <a:avLst/>
          </a:prstGeom>
          <a:ln>
            <a:tailEnd type="none"/>
          </a:ln>
        </p:spPr>
        <p:style>
          <a:lnRef idx="1">
            <a:schemeClr val="accent1"/>
          </a:lnRef>
          <a:fillRef idx="0">
            <a:schemeClr val="accent1"/>
          </a:fillRef>
          <a:effectRef idx="0">
            <a:schemeClr val="accent1"/>
          </a:effectRef>
          <a:fontRef idx="minor">
            <a:schemeClr val="tx1"/>
          </a:fontRef>
        </p:style>
      </p:cxnSp>
      <p:sp>
        <p:nvSpPr>
          <p:cNvPr id="43" name="Flowchart: Decision 42">
            <a:extLst>
              <a:ext uri="{FF2B5EF4-FFF2-40B4-BE49-F238E27FC236}">
                <a16:creationId xmlns:a16="http://schemas.microsoft.com/office/drawing/2014/main" id="{1AF83A06-4E38-D97C-42A8-91FF0AF82CBE}"/>
              </a:ext>
            </a:extLst>
          </p:cNvPr>
          <p:cNvSpPr/>
          <p:nvPr/>
        </p:nvSpPr>
        <p:spPr>
          <a:xfrm>
            <a:off x="8003865" y="3984593"/>
            <a:ext cx="1152526" cy="768221"/>
          </a:xfrm>
          <a:prstGeom prst="flowChartDecision">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dirty="0">
                <a:latin typeface="Consolas" panose="020B0609020204030204" pitchFamily="49" charset="0"/>
              </a:rPr>
              <a:t>x &gt; y</a:t>
            </a:r>
            <a:endParaRPr lang="en-PK" sz="1400" dirty="0">
              <a:latin typeface="Consolas" panose="020B0609020204030204" pitchFamily="49" charset="0"/>
            </a:endParaRPr>
          </a:p>
        </p:txBody>
      </p:sp>
      <p:sp>
        <p:nvSpPr>
          <p:cNvPr id="44" name="Rectangle: Rounded Corners 43">
            <a:extLst>
              <a:ext uri="{FF2B5EF4-FFF2-40B4-BE49-F238E27FC236}">
                <a16:creationId xmlns:a16="http://schemas.microsoft.com/office/drawing/2014/main" id="{89E86BFA-5A2F-26C2-2431-C96E1A6E7A3F}"/>
              </a:ext>
            </a:extLst>
          </p:cNvPr>
          <p:cNvSpPr/>
          <p:nvPr/>
        </p:nvSpPr>
        <p:spPr>
          <a:xfrm>
            <a:off x="6660258" y="4935161"/>
            <a:ext cx="1343607" cy="34523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max = x</a:t>
            </a:r>
            <a:endParaRPr lang="en-PK" sz="1400" dirty="0">
              <a:latin typeface="Consolas" panose="020B0609020204030204" pitchFamily="49" charset="0"/>
            </a:endParaRPr>
          </a:p>
        </p:txBody>
      </p:sp>
      <p:sp>
        <p:nvSpPr>
          <p:cNvPr id="45" name="TextBox 44">
            <a:extLst>
              <a:ext uri="{FF2B5EF4-FFF2-40B4-BE49-F238E27FC236}">
                <a16:creationId xmlns:a16="http://schemas.microsoft.com/office/drawing/2014/main" id="{19A4E15C-F41F-61C2-4119-261EE1D061CD}"/>
              </a:ext>
            </a:extLst>
          </p:cNvPr>
          <p:cNvSpPr txBox="1"/>
          <p:nvPr/>
        </p:nvSpPr>
        <p:spPr>
          <a:xfrm>
            <a:off x="6800849" y="6155583"/>
            <a:ext cx="3495676" cy="369332"/>
          </a:xfrm>
          <a:prstGeom prst="rect">
            <a:avLst/>
          </a:prstGeom>
          <a:noFill/>
        </p:spPr>
        <p:txBody>
          <a:bodyPr wrap="square" rtlCol="0">
            <a:spAutoFit/>
          </a:bodyPr>
          <a:lstStyle/>
          <a:p>
            <a:pPr algn="ctr"/>
            <a:r>
              <a:rPr lang="en-US" dirty="0"/>
              <a:t>Computes the maximum of x and y</a:t>
            </a:r>
            <a:endParaRPr lang="en-PK" dirty="0"/>
          </a:p>
        </p:txBody>
      </p:sp>
      <p:cxnSp>
        <p:nvCxnSpPr>
          <p:cNvPr id="46" name="Connector: Elbow 45">
            <a:extLst>
              <a:ext uri="{FF2B5EF4-FFF2-40B4-BE49-F238E27FC236}">
                <a16:creationId xmlns:a16="http://schemas.microsoft.com/office/drawing/2014/main" id="{37C5E9F6-6448-D568-1FDF-F0A0DA1BA2C7}"/>
              </a:ext>
            </a:extLst>
          </p:cNvPr>
          <p:cNvCxnSpPr>
            <a:stCxn id="43" idx="1"/>
            <a:endCxn id="44" idx="0"/>
          </p:cNvCxnSpPr>
          <p:nvPr/>
        </p:nvCxnSpPr>
        <p:spPr>
          <a:xfrm rot="10800000" flipV="1">
            <a:off x="7332063" y="4368703"/>
            <a:ext cx="671803" cy="56645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D493821A-0645-B2D3-6653-72CC30A6D2F2}"/>
              </a:ext>
            </a:extLst>
          </p:cNvPr>
          <p:cNvSpPr/>
          <p:nvPr/>
        </p:nvSpPr>
        <p:spPr>
          <a:xfrm>
            <a:off x="8580128" y="5923433"/>
            <a:ext cx="76200" cy="95842"/>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48" name="Oval 47">
            <a:extLst>
              <a:ext uri="{FF2B5EF4-FFF2-40B4-BE49-F238E27FC236}">
                <a16:creationId xmlns:a16="http://schemas.microsoft.com/office/drawing/2014/main" id="{33BA44F5-E31E-A836-18E6-28782DC88366}"/>
              </a:ext>
            </a:extLst>
          </p:cNvPr>
          <p:cNvSpPr/>
          <p:nvPr/>
        </p:nvSpPr>
        <p:spPr>
          <a:xfrm>
            <a:off x="8580128" y="5579545"/>
            <a:ext cx="0" cy="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cxnSp>
        <p:nvCxnSpPr>
          <p:cNvPr id="49" name="Connector: Elbow 48">
            <a:extLst>
              <a:ext uri="{FF2B5EF4-FFF2-40B4-BE49-F238E27FC236}">
                <a16:creationId xmlns:a16="http://schemas.microsoft.com/office/drawing/2014/main" id="{1DC00E37-C078-5AC2-E657-7C7E5883414F}"/>
              </a:ext>
            </a:extLst>
          </p:cNvPr>
          <p:cNvCxnSpPr>
            <a:stCxn id="44" idx="2"/>
            <a:endCxn id="48" idx="2"/>
          </p:cNvCxnSpPr>
          <p:nvPr/>
        </p:nvCxnSpPr>
        <p:spPr>
          <a:xfrm rot="16200000" flipH="1">
            <a:off x="7806519" y="4805937"/>
            <a:ext cx="299152" cy="1248066"/>
          </a:xfrm>
          <a:prstGeom prst="bentConnector2">
            <a:avLst/>
          </a:prstGeom>
          <a:ln>
            <a:tailEnd type="non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7F193706-7918-BF10-4E70-460650F55AB5}"/>
              </a:ext>
            </a:extLst>
          </p:cNvPr>
          <p:cNvCxnSpPr>
            <a:stCxn id="48" idx="2"/>
            <a:endCxn id="47" idx="1"/>
          </p:cNvCxnSpPr>
          <p:nvPr/>
        </p:nvCxnSpPr>
        <p:spPr>
          <a:xfrm>
            <a:off x="8580128" y="5579546"/>
            <a:ext cx="11159" cy="3579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Connector: Elbow 51">
            <a:extLst>
              <a:ext uri="{FF2B5EF4-FFF2-40B4-BE49-F238E27FC236}">
                <a16:creationId xmlns:a16="http://schemas.microsoft.com/office/drawing/2014/main" id="{B18748D2-B814-F30D-EB1E-62DA0CAC8AEC}"/>
              </a:ext>
            </a:extLst>
          </p:cNvPr>
          <p:cNvCxnSpPr>
            <a:cxnSpLocks/>
            <a:stCxn id="43" idx="3"/>
            <a:endCxn id="54" idx="0"/>
          </p:cNvCxnSpPr>
          <p:nvPr/>
        </p:nvCxnSpPr>
        <p:spPr>
          <a:xfrm>
            <a:off x="9156391" y="4368704"/>
            <a:ext cx="700380" cy="488163"/>
          </a:xfrm>
          <a:prstGeom prst="bentConnector2">
            <a:avLst/>
          </a:prstGeom>
          <a:ln>
            <a:tailEnd type="none"/>
          </a:ln>
        </p:spPr>
        <p:style>
          <a:lnRef idx="1">
            <a:schemeClr val="accent1"/>
          </a:lnRef>
          <a:fillRef idx="0">
            <a:schemeClr val="accent1"/>
          </a:fillRef>
          <a:effectRef idx="0">
            <a:schemeClr val="accent1"/>
          </a:effectRef>
          <a:fontRef idx="minor">
            <a:schemeClr val="tx1"/>
          </a:fontRef>
        </p:style>
      </p:cxnSp>
      <p:cxnSp>
        <p:nvCxnSpPr>
          <p:cNvPr id="53" name="Connector: Elbow 52">
            <a:extLst>
              <a:ext uri="{FF2B5EF4-FFF2-40B4-BE49-F238E27FC236}">
                <a16:creationId xmlns:a16="http://schemas.microsoft.com/office/drawing/2014/main" id="{06EC10C1-6E77-0F0B-C7AC-1F5C7C7C9492}"/>
              </a:ext>
            </a:extLst>
          </p:cNvPr>
          <p:cNvCxnSpPr>
            <a:cxnSpLocks/>
            <a:stCxn id="54" idx="2"/>
            <a:endCxn id="48" idx="6"/>
          </p:cNvCxnSpPr>
          <p:nvPr/>
        </p:nvCxnSpPr>
        <p:spPr>
          <a:xfrm rot="5400000">
            <a:off x="9029727" y="4752502"/>
            <a:ext cx="377446" cy="1276642"/>
          </a:xfrm>
          <a:prstGeom prst="bentConnector2">
            <a:avLst/>
          </a:prstGeom>
          <a:ln>
            <a:tailEnd type="none"/>
          </a:ln>
        </p:spPr>
        <p:style>
          <a:lnRef idx="1">
            <a:schemeClr val="accent1"/>
          </a:lnRef>
          <a:fillRef idx="0">
            <a:schemeClr val="accent1"/>
          </a:fillRef>
          <a:effectRef idx="0">
            <a:schemeClr val="accent1"/>
          </a:effectRef>
          <a:fontRef idx="minor">
            <a:schemeClr val="tx1"/>
          </a:fontRef>
        </p:style>
      </p:cxnSp>
      <p:sp>
        <p:nvSpPr>
          <p:cNvPr id="54" name="Rectangle: Rounded Corners 53">
            <a:extLst>
              <a:ext uri="{FF2B5EF4-FFF2-40B4-BE49-F238E27FC236}">
                <a16:creationId xmlns:a16="http://schemas.microsoft.com/office/drawing/2014/main" id="{F97251E5-02F6-F8F9-3211-EBE07D26A839}"/>
              </a:ext>
            </a:extLst>
          </p:cNvPr>
          <p:cNvSpPr/>
          <p:nvPr/>
        </p:nvSpPr>
        <p:spPr>
          <a:xfrm>
            <a:off x="9184967" y="4856867"/>
            <a:ext cx="1343607" cy="34523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max = y</a:t>
            </a:r>
            <a:endParaRPr lang="en-PK" sz="1400" dirty="0">
              <a:latin typeface="Consolas" panose="020B0609020204030204" pitchFamily="49" charset="0"/>
            </a:endParaRPr>
          </a:p>
        </p:txBody>
      </p:sp>
      <p:sp>
        <p:nvSpPr>
          <p:cNvPr id="57" name="TextBox 56">
            <a:extLst>
              <a:ext uri="{FF2B5EF4-FFF2-40B4-BE49-F238E27FC236}">
                <a16:creationId xmlns:a16="http://schemas.microsoft.com/office/drawing/2014/main" id="{A8555C00-EC86-1747-0CED-95538DCB2371}"/>
              </a:ext>
            </a:extLst>
          </p:cNvPr>
          <p:cNvSpPr txBox="1"/>
          <p:nvPr/>
        </p:nvSpPr>
        <p:spPr>
          <a:xfrm>
            <a:off x="1533525" y="4193709"/>
            <a:ext cx="599586" cy="307777"/>
          </a:xfrm>
          <a:prstGeom prst="rect">
            <a:avLst/>
          </a:prstGeom>
          <a:noFill/>
        </p:spPr>
        <p:txBody>
          <a:bodyPr wrap="square" rtlCol="0">
            <a:spAutoFit/>
          </a:bodyPr>
          <a:lstStyle/>
          <a:p>
            <a:r>
              <a:rPr lang="en-US" sz="1400" dirty="0">
                <a:solidFill>
                  <a:schemeClr val="accent1"/>
                </a:solidFill>
              </a:rPr>
              <a:t>true</a:t>
            </a:r>
            <a:endParaRPr lang="en-PK" sz="1400" dirty="0">
              <a:solidFill>
                <a:schemeClr val="accent1"/>
              </a:solidFill>
            </a:endParaRPr>
          </a:p>
        </p:txBody>
      </p:sp>
      <p:sp>
        <p:nvSpPr>
          <p:cNvPr id="58" name="TextBox 57">
            <a:extLst>
              <a:ext uri="{FF2B5EF4-FFF2-40B4-BE49-F238E27FC236}">
                <a16:creationId xmlns:a16="http://schemas.microsoft.com/office/drawing/2014/main" id="{04585561-CF94-8D08-F32E-E932FB2D523D}"/>
              </a:ext>
            </a:extLst>
          </p:cNvPr>
          <p:cNvSpPr txBox="1"/>
          <p:nvPr/>
        </p:nvSpPr>
        <p:spPr>
          <a:xfrm>
            <a:off x="3349568" y="4193709"/>
            <a:ext cx="599586" cy="307777"/>
          </a:xfrm>
          <a:prstGeom prst="rect">
            <a:avLst/>
          </a:prstGeom>
          <a:noFill/>
        </p:spPr>
        <p:txBody>
          <a:bodyPr wrap="square" rtlCol="0">
            <a:spAutoFit/>
          </a:bodyPr>
          <a:lstStyle/>
          <a:p>
            <a:r>
              <a:rPr lang="en-US" sz="1400" dirty="0">
                <a:solidFill>
                  <a:schemeClr val="accent1"/>
                </a:solidFill>
              </a:rPr>
              <a:t>false</a:t>
            </a:r>
            <a:endParaRPr lang="en-PK" sz="1400" dirty="0">
              <a:solidFill>
                <a:schemeClr val="accent1"/>
              </a:solidFill>
            </a:endParaRPr>
          </a:p>
        </p:txBody>
      </p:sp>
      <p:sp>
        <p:nvSpPr>
          <p:cNvPr id="59" name="TextBox 58">
            <a:extLst>
              <a:ext uri="{FF2B5EF4-FFF2-40B4-BE49-F238E27FC236}">
                <a16:creationId xmlns:a16="http://schemas.microsoft.com/office/drawing/2014/main" id="{9D80E2C4-7067-2B24-C47C-A25D466823C8}"/>
              </a:ext>
            </a:extLst>
          </p:cNvPr>
          <p:cNvSpPr txBox="1"/>
          <p:nvPr/>
        </p:nvSpPr>
        <p:spPr>
          <a:xfrm>
            <a:off x="7435893" y="4107183"/>
            <a:ext cx="599586" cy="307777"/>
          </a:xfrm>
          <a:prstGeom prst="rect">
            <a:avLst/>
          </a:prstGeom>
          <a:noFill/>
        </p:spPr>
        <p:txBody>
          <a:bodyPr wrap="square" rtlCol="0">
            <a:spAutoFit/>
          </a:bodyPr>
          <a:lstStyle/>
          <a:p>
            <a:r>
              <a:rPr lang="en-US" sz="1400" dirty="0">
                <a:solidFill>
                  <a:schemeClr val="accent1"/>
                </a:solidFill>
              </a:rPr>
              <a:t>true</a:t>
            </a:r>
            <a:endParaRPr lang="en-PK" sz="1400" dirty="0">
              <a:solidFill>
                <a:schemeClr val="accent1"/>
              </a:solidFill>
            </a:endParaRPr>
          </a:p>
        </p:txBody>
      </p:sp>
      <p:sp>
        <p:nvSpPr>
          <p:cNvPr id="60" name="TextBox 59">
            <a:extLst>
              <a:ext uri="{FF2B5EF4-FFF2-40B4-BE49-F238E27FC236}">
                <a16:creationId xmlns:a16="http://schemas.microsoft.com/office/drawing/2014/main" id="{2DDE5B42-3306-F0CC-2BB6-587541CC1F97}"/>
              </a:ext>
            </a:extLst>
          </p:cNvPr>
          <p:cNvSpPr txBox="1"/>
          <p:nvPr/>
        </p:nvSpPr>
        <p:spPr>
          <a:xfrm>
            <a:off x="9251936" y="4107183"/>
            <a:ext cx="599586" cy="307777"/>
          </a:xfrm>
          <a:prstGeom prst="rect">
            <a:avLst/>
          </a:prstGeom>
          <a:noFill/>
        </p:spPr>
        <p:txBody>
          <a:bodyPr wrap="square" rtlCol="0">
            <a:spAutoFit/>
          </a:bodyPr>
          <a:lstStyle/>
          <a:p>
            <a:r>
              <a:rPr lang="en-US" sz="1400" dirty="0">
                <a:solidFill>
                  <a:schemeClr val="accent1"/>
                </a:solidFill>
              </a:rPr>
              <a:t>false</a:t>
            </a:r>
            <a:endParaRPr lang="en-PK" sz="1400" dirty="0">
              <a:solidFill>
                <a:schemeClr val="accent1"/>
              </a:solidFill>
            </a:endParaRPr>
          </a:p>
        </p:txBody>
      </p:sp>
    </p:spTree>
    <p:extLst>
      <p:ext uri="{BB962C8B-B14F-4D97-AF65-F5344CB8AC3E}">
        <p14:creationId xmlns:p14="http://schemas.microsoft.com/office/powerpoint/2010/main" val="31632963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220C2-9838-CCCA-C38B-13BDF52B6737}"/>
              </a:ext>
            </a:extLst>
          </p:cNvPr>
          <p:cNvSpPr>
            <a:spLocks noGrp="1"/>
          </p:cNvSpPr>
          <p:nvPr>
            <p:ph type="title"/>
          </p:nvPr>
        </p:nvSpPr>
        <p:spPr>
          <a:xfrm>
            <a:off x="642257" y="71676"/>
            <a:ext cx="10515600" cy="1325563"/>
          </a:xfrm>
        </p:spPr>
        <p:txBody>
          <a:bodyPr>
            <a:normAutofit/>
          </a:bodyPr>
          <a:lstStyle/>
          <a:p>
            <a:r>
              <a:rPr lang="en-US" sz="3600" b="1" dirty="0">
                <a:solidFill>
                  <a:schemeClr val="bg1"/>
                </a:solidFill>
              </a:rPr>
              <a:t>Example of </a:t>
            </a:r>
            <a:r>
              <a:rPr lang="en-US" sz="3600" b="1" dirty="0">
                <a:solidFill>
                  <a:schemeClr val="bg1"/>
                </a:solidFill>
                <a:latin typeface="Consolas" panose="020B0609020204030204" pitchFamily="49" charset="0"/>
              </a:rPr>
              <a:t>if</a:t>
            </a:r>
            <a:r>
              <a:rPr lang="en-US" sz="3600" b="1" dirty="0">
                <a:solidFill>
                  <a:schemeClr val="bg1"/>
                </a:solidFill>
              </a:rPr>
              <a:t> statement use</a:t>
            </a:r>
            <a:endParaRPr lang="en-PK" sz="3600" b="1" dirty="0">
              <a:solidFill>
                <a:schemeClr val="bg1"/>
              </a:solidFill>
            </a:endParaRPr>
          </a:p>
        </p:txBody>
      </p:sp>
      <p:sp>
        <p:nvSpPr>
          <p:cNvPr id="4" name="TextBox 3">
            <a:extLst>
              <a:ext uri="{FF2B5EF4-FFF2-40B4-BE49-F238E27FC236}">
                <a16:creationId xmlns:a16="http://schemas.microsoft.com/office/drawing/2014/main" id="{59544138-70DE-1D54-2AEA-2A65A1FC69E4}"/>
              </a:ext>
            </a:extLst>
          </p:cNvPr>
          <p:cNvSpPr txBox="1"/>
          <p:nvPr/>
        </p:nvSpPr>
        <p:spPr>
          <a:xfrm>
            <a:off x="1614487" y="1994713"/>
            <a:ext cx="6773733" cy="4453270"/>
          </a:xfrm>
          <a:prstGeom prst="rect">
            <a:avLst/>
          </a:prstGeom>
          <a:solidFill>
            <a:schemeClr val="accent1">
              <a:lumMod val="20000"/>
              <a:lumOff val="80000"/>
              <a:alpha val="50000"/>
            </a:schemeClr>
          </a:solidFill>
        </p:spPr>
        <p:txBody>
          <a:bodyPr wrap="square" rtlCol="0">
            <a:spAutoFit/>
          </a:bodyPr>
          <a:lstStyle/>
          <a:p>
            <a:r>
              <a:rPr lang="en-US" dirty="0">
                <a:latin typeface="Consolas" panose="020B0609020204030204" pitchFamily="49" charset="0"/>
              </a:rPr>
              <a:t>#include &lt;iostream&gt;</a:t>
            </a:r>
          </a:p>
          <a:p>
            <a:endParaRPr lang="en-US" dirty="0">
              <a:latin typeface="Consolas" panose="020B0609020204030204" pitchFamily="49" charset="0"/>
            </a:endParaRPr>
          </a:p>
          <a:p>
            <a:r>
              <a:rPr lang="en-US" dirty="0">
                <a:latin typeface="Consolas" panose="020B0609020204030204" pitchFamily="49" charset="0"/>
              </a:rPr>
              <a:t>int main() {</a:t>
            </a:r>
          </a:p>
          <a:p>
            <a:r>
              <a:rPr lang="en-US" dirty="0">
                <a:latin typeface="Consolas" panose="020B0609020204030204" pitchFamily="49" charset="0"/>
              </a:rPr>
              <a:t>    int number;</a:t>
            </a:r>
          </a:p>
          <a:p>
            <a:r>
              <a:rPr lang="en-US" dirty="0">
                <a:latin typeface="Consolas" panose="020B0609020204030204" pitchFamily="49" charset="0"/>
              </a:rPr>
              <a:t>    std::</a:t>
            </a:r>
            <a:r>
              <a:rPr lang="en-US" dirty="0" err="1">
                <a:latin typeface="Consolas" panose="020B0609020204030204" pitchFamily="49" charset="0"/>
              </a:rPr>
              <a:t>cout</a:t>
            </a:r>
            <a:r>
              <a:rPr lang="en-US" dirty="0">
                <a:latin typeface="Consolas" panose="020B0609020204030204" pitchFamily="49" charset="0"/>
              </a:rPr>
              <a:t> &lt;&lt; "Enter an integer: ";</a:t>
            </a:r>
          </a:p>
          <a:p>
            <a:r>
              <a:rPr lang="en-US" dirty="0">
                <a:latin typeface="Consolas" panose="020B0609020204030204" pitchFamily="49" charset="0"/>
              </a:rPr>
              <a:t>    std::</a:t>
            </a:r>
            <a:r>
              <a:rPr lang="en-US" dirty="0" err="1">
                <a:latin typeface="Consolas" panose="020B0609020204030204" pitchFamily="49" charset="0"/>
              </a:rPr>
              <a:t>cin</a:t>
            </a:r>
            <a:r>
              <a:rPr lang="en-US" dirty="0">
                <a:latin typeface="Consolas" panose="020B0609020204030204" pitchFamily="49" charset="0"/>
              </a:rPr>
              <a:t> &gt;&gt; number;</a:t>
            </a:r>
          </a:p>
          <a:p>
            <a:r>
              <a:rPr lang="en-US" dirty="0">
                <a:latin typeface="Consolas" panose="020B0609020204030204" pitchFamily="49" charset="0"/>
              </a:rPr>
              <a:t>    if (number % 2 == 0) {</a:t>
            </a:r>
          </a:p>
          <a:p>
            <a:r>
              <a:rPr lang="en-US" dirty="0">
                <a:latin typeface="Consolas" panose="020B0609020204030204" pitchFamily="49" charset="0"/>
              </a:rPr>
              <a:t>        std::</a:t>
            </a:r>
            <a:r>
              <a:rPr lang="en-US" dirty="0" err="1">
                <a:latin typeface="Consolas" panose="020B0609020204030204" pitchFamily="49" charset="0"/>
              </a:rPr>
              <a:t>cout</a:t>
            </a:r>
            <a:r>
              <a:rPr lang="en-US" dirty="0">
                <a:latin typeface="Consolas" panose="020B0609020204030204" pitchFamily="49" charset="0"/>
              </a:rPr>
              <a:t> &lt;&lt; number &lt;&lt; " is even.\n";</a:t>
            </a:r>
          </a:p>
          <a:p>
            <a:r>
              <a:rPr lang="en-US" dirty="0">
                <a:latin typeface="Consolas" panose="020B0609020204030204" pitchFamily="49" charset="0"/>
              </a:rPr>
              <a:t>    } else {</a:t>
            </a:r>
          </a:p>
          <a:p>
            <a:r>
              <a:rPr lang="en-US" dirty="0">
                <a:latin typeface="Consolas" panose="020B0609020204030204" pitchFamily="49" charset="0"/>
              </a:rPr>
              <a:t>        std::</a:t>
            </a:r>
            <a:r>
              <a:rPr lang="en-US" dirty="0" err="1">
                <a:latin typeface="Consolas" panose="020B0609020204030204" pitchFamily="49" charset="0"/>
              </a:rPr>
              <a:t>cout</a:t>
            </a:r>
            <a:r>
              <a:rPr lang="en-US" dirty="0">
                <a:latin typeface="Consolas" panose="020B0609020204030204" pitchFamily="49" charset="0"/>
              </a:rPr>
              <a:t> &lt;&lt; number &lt;&lt; " is odd.\n";</a:t>
            </a:r>
          </a:p>
          <a:p>
            <a:r>
              <a:rPr lang="en-US" dirty="0">
                <a:latin typeface="Consolas" panose="020B0609020204030204" pitchFamily="49" charset="0"/>
              </a:rPr>
              <a:t>    }   </a:t>
            </a:r>
          </a:p>
          <a:p>
            <a:r>
              <a:rPr lang="en-US" dirty="0">
                <a:latin typeface="Consolas" panose="020B0609020204030204" pitchFamily="49" charset="0"/>
              </a:rPr>
              <a:t>    return 0;</a:t>
            </a:r>
          </a:p>
          <a:p>
            <a:r>
              <a:rPr lang="en-US" dirty="0">
                <a:latin typeface="Consolas" panose="020B0609020204030204" pitchFamily="49" charset="0"/>
              </a:rPr>
              <a:t>}</a:t>
            </a:r>
          </a:p>
          <a:p>
            <a:endParaRPr lang="en-US" dirty="0">
              <a:latin typeface="Consolas" panose="020B0609020204030204" pitchFamily="49" charset="0"/>
            </a:endParaRPr>
          </a:p>
        </p:txBody>
      </p:sp>
      <p:sp>
        <p:nvSpPr>
          <p:cNvPr id="3" name="TextBox 2">
            <a:extLst>
              <a:ext uri="{FF2B5EF4-FFF2-40B4-BE49-F238E27FC236}">
                <a16:creationId xmlns:a16="http://schemas.microsoft.com/office/drawing/2014/main" id="{B908F824-8F12-2310-3FBC-5F35F8D5D81B}"/>
              </a:ext>
            </a:extLst>
          </p:cNvPr>
          <p:cNvSpPr txBox="1"/>
          <p:nvPr/>
        </p:nvSpPr>
        <p:spPr>
          <a:xfrm>
            <a:off x="1295400" y="1546264"/>
            <a:ext cx="6648450" cy="369332"/>
          </a:xfrm>
          <a:prstGeom prst="rect">
            <a:avLst/>
          </a:prstGeom>
          <a:noFill/>
        </p:spPr>
        <p:txBody>
          <a:bodyPr wrap="square" rtlCol="0">
            <a:spAutoFit/>
          </a:bodyPr>
          <a:lstStyle/>
          <a:p>
            <a:r>
              <a:rPr lang="en-US" dirty="0">
                <a:solidFill>
                  <a:schemeClr val="accent1"/>
                </a:solidFill>
              </a:rPr>
              <a:t>Q. </a:t>
            </a:r>
            <a:r>
              <a:rPr lang="en-US" dirty="0"/>
              <a:t>What does this program do?</a:t>
            </a:r>
            <a:endParaRPr lang="en-PK" dirty="0"/>
          </a:p>
        </p:txBody>
      </p:sp>
    </p:spTree>
    <p:extLst>
      <p:ext uri="{BB962C8B-B14F-4D97-AF65-F5344CB8AC3E}">
        <p14:creationId xmlns:p14="http://schemas.microsoft.com/office/powerpoint/2010/main" val="387218485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220C2-9838-CCCA-C38B-13BDF52B6737}"/>
              </a:ext>
            </a:extLst>
          </p:cNvPr>
          <p:cNvSpPr>
            <a:spLocks noGrp="1"/>
          </p:cNvSpPr>
          <p:nvPr>
            <p:ph type="title"/>
          </p:nvPr>
        </p:nvSpPr>
        <p:spPr/>
        <p:txBody>
          <a:bodyPr>
            <a:normAutofit/>
          </a:bodyPr>
          <a:lstStyle/>
          <a:p>
            <a:r>
              <a:rPr lang="en-US" sz="3600" dirty="0"/>
              <a:t>Example of </a:t>
            </a:r>
            <a:r>
              <a:rPr lang="en-US" sz="3600" dirty="0">
                <a:latin typeface="Consolas" panose="020B0609020204030204" pitchFamily="49" charset="0"/>
              </a:rPr>
              <a:t>if</a:t>
            </a:r>
            <a:r>
              <a:rPr lang="en-US" sz="3600" dirty="0"/>
              <a:t> statement use: simulate a coin flip</a:t>
            </a:r>
            <a:endParaRPr lang="en-PK" sz="3600" dirty="0"/>
          </a:p>
        </p:txBody>
      </p:sp>
      <p:sp>
        <p:nvSpPr>
          <p:cNvPr id="4" name="TextBox 3">
            <a:extLst>
              <a:ext uri="{FF2B5EF4-FFF2-40B4-BE49-F238E27FC236}">
                <a16:creationId xmlns:a16="http://schemas.microsoft.com/office/drawing/2014/main" id="{59544138-70DE-1D54-2AEA-2A65A1FC69E4}"/>
              </a:ext>
            </a:extLst>
          </p:cNvPr>
          <p:cNvSpPr txBox="1"/>
          <p:nvPr/>
        </p:nvSpPr>
        <p:spPr>
          <a:xfrm>
            <a:off x="1295401" y="2228850"/>
            <a:ext cx="4533900" cy="3139321"/>
          </a:xfrm>
          <a:prstGeom prst="rect">
            <a:avLst/>
          </a:prstGeom>
          <a:solidFill>
            <a:schemeClr val="accent1">
              <a:lumMod val="20000"/>
              <a:lumOff val="80000"/>
              <a:alpha val="50000"/>
            </a:schemeClr>
          </a:solidFill>
        </p:spPr>
        <p:txBody>
          <a:bodyPr wrap="square" rtlCol="0">
            <a:spAutoFit/>
          </a:bodyPr>
          <a:lstStyle/>
          <a:p>
            <a:r>
              <a:rPr lang="en-US" dirty="0">
                <a:latin typeface="Consolas" panose="020B0609020204030204" pitchFamily="49" charset="0"/>
              </a:rPr>
              <a:t>#include&lt;iostream&gt;</a:t>
            </a:r>
          </a:p>
          <a:p>
            <a:r>
              <a:rPr lang="en-US" dirty="0">
                <a:latin typeface="Consolas" panose="020B0609020204030204" pitchFamily="49" charset="0"/>
              </a:rPr>
              <a:t>#include&lt;cstdlib&gt;</a:t>
            </a:r>
          </a:p>
          <a:p>
            <a:endParaRPr lang="en-US" dirty="0">
              <a:latin typeface="Consolas" panose="020B0609020204030204" pitchFamily="49" charset="0"/>
            </a:endParaRPr>
          </a:p>
          <a:p>
            <a:r>
              <a:rPr lang="en-US" dirty="0">
                <a:latin typeface="Consolas" panose="020B0609020204030204" pitchFamily="49" charset="0"/>
              </a:rPr>
              <a:t>int main() {</a:t>
            </a:r>
          </a:p>
          <a:p>
            <a:r>
              <a:rPr lang="en-US" dirty="0">
                <a:latin typeface="Consolas" panose="020B0609020204030204" pitchFamily="49" charset="0"/>
              </a:rPr>
              <a:t>    </a:t>
            </a:r>
            <a:r>
              <a:rPr lang="en-US" dirty="0" err="1">
                <a:latin typeface="Consolas" panose="020B0609020204030204" pitchFamily="49" charset="0"/>
              </a:rPr>
              <a:t>srand</a:t>
            </a:r>
            <a:r>
              <a:rPr lang="en-US" dirty="0">
                <a:latin typeface="Consolas" panose="020B0609020204030204" pitchFamily="49" charset="0"/>
              </a:rPr>
              <a:t>(time(0));</a:t>
            </a:r>
          </a:p>
          <a:p>
            <a:endParaRPr lang="en-US" dirty="0">
              <a:latin typeface="Consolas" panose="020B0609020204030204" pitchFamily="49" charset="0"/>
            </a:endParaRPr>
          </a:p>
          <a:p>
            <a:r>
              <a:rPr lang="en-US" dirty="0">
                <a:latin typeface="Consolas" panose="020B0609020204030204" pitchFamily="49" charset="0"/>
              </a:rPr>
              <a:t>    if(rand()%2 == 0)</a:t>
            </a:r>
          </a:p>
          <a:p>
            <a:r>
              <a:rPr lang="en-US" dirty="0">
                <a:latin typeface="Consolas" panose="020B0609020204030204" pitchFamily="49" charset="0"/>
              </a:rPr>
              <a:t>        std::</a:t>
            </a:r>
            <a:r>
              <a:rPr lang="en-US" dirty="0" err="1">
                <a:latin typeface="Consolas" panose="020B0609020204030204" pitchFamily="49" charset="0"/>
              </a:rPr>
              <a:t>cout</a:t>
            </a:r>
            <a:r>
              <a:rPr lang="en-US" dirty="0">
                <a:latin typeface="Consolas" panose="020B0609020204030204" pitchFamily="49" charset="0"/>
              </a:rPr>
              <a:t> &lt;&lt; "Heads\n";</a:t>
            </a:r>
          </a:p>
          <a:p>
            <a:r>
              <a:rPr lang="en-US" dirty="0">
                <a:latin typeface="Consolas" panose="020B0609020204030204" pitchFamily="49" charset="0"/>
              </a:rPr>
              <a:t>    else</a:t>
            </a:r>
          </a:p>
          <a:p>
            <a:r>
              <a:rPr lang="en-US" dirty="0">
                <a:latin typeface="Consolas" panose="020B0609020204030204" pitchFamily="49" charset="0"/>
              </a:rPr>
              <a:t>        std::</a:t>
            </a:r>
            <a:r>
              <a:rPr lang="en-US" dirty="0" err="1">
                <a:latin typeface="Consolas" panose="020B0609020204030204" pitchFamily="49" charset="0"/>
              </a:rPr>
              <a:t>cout</a:t>
            </a:r>
            <a:r>
              <a:rPr lang="en-US" dirty="0">
                <a:latin typeface="Consolas" panose="020B0609020204030204" pitchFamily="49" charset="0"/>
              </a:rPr>
              <a:t> &lt;&lt; "Tails\n";</a:t>
            </a:r>
          </a:p>
          <a:p>
            <a:r>
              <a:rPr lang="en-US" dirty="0">
                <a:latin typeface="Consolas" panose="020B0609020204030204" pitchFamily="49" charset="0"/>
              </a:rPr>
              <a:t>}</a:t>
            </a:r>
          </a:p>
        </p:txBody>
      </p:sp>
      <p:pic>
        <p:nvPicPr>
          <p:cNvPr id="5" name="Picture 4" descr="A hand giving a thumbs up&#10;&#10;Description automatically generated">
            <a:extLst>
              <a:ext uri="{FF2B5EF4-FFF2-40B4-BE49-F238E27FC236}">
                <a16:creationId xmlns:a16="http://schemas.microsoft.com/office/drawing/2014/main" id="{FA5B3A39-7370-B4F0-7D2C-A828AB3801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86818" y="2228850"/>
            <a:ext cx="2479227" cy="3139321"/>
          </a:xfrm>
          <a:prstGeom prst="rect">
            <a:avLst/>
          </a:prstGeom>
        </p:spPr>
      </p:pic>
    </p:spTree>
    <p:extLst>
      <p:ext uri="{BB962C8B-B14F-4D97-AF65-F5344CB8AC3E}">
        <p14:creationId xmlns:p14="http://schemas.microsoft.com/office/powerpoint/2010/main" val="1061743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220C2-9838-CCCA-C38B-13BDF52B6737}"/>
              </a:ext>
            </a:extLst>
          </p:cNvPr>
          <p:cNvSpPr>
            <a:spLocks noGrp="1"/>
          </p:cNvSpPr>
          <p:nvPr>
            <p:ph type="title"/>
          </p:nvPr>
        </p:nvSpPr>
        <p:spPr/>
        <p:txBody>
          <a:bodyPr>
            <a:normAutofit/>
          </a:bodyPr>
          <a:lstStyle/>
          <a:p>
            <a:r>
              <a:rPr lang="en-US" sz="3600" dirty="0"/>
              <a:t>Example of </a:t>
            </a:r>
            <a:r>
              <a:rPr lang="en-US" sz="3600" dirty="0">
                <a:latin typeface="Consolas" panose="020B0609020204030204" pitchFamily="49" charset="0"/>
              </a:rPr>
              <a:t>if</a:t>
            </a:r>
            <a:r>
              <a:rPr lang="en-US" sz="3600" dirty="0"/>
              <a:t> statement use: 2-sort</a:t>
            </a:r>
            <a:endParaRPr lang="en-PK" sz="3600" dirty="0"/>
          </a:p>
        </p:txBody>
      </p:sp>
      <p:sp>
        <p:nvSpPr>
          <p:cNvPr id="4" name="TextBox 3">
            <a:extLst>
              <a:ext uri="{FF2B5EF4-FFF2-40B4-BE49-F238E27FC236}">
                <a16:creationId xmlns:a16="http://schemas.microsoft.com/office/drawing/2014/main" id="{59544138-70DE-1D54-2AEA-2A65A1FC69E4}"/>
              </a:ext>
            </a:extLst>
          </p:cNvPr>
          <p:cNvSpPr txBox="1"/>
          <p:nvPr/>
        </p:nvSpPr>
        <p:spPr>
          <a:xfrm>
            <a:off x="1614487" y="1994713"/>
            <a:ext cx="6010275" cy="3970318"/>
          </a:xfrm>
          <a:prstGeom prst="rect">
            <a:avLst/>
          </a:prstGeom>
          <a:solidFill>
            <a:schemeClr val="accent1">
              <a:lumMod val="20000"/>
              <a:lumOff val="80000"/>
              <a:alpha val="50000"/>
            </a:schemeClr>
          </a:solidFill>
        </p:spPr>
        <p:txBody>
          <a:bodyPr wrap="square" rtlCol="0">
            <a:spAutoFit/>
          </a:bodyPr>
          <a:lstStyle/>
          <a:p>
            <a:r>
              <a:rPr lang="en-US" dirty="0">
                <a:latin typeface="Consolas" panose="020B0609020204030204" pitchFamily="49" charset="0"/>
              </a:rPr>
              <a:t>#include&lt;iostream&gt;</a:t>
            </a:r>
          </a:p>
          <a:p>
            <a:endParaRPr lang="en-US" dirty="0">
              <a:latin typeface="Consolas" panose="020B0609020204030204" pitchFamily="49" charset="0"/>
            </a:endParaRPr>
          </a:p>
          <a:p>
            <a:r>
              <a:rPr lang="en-US" dirty="0">
                <a:latin typeface="Consolas" panose="020B0609020204030204" pitchFamily="49" charset="0"/>
              </a:rPr>
              <a:t>int main() {</a:t>
            </a:r>
          </a:p>
          <a:p>
            <a:r>
              <a:rPr lang="en-US" dirty="0">
                <a:latin typeface="Consolas" panose="020B0609020204030204" pitchFamily="49" charset="0"/>
              </a:rPr>
              <a:t>    int a, b;</a:t>
            </a:r>
          </a:p>
          <a:p>
            <a:r>
              <a:rPr lang="en-US" dirty="0">
                <a:latin typeface="Consolas" panose="020B0609020204030204" pitchFamily="49" charset="0"/>
              </a:rPr>
              <a:t>    std::</a:t>
            </a:r>
            <a:r>
              <a:rPr lang="en-US" dirty="0" err="1">
                <a:latin typeface="Consolas" panose="020B0609020204030204" pitchFamily="49" charset="0"/>
              </a:rPr>
              <a:t>cin</a:t>
            </a:r>
            <a:r>
              <a:rPr lang="en-US" dirty="0">
                <a:latin typeface="Consolas" panose="020B0609020204030204" pitchFamily="49" charset="0"/>
              </a:rPr>
              <a:t> &gt;&gt; a &gt;&gt; b;</a:t>
            </a:r>
          </a:p>
          <a:p>
            <a:endParaRPr lang="en-US" dirty="0">
              <a:latin typeface="Consolas" panose="020B0609020204030204" pitchFamily="49" charset="0"/>
            </a:endParaRPr>
          </a:p>
          <a:p>
            <a:r>
              <a:rPr lang="en-US" dirty="0">
                <a:latin typeface="Consolas" panose="020B0609020204030204" pitchFamily="49" charset="0"/>
              </a:rPr>
              <a:t>    if(a &gt; b) {</a:t>
            </a:r>
          </a:p>
          <a:p>
            <a:r>
              <a:rPr lang="en-US" dirty="0">
                <a:latin typeface="Consolas" panose="020B0609020204030204" pitchFamily="49" charset="0"/>
              </a:rPr>
              <a:t>        int t = a;</a:t>
            </a:r>
          </a:p>
          <a:p>
            <a:r>
              <a:rPr lang="en-US" dirty="0">
                <a:latin typeface="Consolas" panose="020B0609020204030204" pitchFamily="49" charset="0"/>
              </a:rPr>
              <a:t>        a = b;</a:t>
            </a:r>
          </a:p>
          <a:p>
            <a:r>
              <a:rPr lang="en-US" dirty="0">
                <a:latin typeface="Consolas" panose="020B0609020204030204" pitchFamily="49" charset="0"/>
              </a:rPr>
              <a:t>        b = t;</a:t>
            </a:r>
          </a:p>
          <a:p>
            <a:r>
              <a:rPr lang="en-US" dirty="0">
                <a:latin typeface="Consolas" panose="020B0609020204030204" pitchFamily="49" charset="0"/>
              </a:rPr>
              <a:t>    }</a:t>
            </a:r>
          </a:p>
          <a:p>
            <a:endParaRPr lang="en-US" dirty="0">
              <a:latin typeface="Consolas" panose="020B0609020204030204" pitchFamily="49" charset="0"/>
            </a:endParaRPr>
          </a:p>
          <a:p>
            <a:r>
              <a:rPr lang="en-US" dirty="0">
                <a:latin typeface="Consolas" panose="020B0609020204030204" pitchFamily="49" charset="0"/>
              </a:rPr>
              <a:t>    std::</a:t>
            </a:r>
            <a:r>
              <a:rPr lang="en-US" dirty="0" err="1">
                <a:latin typeface="Consolas" panose="020B0609020204030204" pitchFamily="49" charset="0"/>
              </a:rPr>
              <a:t>cout</a:t>
            </a:r>
            <a:r>
              <a:rPr lang="en-US" dirty="0">
                <a:latin typeface="Consolas" panose="020B0609020204030204" pitchFamily="49" charset="0"/>
              </a:rPr>
              <a:t> &lt;&lt; a &lt;&lt; " " &lt;&lt; b &lt;&lt;std::</a:t>
            </a:r>
            <a:r>
              <a:rPr lang="en-US" dirty="0" err="1">
                <a:latin typeface="Consolas" panose="020B0609020204030204" pitchFamily="49" charset="0"/>
              </a:rPr>
              <a:t>endl</a:t>
            </a:r>
            <a:r>
              <a:rPr lang="en-US" dirty="0">
                <a:latin typeface="Consolas" panose="020B0609020204030204" pitchFamily="49" charset="0"/>
              </a:rPr>
              <a:t>;</a:t>
            </a:r>
          </a:p>
          <a:p>
            <a:r>
              <a:rPr lang="en-US" dirty="0">
                <a:latin typeface="Consolas" panose="020B0609020204030204" pitchFamily="49" charset="0"/>
              </a:rPr>
              <a:t>}</a:t>
            </a:r>
          </a:p>
        </p:txBody>
      </p:sp>
      <p:sp>
        <p:nvSpPr>
          <p:cNvPr id="3" name="TextBox 2">
            <a:extLst>
              <a:ext uri="{FF2B5EF4-FFF2-40B4-BE49-F238E27FC236}">
                <a16:creationId xmlns:a16="http://schemas.microsoft.com/office/drawing/2014/main" id="{B908F824-8F12-2310-3FBC-5F35F8D5D81B}"/>
              </a:ext>
            </a:extLst>
          </p:cNvPr>
          <p:cNvSpPr txBox="1"/>
          <p:nvPr/>
        </p:nvSpPr>
        <p:spPr>
          <a:xfrm>
            <a:off x="1295400" y="1546264"/>
            <a:ext cx="6648450" cy="369332"/>
          </a:xfrm>
          <a:prstGeom prst="rect">
            <a:avLst/>
          </a:prstGeom>
          <a:noFill/>
        </p:spPr>
        <p:txBody>
          <a:bodyPr wrap="square" rtlCol="0">
            <a:spAutoFit/>
          </a:bodyPr>
          <a:lstStyle/>
          <a:p>
            <a:r>
              <a:rPr lang="en-US" dirty="0">
                <a:solidFill>
                  <a:schemeClr val="accent1"/>
                </a:solidFill>
              </a:rPr>
              <a:t>Q. </a:t>
            </a:r>
            <a:r>
              <a:rPr lang="en-US" dirty="0"/>
              <a:t>What does this program do?</a:t>
            </a:r>
            <a:endParaRPr lang="en-PK" dirty="0"/>
          </a:p>
        </p:txBody>
      </p:sp>
      <p:sp>
        <p:nvSpPr>
          <p:cNvPr id="5" name="TextBox 4">
            <a:extLst>
              <a:ext uri="{FF2B5EF4-FFF2-40B4-BE49-F238E27FC236}">
                <a16:creationId xmlns:a16="http://schemas.microsoft.com/office/drawing/2014/main" id="{4502528D-E842-8F43-B52F-C8F8E94F3079}"/>
              </a:ext>
            </a:extLst>
          </p:cNvPr>
          <p:cNvSpPr txBox="1"/>
          <p:nvPr/>
        </p:nvSpPr>
        <p:spPr>
          <a:xfrm>
            <a:off x="1295400" y="6044148"/>
            <a:ext cx="8496299" cy="369332"/>
          </a:xfrm>
          <a:prstGeom prst="rect">
            <a:avLst/>
          </a:prstGeom>
          <a:noFill/>
        </p:spPr>
        <p:txBody>
          <a:bodyPr wrap="square" rtlCol="0">
            <a:spAutoFit/>
          </a:bodyPr>
          <a:lstStyle/>
          <a:p>
            <a:r>
              <a:rPr lang="en-US" dirty="0">
                <a:solidFill>
                  <a:schemeClr val="accent1"/>
                </a:solidFill>
              </a:rPr>
              <a:t>A. </a:t>
            </a:r>
            <a:r>
              <a:rPr lang="en-US" dirty="0"/>
              <a:t>Reads two integers from the command line, then prints them out in numerical order.</a:t>
            </a:r>
            <a:endParaRPr lang="en-PK" dirty="0"/>
          </a:p>
        </p:txBody>
      </p:sp>
    </p:spTree>
    <p:extLst>
      <p:ext uri="{BB962C8B-B14F-4D97-AF65-F5344CB8AC3E}">
        <p14:creationId xmlns:p14="http://schemas.microsoft.com/office/powerpoint/2010/main" val="17643614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220C2-9838-CCCA-C38B-13BDF52B6737}"/>
              </a:ext>
            </a:extLst>
          </p:cNvPr>
          <p:cNvSpPr>
            <a:spLocks noGrp="1"/>
          </p:cNvSpPr>
          <p:nvPr>
            <p:ph type="title"/>
          </p:nvPr>
        </p:nvSpPr>
        <p:spPr/>
        <p:txBody>
          <a:bodyPr>
            <a:normAutofit/>
          </a:bodyPr>
          <a:lstStyle/>
          <a:p>
            <a:r>
              <a:rPr lang="en-US" sz="3600" dirty="0"/>
              <a:t>Pop quiz on </a:t>
            </a:r>
            <a:r>
              <a:rPr lang="en-US" sz="3600" dirty="0">
                <a:latin typeface="Consolas" panose="020B0609020204030204" pitchFamily="49" charset="0"/>
              </a:rPr>
              <a:t>if</a:t>
            </a:r>
            <a:r>
              <a:rPr lang="en-US" sz="3600" dirty="0"/>
              <a:t> statement</a:t>
            </a:r>
            <a:endParaRPr lang="en-PK" sz="3600" dirty="0"/>
          </a:p>
        </p:txBody>
      </p:sp>
      <p:sp>
        <p:nvSpPr>
          <p:cNvPr id="4" name="TextBox 3">
            <a:extLst>
              <a:ext uri="{FF2B5EF4-FFF2-40B4-BE49-F238E27FC236}">
                <a16:creationId xmlns:a16="http://schemas.microsoft.com/office/drawing/2014/main" id="{59544138-70DE-1D54-2AEA-2A65A1FC69E4}"/>
              </a:ext>
            </a:extLst>
          </p:cNvPr>
          <p:cNvSpPr txBox="1"/>
          <p:nvPr/>
        </p:nvSpPr>
        <p:spPr>
          <a:xfrm>
            <a:off x="1309686" y="2023288"/>
            <a:ext cx="6824663" cy="3693319"/>
          </a:xfrm>
          <a:prstGeom prst="rect">
            <a:avLst/>
          </a:prstGeom>
          <a:solidFill>
            <a:schemeClr val="accent1">
              <a:lumMod val="20000"/>
              <a:lumOff val="80000"/>
              <a:alpha val="50000"/>
            </a:schemeClr>
          </a:solidFill>
        </p:spPr>
        <p:txBody>
          <a:bodyPr wrap="square" rtlCol="0">
            <a:spAutoFit/>
          </a:bodyPr>
          <a:lstStyle/>
          <a:p>
            <a:r>
              <a:rPr lang="en-US" dirty="0">
                <a:latin typeface="Consolas" panose="020B0609020204030204" pitchFamily="49" charset="0"/>
              </a:rPr>
              <a:t>#include&lt;iostream&gt;</a:t>
            </a:r>
          </a:p>
          <a:p>
            <a:endParaRPr lang="en-US" dirty="0">
              <a:latin typeface="Consolas" panose="020B0609020204030204" pitchFamily="49" charset="0"/>
            </a:endParaRPr>
          </a:p>
          <a:p>
            <a:r>
              <a:rPr lang="en-US" dirty="0">
                <a:latin typeface="Consolas" panose="020B0609020204030204" pitchFamily="49" charset="0"/>
              </a:rPr>
              <a:t>int main() {</a:t>
            </a:r>
          </a:p>
          <a:p>
            <a:r>
              <a:rPr lang="en-US" dirty="0">
                <a:latin typeface="Consolas" panose="020B0609020204030204" pitchFamily="49" charset="0"/>
              </a:rPr>
              <a:t>    int a, b, c;</a:t>
            </a:r>
          </a:p>
          <a:p>
            <a:r>
              <a:rPr lang="en-US" dirty="0">
                <a:latin typeface="Consolas" panose="020B0609020204030204" pitchFamily="49" charset="0"/>
              </a:rPr>
              <a:t>    std::</a:t>
            </a:r>
            <a:r>
              <a:rPr lang="en-US" dirty="0" err="1">
                <a:latin typeface="Consolas" panose="020B0609020204030204" pitchFamily="49" charset="0"/>
              </a:rPr>
              <a:t>cin</a:t>
            </a:r>
            <a:r>
              <a:rPr lang="en-US" dirty="0">
                <a:latin typeface="Consolas" panose="020B0609020204030204" pitchFamily="49" charset="0"/>
              </a:rPr>
              <a:t> &gt;&gt; a &gt;&gt; b &gt;&gt; c;</a:t>
            </a:r>
          </a:p>
          <a:p>
            <a:endParaRPr lang="en-US" dirty="0">
              <a:latin typeface="Consolas" panose="020B0609020204030204" pitchFamily="49" charset="0"/>
            </a:endParaRPr>
          </a:p>
          <a:p>
            <a:r>
              <a:rPr lang="en-US" dirty="0">
                <a:latin typeface="Consolas" panose="020B0609020204030204" pitchFamily="49" charset="0"/>
              </a:rPr>
              <a:t>    </a:t>
            </a:r>
          </a:p>
          <a:p>
            <a:endParaRPr lang="en-US" dirty="0">
              <a:latin typeface="Consolas" panose="020B0609020204030204" pitchFamily="49" charset="0"/>
            </a:endParaRPr>
          </a:p>
          <a:p>
            <a:endParaRPr lang="en-US" dirty="0">
              <a:latin typeface="Consolas" panose="020B0609020204030204" pitchFamily="49" charset="0"/>
            </a:endParaRPr>
          </a:p>
          <a:p>
            <a:endParaRPr lang="en-US" dirty="0">
              <a:latin typeface="Consolas" panose="020B0609020204030204" pitchFamily="49" charset="0"/>
            </a:endParaRPr>
          </a:p>
          <a:p>
            <a:endParaRPr lang="en-US" dirty="0">
              <a:latin typeface="Consolas" panose="020B0609020204030204" pitchFamily="49" charset="0"/>
            </a:endParaRPr>
          </a:p>
          <a:p>
            <a:r>
              <a:rPr lang="en-US" dirty="0">
                <a:latin typeface="Consolas" panose="020B0609020204030204" pitchFamily="49" charset="0"/>
              </a:rPr>
              <a:t>    std::</a:t>
            </a:r>
            <a:r>
              <a:rPr lang="en-US" dirty="0" err="1">
                <a:latin typeface="Consolas" panose="020B0609020204030204" pitchFamily="49" charset="0"/>
              </a:rPr>
              <a:t>cout</a:t>
            </a:r>
            <a:r>
              <a:rPr lang="en-US" dirty="0">
                <a:latin typeface="Consolas" panose="020B0609020204030204" pitchFamily="49" charset="0"/>
              </a:rPr>
              <a:t> &lt;&lt; a &lt;&lt; " " &lt;&lt; b &lt;&lt; " " &lt;&lt; c &lt;&lt; "\n";</a:t>
            </a:r>
          </a:p>
          <a:p>
            <a:r>
              <a:rPr lang="en-US" dirty="0">
                <a:latin typeface="Consolas" panose="020B0609020204030204" pitchFamily="49" charset="0"/>
              </a:rPr>
              <a:t>}</a:t>
            </a:r>
          </a:p>
        </p:txBody>
      </p:sp>
      <p:sp>
        <p:nvSpPr>
          <p:cNvPr id="3" name="TextBox 2">
            <a:extLst>
              <a:ext uri="{FF2B5EF4-FFF2-40B4-BE49-F238E27FC236}">
                <a16:creationId xmlns:a16="http://schemas.microsoft.com/office/drawing/2014/main" id="{B908F824-8F12-2310-3FBC-5F35F8D5D81B}"/>
              </a:ext>
            </a:extLst>
          </p:cNvPr>
          <p:cNvSpPr txBox="1"/>
          <p:nvPr/>
        </p:nvSpPr>
        <p:spPr>
          <a:xfrm>
            <a:off x="1281112" y="1506022"/>
            <a:ext cx="7715250" cy="369332"/>
          </a:xfrm>
          <a:prstGeom prst="rect">
            <a:avLst/>
          </a:prstGeom>
          <a:noFill/>
        </p:spPr>
        <p:txBody>
          <a:bodyPr wrap="square" rtlCol="0">
            <a:spAutoFit/>
          </a:bodyPr>
          <a:lstStyle/>
          <a:p>
            <a:r>
              <a:rPr lang="en-US" dirty="0">
                <a:solidFill>
                  <a:schemeClr val="accent1"/>
                </a:solidFill>
              </a:rPr>
              <a:t>Q. </a:t>
            </a:r>
            <a:r>
              <a:rPr lang="en-US" dirty="0"/>
              <a:t>Add code to this program that puts a, b, and c in numerical order.</a:t>
            </a:r>
            <a:endParaRPr lang="en-PK" dirty="0"/>
          </a:p>
        </p:txBody>
      </p:sp>
      <p:sp>
        <p:nvSpPr>
          <p:cNvPr id="6" name="TextBox 5">
            <a:extLst>
              <a:ext uri="{FF2B5EF4-FFF2-40B4-BE49-F238E27FC236}">
                <a16:creationId xmlns:a16="http://schemas.microsoft.com/office/drawing/2014/main" id="{E08BBAA0-BDF5-0C46-2BBA-8441EE92332A}"/>
              </a:ext>
            </a:extLst>
          </p:cNvPr>
          <p:cNvSpPr txBox="1"/>
          <p:nvPr/>
        </p:nvSpPr>
        <p:spPr>
          <a:xfrm>
            <a:off x="2228849" y="3543300"/>
            <a:ext cx="5343525" cy="1325563"/>
          </a:xfrm>
          <a:prstGeom prst="rect">
            <a:avLst/>
          </a:prstGeom>
          <a:solidFill>
            <a:schemeClr val="accent1">
              <a:lumMod val="40000"/>
              <a:lumOff val="60000"/>
              <a:alpha val="50000"/>
            </a:schemeClr>
          </a:solidFill>
        </p:spPr>
        <p:txBody>
          <a:bodyPr wrap="square" rtlCol="0">
            <a:spAutoFit/>
          </a:bodyPr>
          <a:lstStyle/>
          <a:p>
            <a:endParaRPr lang="en-PK" dirty="0"/>
          </a:p>
        </p:txBody>
      </p:sp>
      <p:sp>
        <p:nvSpPr>
          <p:cNvPr id="7" name="TextBox 6">
            <a:extLst>
              <a:ext uri="{FF2B5EF4-FFF2-40B4-BE49-F238E27FC236}">
                <a16:creationId xmlns:a16="http://schemas.microsoft.com/office/drawing/2014/main" id="{BFB606F4-D03C-A625-0E20-EBC1D1A00CF7}"/>
              </a:ext>
            </a:extLst>
          </p:cNvPr>
          <p:cNvSpPr txBox="1"/>
          <p:nvPr/>
        </p:nvSpPr>
        <p:spPr>
          <a:xfrm>
            <a:off x="8996362" y="2646919"/>
            <a:ext cx="2505074" cy="2031325"/>
          </a:xfrm>
          <a:prstGeom prst="rect">
            <a:avLst/>
          </a:prstGeom>
          <a:solidFill>
            <a:schemeClr val="accent1">
              <a:lumMod val="20000"/>
              <a:lumOff val="80000"/>
              <a:alpha val="50000"/>
            </a:schemeClr>
          </a:solidFill>
        </p:spPr>
        <p:txBody>
          <a:bodyPr wrap="square" rtlCol="0">
            <a:spAutoFit/>
          </a:bodyPr>
          <a:lstStyle/>
          <a:p>
            <a:pPr marL="285750" indent="-285750">
              <a:buFont typeface="Wingdings" panose="05000000000000000000" pitchFamily="2" charset="2"/>
              <a:buChar char="Ø"/>
            </a:pPr>
            <a:r>
              <a:rPr lang="en-US" dirty="0">
                <a:latin typeface="Consolas" panose="020B0609020204030204" pitchFamily="49" charset="0"/>
              </a:rPr>
              <a:t>a</a:t>
            </a:r>
          </a:p>
          <a:p>
            <a:r>
              <a:rPr lang="en-US" dirty="0">
                <a:latin typeface="Consolas" panose="020B0609020204030204" pitchFamily="49" charset="0"/>
              </a:rPr>
              <a:t>  123 99 1</a:t>
            </a:r>
          </a:p>
          <a:p>
            <a:r>
              <a:rPr lang="en-US" dirty="0">
                <a:latin typeface="Consolas" panose="020B0609020204030204" pitchFamily="49" charset="0"/>
              </a:rPr>
              <a:t>  </a:t>
            </a:r>
            <a:r>
              <a:rPr lang="en-US" dirty="0">
                <a:solidFill>
                  <a:schemeClr val="accent1"/>
                </a:solidFill>
                <a:latin typeface="Consolas" panose="020B0609020204030204" pitchFamily="49" charset="0"/>
              </a:rPr>
              <a:t>1 99 123</a:t>
            </a:r>
          </a:p>
          <a:p>
            <a:pPr marL="285750" indent="-285750">
              <a:buFont typeface="Wingdings" panose="05000000000000000000" pitchFamily="2" charset="2"/>
              <a:buChar char="Ø"/>
            </a:pPr>
            <a:endParaRPr lang="en-US" dirty="0">
              <a:latin typeface="Consolas" panose="020B0609020204030204" pitchFamily="49" charset="0"/>
            </a:endParaRPr>
          </a:p>
          <a:p>
            <a:pPr marL="285750" indent="-285750">
              <a:buFont typeface="Wingdings" panose="05000000000000000000" pitchFamily="2" charset="2"/>
              <a:buChar char="Ø"/>
            </a:pPr>
            <a:r>
              <a:rPr lang="en-US" dirty="0">
                <a:latin typeface="Consolas" panose="020B0609020204030204" pitchFamily="49" charset="0"/>
              </a:rPr>
              <a:t>a</a:t>
            </a:r>
          </a:p>
          <a:p>
            <a:r>
              <a:rPr lang="en-US" dirty="0">
                <a:latin typeface="Consolas" panose="020B0609020204030204" pitchFamily="49" charset="0"/>
              </a:rPr>
              <a:t>  99 1 123</a:t>
            </a:r>
          </a:p>
          <a:p>
            <a:r>
              <a:rPr lang="en-US" dirty="0">
                <a:latin typeface="Consolas" panose="020B0609020204030204" pitchFamily="49" charset="0"/>
              </a:rPr>
              <a:t>  </a:t>
            </a:r>
            <a:r>
              <a:rPr lang="en-US" dirty="0">
                <a:solidFill>
                  <a:schemeClr val="accent1"/>
                </a:solidFill>
                <a:latin typeface="Consolas" panose="020B0609020204030204" pitchFamily="49" charset="0"/>
              </a:rPr>
              <a:t>1 99 123</a:t>
            </a:r>
          </a:p>
        </p:txBody>
      </p:sp>
    </p:spTree>
    <p:extLst>
      <p:ext uri="{BB962C8B-B14F-4D97-AF65-F5344CB8AC3E}">
        <p14:creationId xmlns:p14="http://schemas.microsoft.com/office/powerpoint/2010/main" val="6026790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220C2-9838-CCCA-C38B-13BDF52B6737}"/>
              </a:ext>
            </a:extLst>
          </p:cNvPr>
          <p:cNvSpPr>
            <a:spLocks noGrp="1"/>
          </p:cNvSpPr>
          <p:nvPr>
            <p:ph type="title"/>
          </p:nvPr>
        </p:nvSpPr>
        <p:spPr/>
        <p:txBody>
          <a:bodyPr>
            <a:normAutofit/>
          </a:bodyPr>
          <a:lstStyle/>
          <a:p>
            <a:r>
              <a:rPr lang="en-US" sz="3600" dirty="0"/>
              <a:t>Pop quiz on </a:t>
            </a:r>
            <a:r>
              <a:rPr lang="en-US" sz="3600" dirty="0">
                <a:latin typeface="Consolas" panose="020B0609020204030204" pitchFamily="49" charset="0"/>
              </a:rPr>
              <a:t>if</a:t>
            </a:r>
            <a:r>
              <a:rPr lang="en-US" sz="3600" dirty="0"/>
              <a:t> statement</a:t>
            </a:r>
            <a:endParaRPr lang="en-PK" sz="3600" dirty="0"/>
          </a:p>
        </p:txBody>
      </p:sp>
      <p:sp>
        <p:nvSpPr>
          <p:cNvPr id="4" name="TextBox 3">
            <a:extLst>
              <a:ext uri="{FF2B5EF4-FFF2-40B4-BE49-F238E27FC236}">
                <a16:creationId xmlns:a16="http://schemas.microsoft.com/office/drawing/2014/main" id="{59544138-70DE-1D54-2AEA-2A65A1FC69E4}"/>
              </a:ext>
            </a:extLst>
          </p:cNvPr>
          <p:cNvSpPr txBox="1"/>
          <p:nvPr/>
        </p:nvSpPr>
        <p:spPr>
          <a:xfrm>
            <a:off x="1309686" y="2023288"/>
            <a:ext cx="6824663" cy="4247317"/>
          </a:xfrm>
          <a:prstGeom prst="rect">
            <a:avLst/>
          </a:prstGeom>
          <a:solidFill>
            <a:schemeClr val="accent1">
              <a:lumMod val="20000"/>
              <a:lumOff val="80000"/>
              <a:alpha val="50000"/>
            </a:schemeClr>
          </a:solidFill>
        </p:spPr>
        <p:txBody>
          <a:bodyPr wrap="square" rtlCol="0">
            <a:spAutoFit/>
          </a:bodyPr>
          <a:lstStyle/>
          <a:p>
            <a:r>
              <a:rPr lang="en-US" dirty="0">
                <a:latin typeface="Consolas" panose="020B0609020204030204" pitchFamily="49" charset="0"/>
              </a:rPr>
              <a:t>#include&lt;iostream&gt;</a:t>
            </a:r>
          </a:p>
          <a:p>
            <a:endParaRPr lang="en-US" dirty="0">
              <a:latin typeface="Consolas" panose="020B0609020204030204" pitchFamily="49" charset="0"/>
            </a:endParaRPr>
          </a:p>
          <a:p>
            <a:r>
              <a:rPr lang="en-US" dirty="0">
                <a:latin typeface="Consolas" panose="020B0609020204030204" pitchFamily="49" charset="0"/>
              </a:rPr>
              <a:t>int main() {</a:t>
            </a:r>
          </a:p>
          <a:p>
            <a:r>
              <a:rPr lang="en-US" dirty="0">
                <a:latin typeface="Consolas" panose="020B0609020204030204" pitchFamily="49" charset="0"/>
              </a:rPr>
              <a:t>    int a, b, c;</a:t>
            </a:r>
          </a:p>
          <a:p>
            <a:r>
              <a:rPr lang="en-US" dirty="0">
                <a:latin typeface="Consolas" panose="020B0609020204030204" pitchFamily="49" charset="0"/>
              </a:rPr>
              <a:t>    std::</a:t>
            </a:r>
            <a:r>
              <a:rPr lang="en-US" dirty="0" err="1">
                <a:latin typeface="Consolas" panose="020B0609020204030204" pitchFamily="49" charset="0"/>
              </a:rPr>
              <a:t>cin</a:t>
            </a:r>
            <a:r>
              <a:rPr lang="en-US" dirty="0">
                <a:latin typeface="Consolas" panose="020B0609020204030204" pitchFamily="49" charset="0"/>
              </a:rPr>
              <a:t> &gt;&gt; a &gt;&gt; b &gt;&gt; c;</a:t>
            </a:r>
          </a:p>
          <a:p>
            <a:endParaRPr lang="en-US" dirty="0">
              <a:latin typeface="Consolas" panose="020B0609020204030204" pitchFamily="49" charset="0"/>
            </a:endParaRPr>
          </a:p>
          <a:p>
            <a:r>
              <a:rPr lang="en-US" dirty="0">
                <a:latin typeface="Consolas" panose="020B0609020204030204" pitchFamily="49" charset="0"/>
              </a:rPr>
              <a:t>    if (b &lt; a)</a:t>
            </a:r>
          </a:p>
          <a:p>
            <a:r>
              <a:rPr lang="en-US" dirty="0">
                <a:latin typeface="Consolas" panose="020B0609020204030204" pitchFamily="49" charset="0"/>
              </a:rPr>
              <a:t>    { int t = a; a = b; b = t; }</a:t>
            </a:r>
          </a:p>
          <a:p>
            <a:r>
              <a:rPr lang="en-US" dirty="0">
                <a:latin typeface="Consolas" panose="020B0609020204030204" pitchFamily="49" charset="0"/>
              </a:rPr>
              <a:t>    if (c &lt; a)</a:t>
            </a:r>
          </a:p>
          <a:p>
            <a:r>
              <a:rPr lang="en-US" dirty="0">
                <a:latin typeface="Consolas" panose="020B0609020204030204" pitchFamily="49" charset="0"/>
              </a:rPr>
              <a:t>    { int t = a; a = c; c = t; }</a:t>
            </a:r>
          </a:p>
          <a:p>
            <a:r>
              <a:rPr lang="en-US" dirty="0">
                <a:latin typeface="Consolas" panose="020B0609020204030204" pitchFamily="49" charset="0"/>
              </a:rPr>
              <a:t>    if (c &lt; b)</a:t>
            </a:r>
          </a:p>
          <a:p>
            <a:r>
              <a:rPr lang="en-US" dirty="0">
                <a:latin typeface="Consolas" panose="020B0609020204030204" pitchFamily="49" charset="0"/>
              </a:rPr>
              <a:t>    { int t = b; b = c; c = t; }</a:t>
            </a:r>
          </a:p>
          <a:p>
            <a:endParaRPr lang="en-US" dirty="0">
              <a:latin typeface="Consolas" panose="020B0609020204030204" pitchFamily="49" charset="0"/>
            </a:endParaRPr>
          </a:p>
          <a:p>
            <a:r>
              <a:rPr lang="en-US" dirty="0">
                <a:latin typeface="Consolas" panose="020B0609020204030204" pitchFamily="49" charset="0"/>
              </a:rPr>
              <a:t>    std::</a:t>
            </a:r>
            <a:r>
              <a:rPr lang="en-US" dirty="0" err="1">
                <a:latin typeface="Consolas" panose="020B0609020204030204" pitchFamily="49" charset="0"/>
              </a:rPr>
              <a:t>cout</a:t>
            </a:r>
            <a:r>
              <a:rPr lang="en-US" dirty="0">
                <a:latin typeface="Consolas" panose="020B0609020204030204" pitchFamily="49" charset="0"/>
              </a:rPr>
              <a:t> &lt;&lt; a &lt;&lt; " " &lt;&lt; b &lt;&lt; " " &lt;&lt; c &lt;&lt; "\n";</a:t>
            </a:r>
          </a:p>
          <a:p>
            <a:r>
              <a:rPr lang="en-US" dirty="0">
                <a:latin typeface="Consolas" panose="020B0609020204030204" pitchFamily="49" charset="0"/>
              </a:rPr>
              <a:t>}</a:t>
            </a:r>
          </a:p>
        </p:txBody>
      </p:sp>
      <p:sp>
        <p:nvSpPr>
          <p:cNvPr id="3" name="TextBox 2">
            <a:extLst>
              <a:ext uri="{FF2B5EF4-FFF2-40B4-BE49-F238E27FC236}">
                <a16:creationId xmlns:a16="http://schemas.microsoft.com/office/drawing/2014/main" id="{B908F824-8F12-2310-3FBC-5F35F8D5D81B}"/>
              </a:ext>
            </a:extLst>
          </p:cNvPr>
          <p:cNvSpPr txBox="1"/>
          <p:nvPr/>
        </p:nvSpPr>
        <p:spPr>
          <a:xfrm>
            <a:off x="1281112" y="1506022"/>
            <a:ext cx="7715250" cy="369332"/>
          </a:xfrm>
          <a:prstGeom prst="rect">
            <a:avLst/>
          </a:prstGeom>
          <a:noFill/>
        </p:spPr>
        <p:txBody>
          <a:bodyPr wrap="square" rtlCol="0">
            <a:spAutoFit/>
          </a:bodyPr>
          <a:lstStyle/>
          <a:p>
            <a:r>
              <a:rPr lang="en-US" dirty="0">
                <a:solidFill>
                  <a:schemeClr val="accent1"/>
                </a:solidFill>
              </a:rPr>
              <a:t>Q. </a:t>
            </a:r>
            <a:r>
              <a:rPr lang="en-US" dirty="0"/>
              <a:t>Add code to this program that puts a, b, and c in numerical order.</a:t>
            </a:r>
            <a:endParaRPr lang="en-PK" dirty="0"/>
          </a:p>
        </p:txBody>
      </p:sp>
      <p:sp>
        <p:nvSpPr>
          <p:cNvPr id="7" name="TextBox 6">
            <a:extLst>
              <a:ext uri="{FF2B5EF4-FFF2-40B4-BE49-F238E27FC236}">
                <a16:creationId xmlns:a16="http://schemas.microsoft.com/office/drawing/2014/main" id="{BFB606F4-D03C-A625-0E20-EBC1D1A00CF7}"/>
              </a:ext>
            </a:extLst>
          </p:cNvPr>
          <p:cNvSpPr txBox="1"/>
          <p:nvPr/>
        </p:nvSpPr>
        <p:spPr>
          <a:xfrm>
            <a:off x="8996362" y="2646919"/>
            <a:ext cx="2505074" cy="2031325"/>
          </a:xfrm>
          <a:prstGeom prst="rect">
            <a:avLst/>
          </a:prstGeom>
          <a:solidFill>
            <a:schemeClr val="accent1">
              <a:lumMod val="20000"/>
              <a:lumOff val="80000"/>
              <a:alpha val="50000"/>
            </a:schemeClr>
          </a:solidFill>
        </p:spPr>
        <p:txBody>
          <a:bodyPr wrap="square" rtlCol="0">
            <a:spAutoFit/>
          </a:bodyPr>
          <a:lstStyle/>
          <a:p>
            <a:pPr marL="285750" indent="-285750">
              <a:buFont typeface="Wingdings" panose="05000000000000000000" pitchFamily="2" charset="2"/>
              <a:buChar char="Ø"/>
            </a:pPr>
            <a:r>
              <a:rPr lang="en-US" dirty="0">
                <a:latin typeface="Consolas" panose="020B0609020204030204" pitchFamily="49" charset="0"/>
              </a:rPr>
              <a:t>a</a:t>
            </a:r>
          </a:p>
          <a:p>
            <a:r>
              <a:rPr lang="en-US" dirty="0">
                <a:latin typeface="Consolas" panose="020B0609020204030204" pitchFamily="49" charset="0"/>
              </a:rPr>
              <a:t>  123 99 1</a:t>
            </a:r>
          </a:p>
          <a:p>
            <a:r>
              <a:rPr lang="en-US" dirty="0">
                <a:latin typeface="Consolas" panose="020B0609020204030204" pitchFamily="49" charset="0"/>
              </a:rPr>
              <a:t>  </a:t>
            </a:r>
            <a:r>
              <a:rPr lang="en-US" dirty="0">
                <a:solidFill>
                  <a:schemeClr val="accent1"/>
                </a:solidFill>
                <a:latin typeface="Consolas" panose="020B0609020204030204" pitchFamily="49" charset="0"/>
              </a:rPr>
              <a:t>1 99 123</a:t>
            </a:r>
          </a:p>
          <a:p>
            <a:pPr marL="285750" indent="-285750">
              <a:buFont typeface="Wingdings" panose="05000000000000000000" pitchFamily="2" charset="2"/>
              <a:buChar char="Ø"/>
            </a:pPr>
            <a:endParaRPr lang="en-US" dirty="0">
              <a:latin typeface="Consolas" panose="020B0609020204030204" pitchFamily="49" charset="0"/>
            </a:endParaRPr>
          </a:p>
          <a:p>
            <a:pPr marL="285750" indent="-285750">
              <a:buFont typeface="Wingdings" panose="05000000000000000000" pitchFamily="2" charset="2"/>
              <a:buChar char="Ø"/>
            </a:pPr>
            <a:r>
              <a:rPr lang="en-US" dirty="0">
                <a:latin typeface="Consolas" panose="020B0609020204030204" pitchFamily="49" charset="0"/>
              </a:rPr>
              <a:t>a</a:t>
            </a:r>
          </a:p>
          <a:p>
            <a:r>
              <a:rPr lang="en-US" dirty="0">
                <a:latin typeface="Consolas" panose="020B0609020204030204" pitchFamily="49" charset="0"/>
              </a:rPr>
              <a:t>  99 1 123</a:t>
            </a:r>
          </a:p>
          <a:p>
            <a:r>
              <a:rPr lang="en-US" dirty="0">
                <a:latin typeface="Consolas" panose="020B0609020204030204" pitchFamily="49" charset="0"/>
              </a:rPr>
              <a:t>  </a:t>
            </a:r>
            <a:r>
              <a:rPr lang="en-US" dirty="0">
                <a:solidFill>
                  <a:schemeClr val="accent1"/>
                </a:solidFill>
                <a:latin typeface="Consolas" panose="020B0609020204030204" pitchFamily="49" charset="0"/>
              </a:rPr>
              <a:t>1 99 123</a:t>
            </a:r>
          </a:p>
        </p:txBody>
      </p:sp>
      <p:sp>
        <p:nvSpPr>
          <p:cNvPr id="5" name="TextBox 4">
            <a:extLst>
              <a:ext uri="{FF2B5EF4-FFF2-40B4-BE49-F238E27FC236}">
                <a16:creationId xmlns:a16="http://schemas.microsoft.com/office/drawing/2014/main" id="{8394F2E5-4304-63A7-00D6-86E12B172783}"/>
              </a:ext>
            </a:extLst>
          </p:cNvPr>
          <p:cNvSpPr txBox="1"/>
          <p:nvPr/>
        </p:nvSpPr>
        <p:spPr>
          <a:xfrm>
            <a:off x="828675" y="3829050"/>
            <a:ext cx="400050" cy="369332"/>
          </a:xfrm>
          <a:prstGeom prst="rect">
            <a:avLst/>
          </a:prstGeom>
          <a:noFill/>
        </p:spPr>
        <p:txBody>
          <a:bodyPr wrap="square" rtlCol="0">
            <a:spAutoFit/>
          </a:bodyPr>
          <a:lstStyle/>
          <a:p>
            <a:r>
              <a:rPr lang="en-US" dirty="0">
                <a:solidFill>
                  <a:schemeClr val="accent1"/>
                </a:solidFill>
              </a:rPr>
              <a:t>A.</a:t>
            </a:r>
            <a:endParaRPr lang="en-PK" dirty="0">
              <a:solidFill>
                <a:schemeClr val="accent1"/>
              </a:solidFill>
            </a:endParaRPr>
          </a:p>
        </p:txBody>
      </p:sp>
      <p:sp>
        <p:nvSpPr>
          <p:cNvPr id="6" name="TextBox 5">
            <a:extLst>
              <a:ext uri="{FF2B5EF4-FFF2-40B4-BE49-F238E27FC236}">
                <a16:creationId xmlns:a16="http://schemas.microsoft.com/office/drawing/2014/main" id="{CEA339A6-CAE9-A4D2-F8C8-876D87F63FD5}"/>
              </a:ext>
            </a:extLst>
          </p:cNvPr>
          <p:cNvSpPr txBox="1"/>
          <p:nvPr/>
        </p:nvSpPr>
        <p:spPr>
          <a:xfrm>
            <a:off x="5958179" y="3993057"/>
            <a:ext cx="1888866" cy="307777"/>
          </a:xfrm>
          <a:prstGeom prst="rect">
            <a:avLst/>
          </a:prstGeom>
          <a:noFill/>
        </p:spPr>
        <p:txBody>
          <a:bodyPr wrap="square" rtlCol="0">
            <a:spAutoFit/>
          </a:bodyPr>
          <a:lstStyle/>
          <a:p>
            <a:r>
              <a:rPr lang="en-US" sz="1400" dirty="0">
                <a:solidFill>
                  <a:schemeClr val="accent1"/>
                </a:solidFill>
              </a:rPr>
              <a:t>makes a smaller than b</a:t>
            </a:r>
            <a:endParaRPr lang="en-PK" sz="1400" dirty="0">
              <a:solidFill>
                <a:schemeClr val="accent1"/>
              </a:solidFill>
            </a:endParaRPr>
          </a:p>
        </p:txBody>
      </p:sp>
      <p:cxnSp>
        <p:nvCxnSpPr>
          <p:cNvPr id="9" name="Straight Arrow Connector 8">
            <a:extLst>
              <a:ext uri="{FF2B5EF4-FFF2-40B4-BE49-F238E27FC236}">
                <a16:creationId xmlns:a16="http://schemas.microsoft.com/office/drawing/2014/main" id="{1C95A200-AC5B-2054-D1F4-4A84DF637384}"/>
              </a:ext>
            </a:extLst>
          </p:cNvPr>
          <p:cNvCxnSpPr/>
          <p:nvPr/>
        </p:nvCxnSpPr>
        <p:spPr>
          <a:xfrm flipH="1">
            <a:off x="5411755" y="4146946"/>
            <a:ext cx="53184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8E6E116-BA68-2E03-E8CD-5B01C5D8AB94}"/>
              </a:ext>
            </a:extLst>
          </p:cNvPr>
          <p:cNvSpPr txBox="1"/>
          <p:nvPr/>
        </p:nvSpPr>
        <p:spPr>
          <a:xfrm>
            <a:off x="5979945" y="4546672"/>
            <a:ext cx="1888866" cy="523220"/>
          </a:xfrm>
          <a:prstGeom prst="rect">
            <a:avLst/>
          </a:prstGeom>
          <a:noFill/>
        </p:spPr>
        <p:txBody>
          <a:bodyPr wrap="square" rtlCol="0">
            <a:spAutoFit/>
          </a:bodyPr>
          <a:lstStyle/>
          <a:p>
            <a:r>
              <a:rPr lang="en-US" sz="1400" dirty="0">
                <a:solidFill>
                  <a:schemeClr val="accent1"/>
                </a:solidFill>
              </a:rPr>
              <a:t>makes a smaller than both b and c</a:t>
            </a:r>
            <a:endParaRPr lang="en-PK" sz="1400" dirty="0">
              <a:solidFill>
                <a:schemeClr val="accent1"/>
              </a:solidFill>
            </a:endParaRPr>
          </a:p>
        </p:txBody>
      </p:sp>
      <p:cxnSp>
        <p:nvCxnSpPr>
          <p:cNvPr id="11" name="Straight Arrow Connector 10">
            <a:extLst>
              <a:ext uri="{FF2B5EF4-FFF2-40B4-BE49-F238E27FC236}">
                <a16:creationId xmlns:a16="http://schemas.microsoft.com/office/drawing/2014/main" id="{27601258-957B-B9F9-AB8C-C4328F7D7A2C}"/>
              </a:ext>
            </a:extLst>
          </p:cNvPr>
          <p:cNvCxnSpPr/>
          <p:nvPr/>
        </p:nvCxnSpPr>
        <p:spPr>
          <a:xfrm flipH="1">
            <a:off x="5433521" y="4700561"/>
            <a:ext cx="53184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8D3300B-3E12-E8CE-9348-20B6781425DD}"/>
              </a:ext>
            </a:extLst>
          </p:cNvPr>
          <p:cNvSpPr txBox="1"/>
          <p:nvPr/>
        </p:nvSpPr>
        <p:spPr>
          <a:xfrm>
            <a:off x="5979946" y="5153166"/>
            <a:ext cx="1888866" cy="307777"/>
          </a:xfrm>
          <a:prstGeom prst="rect">
            <a:avLst/>
          </a:prstGeom>
          <a:noFill/>
        </p:spPr>
        <p:txBody>
          <a:bodyPr wrap="square" rtlCol="0">
            <a:spAutoFit/>
          </a:bodyPr>
          <a:lstStyle/>
          <a:p>
            <a:r>
              <a:rPr lang="en-US" sz="1400" dirty="0">
                <a:solidFill>
                  <a:schemeClr val="accent1"/>
                </a:solidFill>
              </a:rPr>
              <a:t>makes b smaller than c</a:t>
            </a:r>
            <a:endParaRPr lang="en-PK" sz="1400" dirty="0">
              <a:solidFill>
                <a:schemeClr val="accent1"/>
              </a:solidFill>
            </a:endParaRPr>
          </a:p>
        </p:txBody>
      </p:sp>
      <p:cxnSp>
        <p:nvCxnSpPr>
          <p:cNvPr id="13" name="Straight Arrow Connector 12">
            <a:extLst>
              <a:ext uri="{FF2B5EF4-FFF2-40B4-BE49-F238E27FC236}">
                <a16:creationId xmlns:a16="http://schemas.microsoft.com/office/drawing/2014/main" id="{5831C36D-2680-8AB5-452E-839999A72F85}"/>
              </a:ext>
            </a:extLst>
          </p:cNvPr>
          <p:cNvCxnSpPr/>
          <p:nvPr/>
        </p:nvCxnSpPr>
        <p:spPr>
          <a:xfrm flipH="1">
            <a:off x="5445959" y="5310160"/>
            <a:ext cx="53184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42464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220C2-9838-CCCA-C38B-13BDF52B6737}"/>
              </a:ext>
            </a:extLst>
          </p:cNvPr>
          <p:cNvSpPr>
            <a:spLocks noGrp="1"/>
          </p:cNvSpPr>
          <p:nvPr>
            <p:ph type="title"/>
          </p:nvPr>
        </p:nvSpPr>
        <p:spPr/>
        <p:txBody>
          <a:bodyPr>
            <a:normAutofit/>
          </a:bodyPr>
          <a:lstStyle/>
          <a:p>
            <a:r>
              <a:rPr lang="en-US" sz="3600" dirty="0"/>
              <a:t>Issue with the code?</a:t>
            </a:r>
            <a:endParaRPr lang="en-PK" sz="3600" dirty="0"/>
          </a:p>
        </p:txBody>
      </p:sp>
      <p:sp>
        <p:nvSpPr>
          <p:cNvPr id="4" name="TextBox 3">
            <a:extLst>
              <a:ext uri="{FF2B5EF4-FFF2-40B4-BE49-F238E27FC236}">
                <a16:creationId xmlns:a16="http://schemas.microsoft.com/office/drawing/2014/main" id="{59544138-70DE-1D54-2AEA-2A65A1FC69E4}"/>
              </a:ext>
            </a:extLst>
          </p:cNvPr>
          <p:cNvSpPr txBox="1"/>
          <p:nvPr/>
        </p:nvSpPr>
        <p:spPr>
          <a:xfrm>
            <a:off x="1614487" y="1385113"/>
            <a:ext cx="8177212" cy="3416320"/>
          </a:xfrm>
          <a:prstGeom prst="rect">
            <a:avLst/>
          </a:prstGeom>
          <a:solidFill>
            <a:schemeClr val="accent1">
              <a:lumMod val="20000"/>
              <a:lumOff val="80000"/>
              <a:alpha val="50000"/>
            </a:schemeClr>
          </a:solidFill>
        </p:spPr>
        <p:txBody>
          <a:bodyPr wrap="square" rtlCol="0">
            <a:spAutoFit/>
          </a:bodyPr>
          <a:lstStyle/>
          <a:p>
            <a:pPr marL="0" indent="0">
              <a:buNone/>
            </a:pPr>
            <a:r>
              <a:rPr lang="en-US" sz="1800" dirty="0">
                <a:latin typeface="Consolas" panose="020B0609020204030204" pitchFamily="49" charset="0"/>
              </a:rPr>
              <a:t>#include&lt;iostream&gt;</a:t>
            </a:r>
          </a:p>
          <a:p>
            <a:pPr marL="0" indent="0">
              <a:buNone/>
            </a:pPr>
            <a:endParaRPr lang="en-US" sz="1800" dirty="0">
              <a:latin typeface="Consolas" panose="020B0609020204030204" pitchFamily="49" charset="0"/>
            </a:endParaRPr>
          </a:p>
          <a:p>
            <a:pPr marL="0" indent="0">
              <a:buNone/>
            </a:pPr>
            <a:r>
              <a:rPr lang="en-US" sz="1800" dirty="0">
                <a:latin typeface="Consolas" panose="020B0609020204030204" pitchFamily="49" charset="0"/>
              </a:rPr>
              <a:t>int main() {</a:t>
            </a:r>
          </a:p>
          <a:p>
            <a:pPr marL="0" indent="0">
              <a:buNone/>
            </a:pPr>
            <a:r>
              <a:rPr lang="en-US" sz="1800" dirty="0">
                <a:latin typeface="Consolas" panose="020B0609020204030204" pitchFamily="49" charset="0"/>
              </a:rPr>
              <a:t>    int a, b;</a:t>
            </a:r>
          </a:p>
          <a:p>
            <a:pPr marL="0" indent="0">
              <a:buNone/>
            </a:pPr>
            <a:r>
              <a:rPr lang="en-US" sz="1800" dirty="0">
                <a:latin typeface="Consolas" panose="020B0609020204030204" pitchFamily="49" charset="0"/>
              </a:rPr>
              <a:t>    std::</a:t>
            </a:r>
            <a:r>
              <a:rPr lang="en-US" sz="1800" dirty="0" err="1">
                <a:latin typeface="Consolas" panose="020B0609020204030204" pitchFamily="49" charset="0"/>
              </a:rPr>
              <a:t>cin</a:t>
            </a:r>
            <a:r>
              <a:rPr lang="en-US" sz="1800" dirty="0">
                <a:latin typeface="Consolas" panose="020B0609020204030204" pitchFamily="49" charset="0"/>
              </a:rPr>
              <a:t> &gt;&gt; a &gt;&gt; b;</a:t>
            </a:r>
          </a:p>
          <a:p>
            <a:pPr marL="0" indent="0">
              <a:buNone/>
            </a:pPr>
            <a:endParaRPr lang="en-US" sz="1800" dirty="0">
              <a:latin typeface="Consolas" panose="020B0609020204030204" pitchFamily="49" charset="0"/>
            </a:endParaRPr>
          </a:p>
          <a:p>
            <a:pPr marL="0" indent="0">
              <a:buNone/>
            </a:pPr>
            <a:r>
              <a:rPr lang="en-US" sz="1800" dirty="0">
                <a:latin typeface="Consolas" panose="020B0609020204030204" pitchFamily="49" charset="0"/>
              </a:rPr>
              <a:t>    std::</a:t>
            </a:r>
            <a:r>
              <a:rPr lang="en-US" sz="1800" dirty="0" err="1">
                <a:latin typeface="Consolas" panose="020B0609020204030204" pitchFamily="49" charset="0"/>
              </a:rPr>
              <a:t>cout</a:t>
            </a:r>
            <a:r>
              <a:rPr lang="en-US" sz="1800" dirty="0">
                <a:latin typeface="Consolas" panose="020B0609020204030204" pitchFamily="49" charset="0"/>
              </a:rPr>
              <a:t> &lt;&lt; a &lt;&lt; " + " &lt;&lt; b &lt;&lt; " = " &lt;&lt; a + b &lt;&lt; "\n";</a:t>
            </a:r>
          </a:p>
          <a:p>
            <a:pPr marL="0" indent="0">
              <a:buNone/>
            </a:pPr>
            <a:r>
              <a:rPr lang="en-US" sz="1800" dirty="0">
                <a:latin typeface="Consolas" panose="020B0609020204030204" pitchFamily="49" charset="0"/>
              </a:rPr>
              <a:t>    std::</a:t>
            </a:r>
            <a:r>
              <a:rPr lang="en-US" sz="1800" dirty="0" err="1">
                <a:latin typeface="Consolas" panose="020B0609020204030204" pitchFamily="49" charset="0"/>
              </a:rPr>
              <a:t>cout</a:t>
            </a:r>
            <a:r>
              <a:rPr lang="en-US" sz="1800" dirty="0">
                <a:latin typeface="Consolas" panose="020B0609020204030204" pitchFamily="49" charset="0"/>
              </a:rPr>
              <a:t> &lt;&lt; a &lt;&lt; " * " &lt;&lt; b &lt;&lt; " = " &lt;&lt; a * b &lt;&lt; "\n";</a:t>
            </a:r>
          </a:p>
          <a:p>
            <a:pPr marL="0" indent="0">
              <a:buNone/>
            </a:pPr>
            <a:r>
              <a:rPr lang="en-US" sz="1800" dirty="0">
                <a:latin typeface="Consolas" panose="020B0609020204030204" pitchFamily="49" charset="0"/>
              </a:rPr>
              <a:t>    std::</a:t>
            </a:r>
            <a:r>
              <a:rPr lang="en-US" sz="1800" dirty="0" err="1">
                <a:latin typeface="Consolas" panose="020B0609020204030204" pitchFamily="49" charset="0"/>
              </a:rPr>
              <a:t>cout</a:t>
            </a:r>
            <a:r>
              <a:rPr lang="en-US" sz="1800" dirty="0">
                <a:latin typeface="Consolas" panose="020B0609020204030204" pitchFamily="49" charset="0"/>
              </a:rPr>
              <a:t> &lt;&lt; a &lt;&lt; " / " &lt;&lt; b &lt;&lt; " = " &lt;&lt; a / b &lt;&lt; "\n";</a:t>
            </a:r>
          </a:p>
          <a:p>
            <a:pPr marL="0" indent="0">
              <a:buNone/>
            </a:pPr>
            <a:r>
              <a:rPr lang="en-US" sz="1800" dirty="0">
                <a:latin typeface="Consolas" panose="020B0609020204030204" pitchFamily="49" charset="0"/>
              </a:rPr>
              <a:t>    std::</a:t>
            </a:r>
            <a:r>
              <a:rPr lang="en-US" sz="1800" dirty="0" err="1">
                <a:latin typeface="Consolas" panose="020B0609020204030204" pitchFamily="49" charset="0"/>
              </a:rPr>
              <a:t>cout</a:t>
            </a:r>
            <a:r>
              <a:rPr lang="en-US" sz="1800" dirty="0">
                <a:latin typeface="Consolas" panose="020B0609020204030204" pitchFamily="49" charset="0"/>
              </a:rPr>
              <a:t> &lt;&lt; a &lt;&lt; " % " &lt;&lt; b &lt;&lt; " = " &lt;&lt; a % b &lt;&lt; "\n";</a:t>
            </a:r>
          </a:p>
          <a:p>
            <a:pPr marL="0" indent="0">
              <a:buNone/>
            </a:pPr>
            <a:r>
              <a:rPr lang="en-US" sz="1800" dirty="0">
                <a:latin typeface="Consolas" panose="020B0609020204030204" pitchFamily="49" charset="0"/>
              </a:rPr>
              <a:t>    </a:t>
            </a:r>
          </a:p>
          <a:p>
            <a:pPr marL="0" indent="0">
              <a:buNone/>
            </a:pPr>
            <a:r>
              <a:rPr lang="en-US" sz="1800" dirty="0">
                <a:latin typeface="Consolas" panose="020B0609020204030204" pitchFamily="49" charset="0"/>
              </a:rPr>
              <a:t>}</a:t>
            </a:r>
          </a:p>
        </p:txBody>
      </p:sp>
      <p:sp>
        <p:nvSpPr>
          <p:cNvPr id="5" name="TextBox 4">
            <a:extLst>
              <a:ext uri="{FF2B5EF4-FFF2-40B4-BE49-F238E27FC236}">
                <a16:creationId xmlns:a16="http://schemas.microsoft.com/office/drawing/2014/main" id="{4502528D-E842-8F43-B52F-C8F8E94F3079}"/>
              </a:ext>
            </a:extLst>
          </p:cNvPr>
          <p:cNvSpPr txBox="1"/>
          <p:nvPr/>
        </p:nvSpPr>
        <p:spPr>
          <a:xfrm>
            <a:off x="1295400" y="6044148"/>
            <a:ext cx="8496299" cy="369332"/>
          </a:xfrm>
          <a:prstGeom prst="rect">
            <a:avLst/>
          </a:prstGeom>
          <a:noFill/>
        </p:spPr>
        <p:txBody>
          <a:bodyPr wrap="square" rtlCol="0">
            <a:spAutoFit/>
          </a:bodyPr>
          <a:lstStyle/>
          <a:p>
            <a:r>
              <a:rPr lang="en-US" dirty="0">
                <a:solidFill>
                  <a:schemeClr val="accent1"/>
                </a:solidFill>
              </a:rPr>
              <a:t>Good programming practice. </a:t>
            </a:r>
            <a:r>
              <a:rPr lang="en-US" dirty="0"/>
              <a:t>Use conditionals to check for and avoid runtime errors.</a:t>
            </a:r>
            <a:endParaRPr lang="en-PK" dirty="0"/>
          </a:p>
        </p:txBody>
      </p:sp>
    </p:spTree>
    <p:extLst>
      <p:ext uri="{BB962C8B-B14F-4D97-AF65-F5344CB8AC3E}">
        <p14:creationId xmlns:p14="http://schemas.microsoft.com/office/powerpoint/2010/main" val="27446750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84782-6481-BBD4-E004-B7472736EF81}"/>
              </a:ext>
            </a:extLst>
          </p:cNvPr>
          <p:cNvSpPr>
            <a:spLocks noGrp="1"/>
          </p:cNvSpPr>
          <p:nvPr>
            <p:ph type="title"/>
          </p:nvPr>
        </p:nvSpPr>
        <p:spPr>
          <a:xfrm>
            <a:off x="707571" y="169184"/>
            <a:ext cx="8949613" cy="857184"/>
          </a:xfrm>
        </p:spPr>
        <p:txBody>
          <a:bodyPr/>
          <a:lstStyle/>
          <a:p>
            <a:r>
              <a:rPr lang="en-US" b="1" dirty="0">
                <a:solidFill>
                  <a:schemeClr val="bg1"/>
                </a:solidFill>
              </a:rPr>
              <a:t>Question</a:t>
            </a:r>
            <a:endParaRPr lang="en-PK" b="1" dirty="0">
              <a:solidFill>
                <a:schemeClr val="bg1"/>
              </a:solidFill>
            </a:endParaRPr>
          </a:p>
        </p:txBody>
      </p:sp>
      <p:sp>
        <p:nvSpPr>
          <p:cNvPr id="3" name="Content Placeholder 2">
            <a:extLst>
              <a:ext uri="{FF2B5EF4-FFF2-40B4-BE49-F238E27FC236}">
                <a16:creationId xmlns:a16="http://schemas.microsoft.com/office/drawing/2014/main" id="{BE4C2595-F5BA-11AD-E46F-F8F54570C573}"/>
              </a:ext>
            </a:extLst>
          </p:cNvPr>
          <p:cNvSpPr>
            <a:spLocks noGrp="1"/>
          </p:cNvSpPr>
          <p:nvPr>
            <p:ph idx="1"/>
          </p:nvPr>
        </p:nvSpPr>
        <p:spPr>
          <a:xfrm>
            <a:off x="707571" y="1527046"/>
            <a:ext cx="10515600" cy="4351338"/>
          </a:xfrm>
        </p:spPr>
        <p:txBody>
          <a:bodyPr/>
          <a:lstStyle/>
          <a:p>
            <a:pPr marL="514350" indent="-514350">
              <a:buAutoNum type="arabicPeriod"/>
            </a:pPr>
            <a:r>
              <a:rPr lang="en-US"/>
              <a:t>Take a number </a:t>
            </a:r>
            <a:r>
              <a:rPr lang="en-US" dirty="0"/>
              <a:t>and check whether the number is positive, negative or 0</a:t>
            </a:r>
          </a:p>
          <a:p>
            <a:pPr marL="514350" indent="-514350">
              <a:buAutoNum type="arabicPeriod"/>
            </a:pPr>
            <a:r>
              <a:rPr lang="en-US" dirty="0"/>
              <a:t>Write a program to check voting eligibility</a:t>
            </a:r>
          </a:p>
          <a:p>
            <a:pPr marL="514350" indent="-514350">
              <a:buAutoNum type="arabicPeriod"/>
            </a:pPr>
            <a:r>
              <a:rPr lang="en-US" dirty="0"/>
              <a:t>Find the Largest of Three Numbers</a:t>
            </a:r>
          </a:p>
        </p:txBody>
      </p:sp>
    </p:spTree>
    <p:extLst>
      <p:ext uri="{BB962C8B-B14F-4D97-AF65-F5344CB8AC3E}">
        <p14:creationId xmlns:p14="http://schemas.microsoft.com/office/powerpoint/2010/main" val="315551772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E9664-426D-B770-5661-6112B64F2305}"/>
              </a:ext>
            </a:extLst>
          </p:cNvPr>
          <p:cNvSpPr>
            <a:spLocks noGrp="1"/>
          </p:cNvSpPr>
          <p:nvPr>
            <p:ph type="title"/>
          </p:nvPr>
        </p:nvSpPr>
        <p:spPr/>
        <p:txBody>
          <a:bodyPr/>
          <a:lstStyle/>
          <a:p>
            <a:r>
              <a:rPr lang="en-US" dirty="0"/>
              <a:t>Jump Statements</a:t>
            </a:r>
            <a:endParaRPr lang="en-PK" dirty="0"/>
          </a:p>
        </p:txBody>
      </p:sp>
      <p:sp>
        <p:nvSpPr>
          <p:cNvPr id="3" name="Content Placeholder 2">
            <a:extLst>
              <a:ext uri="{FF2B5EF4-FFF2-40B4-BE49-F238E27FC236}">
                <a16:creationId xmlns:a16="http://schemas.microsoft.com/office/drawing/2014/main" id="{33320D40-DECC-AA92-C964-01EE2372CEC5}"/>
              </a:ext>
            </a:extLst>
          </p:cNvPr>
          <p:cNvSpPr>
            <a:spLocks noGrp="1"/>
          </p:cNvSpPr>
          <p:nvPr>
            <p:ph idx="1"/>
          </p:nvPr>
        </p:nvSpPr>
        <p:spPr/>
        <p:txBody>
          <a:bodyPr/>
          <a:lstStyle/>
          <a:p>
            <a:r>
              <a:rPr lang="en-US" dirty="0"/>
              <a:t>Jump statements divided to three statements: </a:t>
            </a:r>
          </a:p>
          <a:p>
            <a:r>
              <a:rPr lang="en-US" dirty="0"/>
              <a:t>1. The break statement </a:t>
            </a:r>
          </a:p>
          <a:p>
            <a:r>
              <a:rPr lang="en-US" dirty="0"/>
              <a:t>2. The continue statement </a:t>
            </a:r>
          </a:p>
          <a:p>
            <a:r>
              <a:rPr lang="en-US" dirty="0"/>
              <a:t>3. The </a:t>
            </a:r>
            <a:r>
              <a:rPr lang="en-US" dirty="0" err="1"/>
              <a:t>goto</a:t>
            </a:r>
            <a:r>
              <a:rPr lang="en-US" dirty="0"/>
              <a:t> statement</a:t>
            </a:r>
            <a:endParaRPr lang="en-PK" dirty="0"/>
          </a:p>
        </p:txBody>
      </p:sp>
    </p:spTree>
    <p:extLst>
      <p:ext uri="{BB962C8B-B14F-4D97-AF65-F5344CB8AC3E}">
        <p14:creationId xmlns:p14="http://schemas.microsoft.com/office/powerpoint/2010/main" val="27740377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23D6F-DEA2-DF64-9B9A-EA18CE59A409}"/>
              </a:ext>
            </a:extLst>
          </p:cNvPr>
          <p:cNvSpPr>
            <a:spLocks noGrp="1"/>
          </p:cNvSpPr>
          <p:nvPr>
            <p:ph type="title"/>
          </p:nvPr>
        </p:nvSpPr>
        <p:spPr/>
        <p:txBody>
          <a:bodyPr/>
          <a:lstStyle/>
          <a:p>
            <a:r>
              <a:rPr lang="en-US" dirty="0"/>
              <a:t>Break Statement</a:t>
            </a:r>
            <a:endParaRPr lang="en-PK" dirty="0"/>
          </a:p>
        </p:txBody>
      </p:sp>
      <p:sp>
        <p:nvSpPr>
          <p:cNvPr id="3" name="Content Placeholder 2">
            <a:extLst>
              <a:ext uri="{FF2B5EF4-FFF2-40B4-BE49-F238E27FC236}">
                <a16:creationId xmlns:a16="http://schemas.microsoft.com/office/drawing/2014/main" id="{22BBA055-996B-47E8-8DF1-ABD7BA4DAD14}"/>
              </a:ext>
            </a:extLst>
          </p:cNvPr>
          <p:cNvSpPr>
            <a:spLocks noGrp="1"/>
          </p:cNvSpPr>
          <p:nvPr>
            <p:ph idx="1"/>
          </p:nvPr>
        </p:nvSpPr>
        <p:spPr/>
        <p:txBody>
          <a:bodyPr/>
          <a:lstStyle/>
          <a:p>
            <a:pPr marL="0" indent="0">
              <a:buNone/>
            </a:pPr>
            <a:r>
              <a:rPr lang="en-US" dirty="0"/>
              <a:t>Using break, we can leave a loop even if the condition for its end is not fulfilled. It can be used to end an infinite loop, or to force it to end before its natural end. Break statement must be used with switch case (selective statement) or with loops. Therefore, we will discuss this statement with switch statement.</a:t>
            </a:r>
            <a:endParaRPr lang="en-PK" dirty="0"/>
          </a:p>
        </p:txBody>
      </p:sp>
    </p:spTree>
    <p:extLst>
      <p:ext uri="{BB962C8B-B14F-4D97-AF65-F5344CB8AC3E}">
        <p14:creationId xmlns:p14="http://schemas.microsoft.com/office/powerpoint/2010/main" val="36659112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F08A7-CF70-8E51-8560-68F055E831D1}"/>
              </a:ext>
            </a:extLst>
          </p:cNvPr>
          <p:cNvSpPr>
            <a:spLocks noGrp="1"/>
          </p:cNvSpPr>
          <p:nvPr>
            <p:ph type="title"/>
          </p:nvPr>
        </p:nvSpPr>
        <p:spPr/>
        <p:txBody>
          <a:bodyPr/>
          <a:lstStyle/>
          <a:p>
            <a:r>
              <a:rPr lang="en-US" dirty="0"/>
              <a:t>Continue Statement</a:t>
            </a:r>
            <a:endParaRPr lang="en-PK" dirty="0"/>
          </a:p>
        </p:txBody>
      </p:sp>
      <p:sp>
        <p:nvSpPr>
          <p:cNvPr id="3" name="Content Placeholder 2">
            <a:extLst>
              <a:ext uri="{FF2B5EF4-FFF2-40B4-BE49-F238E27FC236}">
                <a16:creationId xmlns:a16="http://schemas.microsoft.com/office/drawing/2014/main" id="{3D8810BE-02B0-7CBA-5488-63A012EDAAF6}"/>
              </a:ext>
            </a:extLst>
          </p:cNvPr>
          <p:cNvSpPr>
            <a:spLocks noGrp="1"/>
          </p:cNvSpPr>
          <p:nvPr>
            <p:ph idx="1"/>
          </p:nvPr>
        </p:nvSpPr>
        <p:spPr/>
        <p:txBody>
          <a:bodyPr/>
          <a:lstStyle/>
          <a:p>
            <a:pPr marL="0" indent="0">
              <a:buNone/>
            </a:pPr>
            <a:r>
              <a:rPr lang="en-US" dirty="0"/>
              <a:t>The continue statement causes the program to skip the rest of the loop in the current iteration as if the end of the statement block had been reached, causing it to jump to the start of the following iteration.</a:t>
            </a:r>
          </a:p>
        </p:txBody>
      </p:sp>
    </p:spTree>
    <p:extLst>
      <p:ext uri="{BB962C8B-B14F-4D97-AF65-F5344CB8AC3E}">
        <p14:creationId xmlns:p14="http://schemas.microsoft.com/office/powerpoint/2010/main" val="7248836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E9BBA-87F7-808B-37F5-88BDE54FF555}"/>
              </a:ext>
            </a:extLst>
          </p:cNvPr>
          <p:cNvSpPr>
            <a:spLocks noGrp="1"/>
          </p:cNvSpPr>
          <p:nvPr>
            <p:ph type="title"/>
          </p:nvPr>
        </p:nvSpPr>
        <p:spPr/>
        <p:txBody>
          <a:bodyPr/>
          <a:lstStyle/>
          <a:p>
            <a:r>
              <a:rPr lang="en-US" dirty="0"/>
              <a:t>Goto Statement</a:t>
            </a:r>
            <a:endParaRPr lang="en-PK" dirty="0"/>
          </a:p>
        </p:txBody>
      </p:sp>
      <p:sp>
        <p:nvSpPr>
          <p:cNvPr id="3" name="Content Placeholder 2">
            <a:extLst>
              <a:ext uri="{FF2B5EF4-FFF2-40B4-BE49-F238E27FC236}">
                <a16:creationId xmlns:a16="http://schemas.microsoft.com/office/drawing/2014/main" id="{7ABF139B-9246-7D66-2E11-0EA389D27F08}"/>
              </a:ext>
            </a:extLst>
          </p:cNvPr>
          <p:cNvSpPr>
            <a:spLocks noGrp="1"/>
          </p:cNvSpPr>
          <p:nvPr>
            <p:ph idx="1"/>
          </p:nvPr>
        </p:nvSpPr>
        <p:spPr/>
        <p:txBody>
          <a:bodyPr/>
          <a:lstStyle/>
          <a:p>
            <a:r>
              <a:rPr lang="en-US" dirty="0"/>
              <a:t>Goto allows to make an absolute jump to another point in the program. You should use this feature with caution since its execution causes an unconditional jump ignoring any type of nesting limitations. </a:t>
            </a:r>
          </a:p>
          <a:p>
            <a:r>
              <a:rPr lang="en-US" dirty="0"/>
              <a:t>The destination point is identified by a label, which is then used as an argument for the </a:t>
            </a:r>
            <a:r>
              <a:rPr lang="en-US" dirty="0" err="1"/>
              <a:t>goto</a:t>
            </a:r>
            <a:r>
              <a:rPr lang="en-US" dirty="0"/>
              <a:t> statement. </a:t>
            </a:r>
          </a:p>
          <a:p>
            <a:r>
              <a:rPr lang="en-US" dirty="0"/>
              <a:t>A label is made of a valid identifier followed by a colon (:). </a:t>
            </a:r>
          </a:p>
          <a:p>
            <a:r>
              <a:rPr lang="en-US" dirty="0"/>
              <a:t>This instruction has no concrete use in structured or object-oriented programming aside from those that low-level programming fans may find for it</a:t>
            </a:r>
            <a:endParaRPr lang="en-PK" dirty="0"/>
          </a:p>
        </p:txBody>
      </p:sp>
    </p:spTree>
    <p:extLst>
      <p:ext uri="{BB962C8B-B14F-4D97-AF65-F5344CB8AC3E}">
        <p14:creationId xmlns:p14="http://schemas.microsoft.com/office/powerpoint/2010/main" val="36716159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40502-AD0E-188D-1D93-3304A32B8A37}"/>
              </a:ext>
            </a:extLst>
          </p:cNvPr>
          <p:cNvSpPr>
            <a:spLocks noGrp="1"/>
          </p:cNvSpPr>
          <p:nvPr>
            <p:ph type="title"/>
          </p:nvPr>
        </p:nvSpPr>
        <p:spPr/>
        <p:txBody>
          <a:bodyPr/>
          <a:lstStyle/>
          <a:p>
            <a:r>
              <a:rPr lang="en-US" dirty="0"/>
              <a:t>Goto Statement</a:t>
            </a:r>
            <a:endParaRPr lang="en-PK" dirty="0"/>
          </a:p>
        </p:txBody>
      </p:sp>
      <p:sp>
        <p:nvSpPr>
          <p:cNvPr id="3" name="Content Placeholder 2">
            <a:extLst>
              <a:ext uri="{FF2B5EF4-FFF2-40B4-BE49-F238E27FC236}">
                <a16:creationId xmlns:a16="http://schemas.microsoft.com/office/drawing/2014/main" id="{C5F7A499-46F4-87A2-8A53-475B0C04290C}"/>
              </a:ext>
            </a:extLst>
          </p:cNvPr>
          <p:cNvSpPr>
            <a:spLocks noGrp="1"/>
          </p:cNvSpPr>
          <p:nvPr>
            <p:ph idx="1"/>
          </p:nvPr>
        </p:nvSpPr>
        <p:spPr/>
        <p:txBody>
          <a:bodyPr>
            <a:normAutofit fontScale="77500" lnSpcReduction="20000"/>
          </a:bodyPr>
          <a:lstStyle/>
          <a:p>
            <a:pPr marL="0" indent="0">
              <a:buNone/>
            </a:pPr>
            <a:r>
              <a:rPr lang="en-US" dirty="0"/>
              <a:t>#include &lt;iostream&gt;</a:t>
            </a:r>
          </a:p>
          <a:p>
            <a:pPr marL="0" indent="0">
              <a:buNone/>
            </a:pPr>
            <a:r>
              <a:rPr lang="en-US" dirty="0"/>
              <a:t>using namespace std;</a:t>
            </a:r>
          </a:p>
          <a:p>
            <a:pPr marL="0" indent="0">
              <a:buNone/>
            </a:pPr>
            <a:r>
              <a:rPr lang="en-US" dirty="0"/>
              <a:t>int main ()</a:t>
            </a:r>
          </a:p>
          <a:p>
            <a:pPr marL="0" indent="0">
              <a:buNone/>
            </a:pPr>
            <a:r>
              <a:rPr lang="en-US" dirty="0"/>
              <a:t>{</a:t>
            </a:r>
          </a:p>
          <a:p>
            <a:pPr marL="0" indent="0">
              <a:buNone/>
            </a:pPr>
            <a:r>
              <a:rPr lang="en-US" dirty="0"/>
              <a:t> int n, b;</a:t>
            </a:r>
          </a:p>
          <a:p>
            <a:pPr marL="0" indent="0">
              <a:buNone/>
            </a:pPr>
            <a:r>
              <a:rPr lang="en-US" dirty="0"/>
              <a:t> n=10;</a:t>
            </a:r>
          </a:p>
          <a:p>
            <a:pPr marL="0" indent="0">
              <a:buNone/>
            </a:pPr>
            <a:r>
              <a:rPr lang="en-US" dirty="0"/>
              <a:t>b: n--;</a:t>
            </a:r>
          </a:p>
          <a:p>
            <a:pPr marL="0" indent="0">
              <a:buNone/>
            </a:pPr>
            <a:r>
              <a:rPr lang="en-US" dirty="0"/>
              <a:t> </a:t>
            </a:r>
            <a:r>
              <a:rPr lang="en-US" dirty="0" err="1"/>
              <a:t>cout</a:t>
            </a:r>
            <a:r>
              <a:rPr lang="en-US" dirty="0"/>
              <a:t> &lt;&lt; n &lt;&lt; ", ";</a:t>
            </a:r>
          </a:p>
          <a:p>
            <a:pPr marL="0" indent="0">
              <a:buNone/>
            </a:pPr>
            <a:r>
              <a:rPr lang="en-US" dirty="0"/>
              <a:t>if (n==0)</a:t>
            </a:r>
          </a:p>
          <a:p>
            <a:pPr marL="0" indent="0">
              <a:buNone/>
            </a:pPr>
            <a:r>
              <a:rPr lang="en-US" dirty="0"/>
              <a:t> { return 0;}</a:t>
            </a:r>
          </a:p>
          <a:p>
            <a:pPr marL="0" indent="0">
              <a:buNone/>
            </a:pPr>
            <a:r>
              <a:rPr lang="en-US" dirty="0" err="1"/>
              <a:t>goto</a:t>
            </a:r>
            <a:r>
              <a:rPr lang="en-US" dirty="0"/>
              <a:t> b;</a:t>
            </a:r>
          </a:p>
          <a:p>
            <a:pPr marL="0" indent="0">
              <a:buNone/>
            </a:pPr>
            <a:r>
              <a:rPr lang="en-US" dirty="0"/>
              <a:t>}</a:t>
            </a:r>
          </a:p>
        </p:txBody>
      </p:sp>
    </p:spTree>
    <p:extLst>
      <p:ext uri="{BB962C8B-B14F-4D97-AF65-F5344CB8AC3E}">
        <p14:creationId xmlns:p14="http://schemas.microsoft.com/office/powerpoint/2010/main" val="16094770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B7BA2-5BDA-DD09-C4BE-7C34C0FAFB06}"/>
              </a:ext>
            </a:extLst>
          </p:cNvPr>
          <p:cNvSpPr>
            <a:spLocks noGrp="1"/>
          </p:cNvSpPr>
          <p:nvPr>
            <p:ph type="title"/>
          </p:nvPr>
        </p:nvSpPr>
        <p:spPr/>
        <p:txBody>
          <a:bodyPr/>
          <a:lstStyle/>
          <a:p>
            <a:r>
              <a:rPr lang="en-US" dirty="0"/>
              <a:t>Selective Switch Statement</a:t>
            </a:r>
            <a:endParaRPr lang="en-PK" dirty="0"/>
          </a:p>
        </p:txBody>
      </p:sp>
      <p:sp>
        <p:nvSpPr>
          <p:cNvPr id="3" name="Content Placeholder 2">
            <a:extLst>
              <a:ext uri="{FF2B5EF4-FFF2-40B4-BE49-F238E27FC236}">
                <a16:creationId xmlns:a16="http://schemas.microsoft.com/office/drawing/2014/main" id="{72622A9D-81A9-6038-51BF-C9D6F3D04F8E}"/>
              </a:ext>
            </a:extLst>
          </p:cNvPr>
          <p:cNvSpPr>
            <a:spLocks noGrp="1"/>
          </p:cNvSpPr>
          <p:nvPr>
            <p:ph idx="1"/>
          </p:nvPr>
        </p:nvSpPr>
        <p:spPr/>
        <p:txBody>
          <a:bodyPr>
            <a:normAutofit fontScale="62500" lnSpcReduction="20000"/>
          </a:bodyPr>
          <a:lstStyle/>
          <a:p>
            <a:pPr marL="0" indent="0">
              <a:buNone/>
            </a:pPr>
            <a:r>
              <a:rPr lang="en-US" dirty="0"/>
              <a:t>The switch statement objective is to check several possible constant values for an expression.</a:t>
            </a:r>
          </a:p>
          <a:p>
            <a:pPr marL="0" indent="0">
              <a:buNone/>
            </a:pPr>
            <a:r>
              <a:rPr lang="en-US" dirty="0"/>
              <a:t>switch (expression)</a:t>
            </a:r>
          </a:p>
          <a:p>
            <a:pPr marL="0" indent="0">
              <a:buNone/>
            </a:pPr>
            <a:r>
              <a:rPr lang="en-US" dirty="0"/>
              <a:t>{</a:t>
            </a:r>
          </a:p>
          <a:p>
            <a:pPr marL="0" indent="0">
              <a:buNone/>
            </a:pPr>
            <a:r>
              <a:rPr lang="en-US" dirty="0"/>
              <a:t>case constant1:</a:t>
            </a:r>
          </a:p>
          <a:p>
            <a:pPr marL="0" indent="0">
              <a:buNone/>
            </a:pPr>
            <a:r>
              <a:rPr lang="en-US" dirty="0"/>
              <a:t>group of statements 1; break;</a:t>
            </a:r>
          </a:p>
          <a:p>
            <a:pPr marL="0" indent="0">
              <a:buNone/>
            </a:pPr>
            <a:r>
              <a:rPr lang="en-US" dirty="0"/>
              <a:t>case constant2:</a:t>
            </a:r>
          </a:p>
          <a:p>
            <a:pPr marL="0" indent="0">
              <a:buNone/>
            </a:pPr>
            <a:r>
              <a:rPr lang="en-US" dirty="0"/>
              <a:t>group of statements 2;break;</a:t>
            </a:r>
          </a:p>
          <a:p>
            <a:pPr marL="0" indent="0">
              <a:buNone/>
            </a:pPr>
            <a:r>
              <a:rPr lang="en-US" dirty="0"/>
              <a:t>.</a:t>
            </a:r>
          </a:p>
          <a:p>
            <a:pPr marL="0" indent="0">
              <a:buNone/>
            </a:pPr>
            <a:r>
              <a:rPr lang="en-US" dirty="0"/>
              <a:t>.</a:t>
            </a:r>
          </a:p>
          <a:p>
            <a:pPr marL="0" indent="0">
              <a:buNone/>
            </a:pPr>
            <a:r>
              <a:rPr lang="en-US" dirty="0"/>
              <a:t>.</a:t>
            </a:r>
          </a:p>
          <a:p>
            <a:pPr marL="0" indent="0">
              <a:buNone/>
            </a:pPr>
            <a:r>
              <a:rPr lang="en-US" dirty="0"/>
              <a:t>default:</a:t>
            </a:r>
          </a:p>
          <a:p>
            <a:pPr marL="0" indent="0">
              <a:buNone/>
            </a:pPr>
            <a:r>
              <a:rPr lang="en-US" dirty="0"/>
              <a:t>default group of statements</a:t>
            </a:r>
          </a:p>
          <a:p>
            <a:pPr marL="0" indent="0">
              <a:buNone/>
            </a:pPr>
            <a:r>
              <a:rPr lang="en-US" dirty="0"/>
              <a:t>}</a:t>
            </a:r>
            <a:endParaRPr lang="en-PK" dirty="0"/>
          </a:p>
        </p:txBody>
      </p:sp>
    </p:spTree>
    <p:extLst>
      <p:ext uri="{BB962C8B-B14F-4D97-AF65-F5344CB8AC3E}">
        <p14:creationId xmlns:p14="http://schemas.microsoft.com/office/powerpoint/2010/main" val="8587319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6CE62-B4D5-E948-8192-777FE9D9FCA9}"/>
              </a:ext>
            </a:extLst>
          </p:cNvPr>
          <p:cNvSpPr>
            <a:spLocks noGrp="1"/>
          </p:cNvSpPr>
          <p:nvPr>
            <p:ph idx="1"/>
          </p:nvPr>
        </p:nvSpPr>
        <p:spPr>
          <a:xfrm>
            <a:off x="167951" y="149291"/>
            <a:ext cx="4404049" cy="6708710"/>
          </a:xfrm>
        </p:spPr>
        <p:txBody>
          <a:bodyPr>
            <a:normAutofit fontScale="92500"/>
          </a:bodyPr>
          <a:lstStyle/>
          <a:p>
            <a:pPr marL="0" indent="0">
              <a:buNone/>
            </a:pPr>
            <a:r>
              <a:rPr lang="en-US" sz="2000" dirty="0"/>
              <a:t>#include &lt;iostream&gt;</a:t>
            </a:r>
          </a:p>
          <a:p>
            <a:pPr marL="0" indent="0">
              <a:buNone/>
            </a:pPr>
            <a:r>
              <a:rPr lang="en-US" sz="2000" dirty="0"/>
              <a:t>int main() {</a:t>
            </a:r>
          </a:p>
          <a:p>
            <a:pPr marL="0" indent="0">
              <a:buNone/>
            </a:pPr>
            <a:r>
              <a:rPr lang="en-US" sz="2000" dirty="0"/>
              <a:t>    int day = 3;</a:t>
            </a:r>
          </a:p>
          <a:p>
            <a:pPr marL="0" indent="0">
              <a:buNone/>
            </a:pPr>
            <a:r>
              <a:rPr lang="en-US" sz="2000" dirty="0"/>
              <a:t>    switch (day) {</a:t>
            </a:r>
          </a:p>
          <a:p>
            <a:pPr marL="0" indent="0">
              <a:buNone/>
            </a:pPr>
            <a:r>
              <a:rPr lang="en-US" sz="2000" dirty="0"/>
              <a:t>        case 1:</a:t>
            </a:r>
          </a:p>
          <a:p>
            <a:pPr marL="0" indent="0">
              <a:buNone/>
            </a:pPr>
            <a:r>
              <a:rPr lang="en-US" sz="2000" dirty="0"/>
              <a:t>            std::</a:t>
            </a:r>
            <a:r>
              <a:rPr lang="en-US" sz="2000" dirty="0" err="1"/>
              <a:t>cout</a:t>
            </a:r>
            <a:r>
              <a:rPr lang="en-US" sz="2000" dirty="0"/>
              <a:t> &lt;&lt; "Monday" &lt;&lt; std::</a:t>
            </a:r>
            <a:r>
              <a:rPr lang="en-US" sz="2000" dirty="0" err="1"/>
              <a:t>endl</a:t>
            </a:r>
            <a:r>
              <a:rPr lang="en-US" sz="2000" dirty="0"/>
              <a:t>;</a:t>
            </a:r>
          </a:p>
          <a:p>
            <a:pPr marL="0" indent="0">
              <a:buNone/>
            </a:pPr>
            <a:r>
              <a:rPr lang="en-US" sz="2000" dirty="0"/>
              <a:t>            break;</a:t>
            </a:r>
          </a:p>
          <a:p>
            <a:pPr marL="0" indent="0">
              <a:buNone/>
            </a:pPr>
            <a:r>
              <a:rPr lang="en-US" sz="2000" dirty="0"/>
              <a:t>        case 2:</a:t>
            </a:r>
          </a:p>
          <a:p>
            <a:pPr marL="0" indent="0">
              <a:buNone/>
            </a:pPr>
            <a:r>
              <a:rPr lang="en-US" sz="2000" dirty="0"/>
              <a:t>            std::</a:t>
            </a:r>
            <a:r>
              <a:rPr lang="en-US" sz="2000" dirty="0" err="1"/>
              <a:t>cout</a:t>
            </a:r>
            <a:r>
              <a:rPr lang="en-US" sz="2000" dirty="0"/>
              <a:t> &lt;&lt; "Tuesday" &lt;&lt; std::</a:t>
            </a:r>
            <a:r>
              <a:rPr lang="en-US" sz="2000" dirty="0" err="1"/>
              <a:t>endl</a:t>
            </a:r>
            <a:r>
              <a:rPr lang="en-US" sz="2000" dirty="0"/>
              <a:t>;</a:t>
            </a:r>
          </a:p>
          <a:p>
            <a:pPr marL="0" indent="0">
              <a:buNone/>
            </a:pPr>
            <a:r>
              <a:rPr lang="en-US" sz="2000" dirty="0"/>
              <a:t>            break;</a:t>
            </a:r>
          </a:p>
          <a:p>
            <a:pPr marL="0" indent="0">
              <a:buNone/>
            </a:pPr>
            <a:r>
              <a:rPr lang="en-US" sz="2000" dirty="0"/>
              <a:t>        case 3:</a:t>
            </a:r>
          </a:p>
          <a:p>
            <a:pPr marL="0" indent="0">
              <a:buNone/>
            </a:pPr>
            <a:r>
              <a:rPr lang="en-US" sz="2000" dirty="0"/>
              <a:t>            std::</a:t>
            </a:r>
            <a:r>
              <a:rPr lang="en-US" sz="2000" dirty="0" err="1"/>
              <a:t>cout</a:t>
            </a:r>
            <a:r>
              <a:rPr lang="en-US" sz="2000" dirty="0"/>
              <a:t> &lt;&lt; "Wednesday" &lt;&lt; std::</a:t>
            </a:r>
            <a:r>
              <a:rPr lang="en-US" sz="2000" dirty="0" err="1"/>
              <a:t>endl</a:t>
            </a:r>
            <a:r>
              <a:rPr lang="en-US" sz="2000" dirty="0"/>
              <a:t>;</a:t>
            </a:r>
          </a:p>
          <a:p>
            <a:pPr marL="0" indent="0">
              <a:buNone/>
            </a:pPr>
            <a:r>
              <a:rPr lang="en-US" sz="2000" dirty="0"/>
              <a:t>            break;</a:t>
            </a:r>
          </a:p>
          <a:p>
            <a:pPr marL="0" indent="0">
              <a:buNone/>
            </a:pPr>
            <a:r>
              <a:rPr lang="en-US" sz="2000" dirty="0"/>
              <a:t>        case 4:</a:t>
            </a:r>
          </a:p>
          <a:p>
            <a:pPr marL="0" indent="0">
              <a:buNone/>
            </a:pPr>
            <a:r>
              <a:rPr lang="en-US" sz="2000" dirty="0"/>
              <a:t>            std::</a:t>
            </a:r>
            <a:r>
              <a:rPr lang="en-US" sz="2000" dirty="0" err="1"/>
              <a:t>cout</a:t>
            </a:r>
            <a:r>
              <a:rPr lang="en-US" sz="2000" dirty="0"/>
              <a:t> &lt;&lt; "Thursday" &lt;&lt; std::</a:t>
            </a:r>
            <a:r>
              <a:rPr lang="en-US" sz="2000" dirty="0" err="1"/>
              <a:t>endl</a:t>
            </a:r>
            <a:r>
              <a:rPr lang="en-US" sz="2000" dirty="0"/>
              <a:t>;</a:t>
            </a:r>
          </a:p>
          <a:p>
            <a:pPr marL="0" indent="0">
              <a:buNone/>
            </a:pPr>
            <a:r>
              <a:rPr lang="en-US" sz="2000" dirty="0"/>
              <a:t>            break;</a:t>
            </a:r>
          </a:p>
          <a:p>
            <a:pPr marL="0" indent="0">
              <a:buNone/>
            </a:pPr>
            <a:endParaRPr lang="en-US" sz="1200" dirty="0"/>
          </a:p>
        </p:txBody>
      </p:sp>
      <p:sp>
        <p:nvSpPr>
          <p:cNvPr id="5" name="TextBox 4">
            <a:extLst>
              <a:ext uri="{FF2B5EF4-FFF2-40B4-BE49-F238E27FC236}">
                <a16:creationId xmlns:a16="http://schemas.microsoft.com/office/drawing/2014/main" id="{CC84C548-2B06-895D-37E1-9775BCF09F20}"/>
              </a:ext>
            </a:extLst>
          </p:cNvPr>
          <p:cNvSpPr txBox="1"/>
          <p:nvPr/>
        </p:nvSpPr>
        <p:spPr>
          <a:xfrm>
            <a:off x="5101512" y="149292"/>
            <a:ext cx="6767025" cy="3693319"/>
          </a:xfrm>
          <a:prstGeom prst="rect">
            <a:avLst/>
          </a:prstGeom>
          <a:noFill/>
        </p:spPr>
        <p:txBody>
          <a:bodyPr wrap="square">
            <a:spAutoFit/>
          </a:bodyPr>
          <a:lstStyle/>
          <a:p>
            <a:pPr marL="0" indent="0">
              <a:buNone/>
            </a:pPr>
            <a:r>
              <a:rPr lang="en-US" sz="1800" dirty="0"/>
              <a:t> case 5:</a:t>
            </a:r>
          </a:p>
          <a:p>
            <a:pPr marL="0" indent="0">
              <a:buNone/>
            </a:pPr>
            <a:r>
              <a:rPr lang="en-US" sz="1800" dirty="0"/>
              <a:t>            std::</a:t>
            </a:r>
            <a:r>
              <a:rPr lang="en-US" sz="1800" dirty="0" err="1"/>
              <a:t>cout</a:t>
            </a:r>
            <a:r>
              <a:rPr lang="en-US" sz="1800" dirty="0"/>
              <a:t> &lt;&lt; "Friday" &lt;&lt; std::</a:t>
            </a:r>
            <a:r>
              <a:rPr lang="en-US" sz="1800" dirty="0" err="1"/>
              <a:t>endl</a:t>
            </a:r>
            <a:r>
              <a:rPr lang="en-US" sz="1800" dirty="0"/>
              <a:t>;</a:t>
            </a:r>
          </a:p>
          <a:p>
            <a:pPr marL="0" indent="0">
              <a:buNone/>
            </a:pPr>
            <a:r>
              <a:rPr lang="en-US" sz="1800" dirty="0"/>
              <a:t>            break;</a:t>
            </a:r>
          </a:p>
          <a:p>
            <a:pPr marL="0" indent="0">
              <a:buNone/>
            </a:pPr>
            <a:r>
              <a:rPr lang="en-US" sz="1800" dirty="0"/>
              <a:t>        case 6:</a:t>
            </a:r>
          </a:p>
          <a:p>
            <a:pPr marL="0" indent="0">
              <a:buNone/>
            </a:pPr>
            <a:r>
              <a:rPr lang="en-US" sz="1800" dirty="0"/>
              <a:t>            std::</a:t>
            </a:r>
            <a:r>
              <a:rPr lang="en-US" sz="1800" dirty="0" err="1"/>
              <a:t>cout</a:t>
            </a:r>
            <a:r>
              <a:rPr lang="en-US" sz="1800" dirty="0"/>
              <a:t> &lt;&lt; "Saturday" &lt;&lt; std::</a:t>
            </a:r>
            <a:r>
              <a:rPr lang="en-US" sz="1800" dirty="0" err="1"/>
              <a:t>endl</a:t>
            </a:r>
            <a:r>
              <a:rPr lang="en-US" sz="1800" dirty="0"/>
              <a:t>;</a:t>
            </a:r>
          </a:p>
          <a:p>
            <a:pPr marL="0" indent="0">
              <a:buNone/>
            </a:pPr>
            <a:r>
              <a:rPr lang="en-US" sz="1800" dirty="0"/>
              <a:t>            break;</a:t>
            </a:r>
          </a:p>
          <a:p>
            <a:pPr marL="0" indent="0">
              <a:buNone/>
            </a:pPr>
            <a:r>
              <a:rPr lang="en-US" sz="1800" dirty="0"/>
              <a:t>        case 7:</a:t>
            </a:r>
          </a:p>
          <a:p>
            <a:pPr marL="0" indent="0">
              <a:buNone/>
            </a:pPr>
            <a:r>
              <a:rPr lang="en-US" sz="1800" dirty="0"/>
              <a:t>            std::</a:t>
            </a:r>
            <a:r>
              <a:rPr lang="en-US" sz="1800" dirty="0" err="1"/>
              <a:t>cout</a:t>
            </a:r>
            <a:r>
              <a:rPr lang="en-US" sz="1800" dirty="0"/>
              <a:t> &lt;&lt; "Sunday" &lt;&lt; std::</a:t>
            </a:r>
            <a:r>
              <a:rPr lang="en-US" sz="1800" dirty="0" err="1"/>
              <a:t>endl</a:t>
            </a:r>
            <a:r>
              <a:rPr lang="en-US" sz="1800" dirty="0"/>
              <a:t>;</a:t>
            </a:r>
          </a:p>
          <a:p>
            <a:pPr marL="0" indent="0">
              <a:buNone/>
            </a:pPr>
            <a:r>
              <a:rPr lang="en-US" sz="1800" dirty="0"/>
              <a:t>            break;</a:t>
            </a:r>
          </a:p>
          <a:p>
            <a:pPr marL="0" indent="0">
              <a:buNone/>
            </a:pPr>
            <a:r>
              <a:rPr lang="en-US" sz="1800" dirty="0"/>
              <a:t>        default:</a:t>
            </a:r>
          </a:p>
          <a:p>
            <a:pPr marL="0" indent="0">
              <a:buNone/>
            </a:pPr>
            <a:r>
              <a:rPr lang="en-US" sz="1800" dirty="0"/>
              <a:t>            std::</a:t>
            </a:r>
            <a:r>
              <a:rPr lang="en-US" sz="1800" dirty="0" err="1"/>
              <a:t>cout</a:t>
            </a:r>
            <a:r>
              <a:rPr lang="en-US" sz="1800" dirty="0"/>
              <a:t> &lt;&lt; "Invalid day" &lt;&lt; std::</a:t>
            </a:r>
            <a:r>
              <a:rPr lang="en-US" sz="1800" dirty="0" err="1"/>
              <a:t>endl</a:t>
            </a:r>
            <a:r>
              <a:rPr lang="en-US" sz="1800" dirty="0"/>
              <a:t>;</a:t>
            </a:r>
          </a:p>
          <a:p>
            <a:pPr marL="0" indent="0">
              <a:buNone/>
            </a:pPr>
            <a:r>
              <a:rPr lang="en-US" sz="1800" dirty="0"/>
              <a:t>    }</a:t>
            </a:r>
          </a:p>
          <a:p>
            <a:pPr marL="0" indent="0">
              <a:buNone/>
            </a:pPr>
            <a:r>
              <a:rPr lang="en-US" sz="1800" dirty="0"/>
              <a:t>    return 0;</a:t>
            </a:r>
            <a:endParaRPr lang="en-PK" dirty="0"/>
          </a:p>
        </p:txBody>
      </p:sp>
    </p:spTree>
    <p:extLst>
      <p:ext uri="{BB962C8B-B14F-4D97-AF65-F5344CB8AC3E}">
        <p14:creationId xmlns:p14="http://schemas.microsoft.com/office/powerpoint/2010/main" val="31058007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5262</TotalTime>
  <Words>2593</Words>
  <Application>Microsoft Office PowerPoint</Application>
  <PresentationFormat>Widescreen</PresentationFormat>
  <Paragraphs>466</Paragraphs>
  <Slides>31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Calibri</vt:lpstr>
      <vt:lpstr>Calibri Light</vt:lpstr>
      <vt:lpstr>Consolas</vt:lpstr>
      <vt:lpstr>Wingdings</vt:lpstr>
      <vt:lpstr>Office Theme</vt:lpstr>
      <vt:lpstr>Introduction to Programming</vt:lpstr>
      <vt:lpstr>Random Number Generator</vt:lpstr>
      <vt:lpstr>Data type for computing with strings: std::string</vt:lpstr>
      <vt:lpstr>Example of computing with strings: subdivisions of a ruler</vt:lpstr>
      <vt:lpstr>Working with strings and char</vt:lpstr>
      <vt:lpstr>Working with strings and char</vt:lpstr>
      <vt:lpstr>Type conversions</vt:lpstr>
      <vt:lpstr>Type checking</vt:lpstr>
      <vt:lpstr>Automatic (implicit) type conversions</vt:lpstr>
      <vt:lpstr>Explicit type conversion – Functions</vt:lpstr>
      <vt:lpstr>Explicit type conversion – Type casting</vt:lpstr>
      <vt:lpstr>Avoiding narrowing conversion in initializations</vt:lpstr>
      <vt:lpstr>Key Takeaways</vt:lpstr>
      <vt:lpstr>Type deduction: auto</vt:lpstr>
      <vt:lpstr>Conditionals</vt:lpstr>
      <vt:lpstr>Nested Ternary Operator</vt:lpstr>
      <vt:lpstr>The if statement</vt:lpstr>
      <vt:lpstr>Example of if statement use</vt:lpstr>
      <vt:lpstr>Example of if statement use: simulate a coin flip</vt:lpstr>
      <vt:lpstr>Example of if statement use: 2-sort</vt:lpstr>
      <vt:lpstr>Pop quiz on if statement</vt:lpstr>
      <vt:lpstr>Pop quiz on if statement</vt:lpstr>
      <vt:lpstr>Issue with the code?</vt:lpstr>
      <vt:lpstr>Question</vt:lpstr>
      <vt:lpstr>Jump Statements</vt:lpstr>
      <vt:lpstr>Break Statement</vt:lpstr>
      <vt:lpstr>Continue Statement</vt:lpstr>
      <vt:lpstr>Goto Statement</vt:lpstr>
      <vt:lpstr>Goto Statement</vt:lpstr>
      <vt:lpstr>Selective Switch Statement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Programming</dc:title>
  <dc:creator>Imran Rauf</dc:creator>
  <cp:lastModifiedBy>Maria Rahim Khowaja / Lecturer</cp:lastModifiedBy>
  <cp:revision>328</cp:revision>
  <dcterms:created xsi:type="dcterms:W3CDTF">2023-08-23T19:46:54Z</dcterms:created>
  <dcterms:modified xsi:type="dcterms:W3CDTF">2024-09-03T09:03:25Z</dcterms:modified>
</cp:coreProperties>
</file>