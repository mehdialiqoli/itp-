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79" r:id="rId15"/>
    <p:sldId id="258" r:id="rId16"/>
    <p:sldId id="259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B4BC-5523-6B15-E379-9D440B47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5498A-9F1B-6472-F519-710C8C9E6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F0FC-0AA9-8136-10E0-988D9210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C1CA-0711-850D-5183-A2B5A213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7137-DAE9-F53F-3928-0DAE159E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402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8FB6-9C6A-F2BD-6645-56D63385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5916-DB56-3126-E08A-67B9C229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D3A2-2C6B-F220-0DE2-9B5C45FB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012E-03D3-4F84-BD86-3182884B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0CDA-08A8-25C9-7297-05C2A67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941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68DC-6682-82D9-962D-035F7D32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5487-DC41-AAD6-069E-90A85655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8284-1A15-F0BC-8397-CD51B490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893AF-8BEC-AE33-ECEA-BB06A731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6908-FF3F-F647-EACB-D579D785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025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D56-7FFB-4395-2EAE-ED2F7AB9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4702-43E3-2BCF-BC3A-243818AFC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050C7-B43B-1479-7A6D-930D37AF6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581E-2932-1221-6837-84D3BBB0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42CD-9E35-5A28-DB43-BA1B0FFE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2A5E5-B8E6-13FB-12FC-F3D17D09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653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D583-DB59-9544-613C-A1399769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AB85D-86CC-130D-C73F-621488E2D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01A8-0867-70EE-F388-A6781857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61077-609E-F8EB-8394-BE4CEDE6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35E47-CD8C-DB62-FD58-1EEF1602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C7D4-9A0D-DB05-F459-9A05E934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244C-8711-3475-2C24-B68828AF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720E4-06AC-D540-526F-8C8A26FF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267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6F68-FA65-13A7-E538-86D1C890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EB2FD-6FF5-9190-F51D-A2B20E81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5D0B-E530-1D35-E485-E3C1158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CE04-5E37-1D2C-C5A6-EF62A94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950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3DA80-AF75-88CC-15E0-1E5BDEE9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1D2A-1D2C-B7FC-A6F5-5CDA8DC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0DF3-51D1-71EB-ED76-1AB58147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423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7C7-DE01-6A7A-312D-4D28D27B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546E-840F-9AF8-2F81-CA4BE9DE9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75C5-AB6D-14EF-A652-A55984E3B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8BD-2F12-5C44-0FC5-ABC9121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E7D24-0E6F-B0D5-0D71-D95C68F1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3AAF-817F-139F-90B1-20FC95B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40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B2E5-7085-FB75-D49F-F337DF77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D0CC7-AF0E-1711-DB56-74A343DAC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7E1F3-91E0-7B84-0605-A920031DE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04610-A74D-DC1A-BA25-94B156EA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3477-02EC-84FF-5133-4C9D85B7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DB61-9795-C268-8DDE-B6C6739B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391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711-E1BD-6B80-C858-0A311024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84959-1478-670C-C72E-9C8B0460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B284-709D-1F57-4302-A7529E77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A95-CD40-59DB-4CFB-7C233183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B741-BA71-0A15-D65A-6E8BC96D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547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53C39-7EA2-3767-E74B-B5DEA81E4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C98A-EAC6-73E0-715D-E8DB9B0D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9B47-A405-4629-6DC4-DB23D8A3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816A-9DF9-75D2-9412-D000F9B5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E42E3-AC87-BCB8-7238-01472917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938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EC87-6256-86F0-014E-BDF9F92A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6D71-80AA-6129-8460-409B3C6C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10D4-AD59-D4C1-A2FF-26767DAA3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0094E-B332-4D10-94A6-BABBC3B412D6}" type="datetimeFigureOut">
              <a:rPr lang="en-PK" smtClean="0"/>
              <a:t>26/11/2024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F30-1C2F-B788-8AB2-B46802B72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DCA6-2752-1710-7943-3D916DA7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309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C376-99DE-09E1-E01C-4FB0711BF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81C0-77CB-CA7A-41E6-36675421F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b="1" i="1">
                <a:latin typeface="+mj-lt"/>
              </a:rPr>
              <a:t>User-Defined </a:t>
            </a:r>
            <a:r>
              <a:rPr lang="en-US" sz="3600" b="1" i="1" dirty="0">
                <a:latin typeface="+mj-lt"/>
              </a:rPr>
              <a:t>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2EA9-A91A-4C23-42CD-89F4058B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in C++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C9973-169D-A17E-C2A6-5AB2E66303E7}"/>
              </a:ext>
            </a:extLst>
          </p:cNvPr>
          <p:cNvSpPr txBox="1"/>
          <p:nvPr/>
        </p:nvSpPr>
        <p:spPr>
          <a:xfrm>
            <a:off x="912845" y="1814032"/>
            <a:ext cx="8370881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Recall that a </a:t>
            </a:r>
            <a:r>
              <a:rPr lang="en-US" sz="2000" dirty="0">
                <a:solidFill>
                  <a:schemeClr val="accent1"/>
                </a:solidFill>
              </a:rPr>
              <a:t>data type </a:t>
            </a:r>
            <a:r>
              <a:rPr lang="en-US" sz="2000" dirty="0"/>
              <a:t>is a set of values and set of operations on those values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5C600-912C-35F9-F6D4-DB6E9F326165}"/>
              </a:ext>
            </a:extLst>
          </p:cNvPr>
          <p:cNvSpPr txBox="1"/>
          <p:nvPr/>
        </p:nvSpPr>
        <p:spPr>
          <a:xfrm>
            <a:off x="912845" y="2536816"/>
            <a:ext cx="6103775" cy="1015663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Fundamental types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values immediately map to machine representations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operations immediately map to machine instructions.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B05DB-3888-F3A7-1843-13EF9F8DFB3E}"/>
              </a:ext>
            </a:extLst>
          </p:cNvPr>
          <p:cNvSpPr txBox="1"/>
          <p:nvPr/>
        </p:nvSpPr>
        <p:spPr>
          <a:xfrm>
            <a:off x="912845" y="3938820"/>
            <a:ext cx="7214118" cy="132343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Compound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New types can be created in C++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C++ standard library provides useful types: </a:t>
            </a:r>
            <a:r>
              <a:rPr lang="en-US" sz="2000" dirty="0">
                <a:latin typeface="Consolas" panose="020B0609020204030204" pitchFamily="49" charset="0"/>
              </a:rPr>
              <a:t>string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</a:rPr>
              <a:t>vector</a:t>
            </a:r>
            <a:r>
              <a:rPr lang="en-US" sz="2000" dirty="0"/>
              <a:t>,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can build our own types</a:t>
            </a:r>
          </a:p>
        </p:txBody>
      </p:sp>
    </p:spTree>
    <p:extLst>
      <p:ext uri="{BB962C8B-B14F-4D97-AF65-F5344CB8AC3E}">
        <p14:creationId xmlns:p14="http://schemas.microsoft.com/office/powerpoint/2010/main" val="254506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Creating new types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605CE-9A83-1996-9884-20887AD615B2}"/>
              </a:ext>
            </a:extLst>
          </p:cNvPr>
          <p:cNvSpPr txBox="1"/>
          <p:nvPr/>
        </p:nvSpPr>
        <p:spPr>
          <a:xfrm>
            <a:off x="912845" y="1814032"/>
            <a:ext cx="9456115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Using </a:t>
            </a:r>
            <a:r>
              <a:rPr lang="en-US" sz="2000" dirty="0">
                <a:latin typeface="Consolas" panose="020B0609020204030204" pitchFamily="49" charset="0"/>
              </a:rPr>
              <a:t>struct</a:t>
            </a:r>
            <a:r>
              <a:rPr lang="en-US" sz="2000" dirty="0"/>
              <a:t> we can define a new data-type as collection of variables of different types.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7EAD3-C7B4-2D91-9CEA-D0A237A14751}"/>
              </a:ext>
            </a:extLst>
          </p:cNvPr>
          <p:cNvSpPr txBox="1"/>
          <p:nvPr/>
        </p:nvSpPr>
        <p:spPr>
          <a:xfrm>
            <a:off x="912845" y="2347401"/>
            <a:ext cx="5183155" cy="132343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Example: </a:t>
            </a:r>
            <a:r>
              <a:rPr lang="en-US" sz="2000" dirty="0"/>
              <a:t>A </a:t>
            </a:r>
            <a:r>
              <a:rPr lang="en-US" sz="2000" dirty="0">
                <a:latin typeface="Consolas" panose="020B0609020204030204" pitchFamily="49" charset="0"/>
              </a:rPr>
              <a:t>student</a:t>
            </a:r>
            <a:r>
              <a:rPr lang="en-US" sz="2000" dirty="0"/>
              <a:t> type with three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name</a:t>
            </a:r>
            <a:r>
              <a:rPr lang="en-US" sz="2000" dirty="0"/>
              <a:t> of type </a:t>
            </a:r>
            <a:r>
              <a:rPr lang="en-US" sz="2000" dirty="0">
                <a:latin typeface="Consolas" panose="020B0609020204030204" pitchFamily="49" charset="0"/>
              </a:rPr>
              <a:t>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age</a:t>
            </a:r>
            <a:r>
              <a:rPr lang="en-US" sz="2000" dirty="0"/>
              <a:t> of type </a:t>
            </a:r>
            <a:r>
              <a:rPr lang="en-US" sz="2000" dirty="0">
                <a:latin typeface="Consolas" panose="020B0609020204030204" pitchFamily="49" charset="0"/>
              </a:rPr>
              <a:t>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nsolas" panose="020B0609020204030204" pitchFamily="49" charset="0"/>
              </a:rPr>
              <a:t>gpa</a:t>
            </a:r>
            <a:r>
              <a:rPr lang="en-US" sz="2000" dirty="0"/>
              <a:t> of type </a:t>
            </a:r>
            <a:r>
              <a:rPr lang="en-US" sz="2000" dirty="0">
                <a:latin typeface="Consolas" panose="020B0609020204030204" pitchFamily="49" charset="0"/>
              </a:rPr>
              <a:t>double</a:t>
            </a: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7173686" y="2347401"/>
            <a:ext cx="3099317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struct student {</a:t>
            </a:r>
          </a:p>
          <a:p>
            <a:r>
              <a:rPr lang="en-US" dirty="0">
                <a:latin typeface="Consolas" panose="020B0609020204030204" pitchFamily="49" charset="0"/>
              </a:rPr>
              <a:t>    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int age;</a:t>
            </a:r>
          </a:p>
          <a:p>
            <a:r>
              <a:rPr lang="en-US" dirty="0">
                <a:latin typeface="Consolas" panose="020B0609020204030204" pitchFamily="49" charset="0"/>
              </a:rPr>
              <a:t>    double 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C575C-1C3F-85EA-93E6-C4221DACB6EF}"/>
              </a:ext>
            </a:extLst>
          </p:cNvPr>
          <p:cNvSpPr txBox="1"/>
          <p:nvPr/>
        </p:nvSpPr>
        <p:spPr>
          <a:xfrm>
            <a:off x="912844" y="4004421"/>
            <a:ext cx="5183155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Create objects of type </a:t>
            </a:r>
            <a:r>
              <a:rPr lang="en-US" sz="2000" dirty="0">
                <a:latin typeface="Consolas" panose="020B0609020204030204" pitchFamily="49" charset="0"/>
              </a:rPr>
              <a:t>student</a:t>
            </a:r>
            <a:r>
              <a:rPr lang="en-US" sz="2000" dirty="0"/>
              <a:t> (values)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EADE2-729F-9A1A-4EFD-0E7712A9E36E}"/>
              </a:ext>
            </a:extLst>
          </p:cNvPr>
          <p:cNvSpPr txBox="1"/>
          <p:nvPr/>
        </p:nvSpPr>
        <p:spPr>
          <a:xfrm>
            <a:off x="7173685" y="4019810"/>
            <a:ext cx="3099317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student s1, s2;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53F6A-102D-43D1-2CBE-CDD609721C54}"/>
              </a:ext>
            </a:extLst>
          </p:cNvPr>
          <p:cNvSpPr txBox="1"/>
          <p:nvPr/>
        </p:nvSpPr>
        <p:spPr>
          <a:xfrm>
            <a:off x="912844" y="4644566"/>
            <a:ext cx="9360159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Each variable of type </a:t>
            </a:r>
            <a:r>
              <a:rPr lang="en-US" sz="2000" dirty="0">
                <a:latin typeface="Consolas" panose="020B0609020204030204" pitchFamily="49" charset="0"/>
              </a:rPr>
              <a:t>student</a:t>
            </a:r>
            <a:r>
              <a:rPr lang="en-US" sz="2000" dirty="0"/>
              <a:t> has it’s own </a:t>
            </a:r>
            <a:r>
              <a:rPr lang="en-US" sz="2000" dirty="0">
                <a:latin typeface="Consolas" panose="020B0609020204030204" pitchFamily="49" charset="0"/>
              </a:rPr>
              <a:t>name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</a:rPr>
              <a:t>age</a:t>
            </a:r>
            <a:r>
              <a:rPr lang="en-US" sz="2000" dirty="0"/>
              <a:t>, and </a:t>
            </a:r>
            <a:r>
              <a:rPr lang="en-US" sz="2000" dirty="0" err="1">
                <a:latin typeface="Consolas" panose="020B0609020204030204" pitchFamily="49" charset="0"/>
              </a:rPr>
              <a:t>gpa</a:t>
            </a:r>
            <a:r>
              <a:rPr lang="en-US" sz="2000" dirty="0"/>
              <a:t> field</a:t>
            </a: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37D87-85A3-B0A1-498A-867DF2238DD7}"/>
              </a:ext>
            </a:extLst>
          </p:cNvPr>
          <p:cNvSpPr txBox="1"/>
          <p:nvPr/>
        </p:nvSpPr>
        <p:spPr>
          <a:xfrm>
            <a:off x="2996682" y="5569335"/>
            <a:ext cx="3099317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s1.name = "Ali";</a:t>
            </a:r>
          </a:p>
          <a:p>
            <a:r>
              <a:rPr lang="en-US" dirty="0">
                <a:latin typeface="Consolas" panose="020B0609020204030204" pitchFamily="49" charset="0"/>
              </a:rPr>
              <a:t>s1.age = 20;</a:t>
            </a:r>
          </a:p>
          <a:p>
            <a:r>
              <a:rPr lang="en-US" dirty="0">
                <a:latin typeface="Consolas" panose="020B0609020204030204" pitchFamily="49" charset="0"/>
              </a:rPr>
              <a:t>s1.gpa = 3.5;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02220-401C-287F-FC78-CE96DB58A33B}"/>
              </a:ext>
            </a:extLst>
          </p:cNvPr>
          <p:cNvSpPr txBox="1"/>
          <p:nvPr/>
        </p:nvSpPr>
        <p:spPr>
          <a:xfrm>
            <a:off x="6169090" y="5581119"/>
            <a:ext cx="3099317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s2.name = "Ahmed";</a:t>
            </a:r>
          </a:p>
          <a:p>
            <a:r>
              <a:rPr lang="en-US" dirty="0">
                <a:latin typeface="Consolas" panose="020B0609020204030204" pitchFamily="49" charset="0"/>
              </a:rPr>
              <a:t>s2.age = 21;</a:t>
            </a:r>
          </a:p>
          <a:p>
            <a:r>
              <a:rPr lang="en-US" dirty="0">
                <a:latin typeface="Consolas" panose="020B0609020204030204" pitchFamily="49" charset="0"/>
              </a:rPr>
              <a:t>s2.gpa = 3.2;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C8F46B-C40D-F8E8-8AC9-794AC36FBFC5}"/>
              </a:ext>
            </a:extLst>
          </p:cNvPr>
          <p:cNvSpPr txBox="1"/>
          <p:nvPr/>
        </p:nvSpPr>
        <p:spPr>
          <a:xfrm>
            <a:off x="912844" y="5107103"/>
            <a:ext cx="9360159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Fields can be accesses using dot operator</a:t>
            </a: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04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Initializing structures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605CE-9A83-1996-9884-20887AD615B2}"/>
              </a:ext>
            </a:extLst>
          </p:cNvPr>
          <p:cNvSpPr txBox="1"/>
          <p:nvPr/>
        </p:nvSpPr>
        <p:spPr>
          <a:xfrm>
            <a:off x="838200" y="2448133"/>
            <a:ext cx="2520822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Using initializer list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4601546" y="1909524"/>
            <a:ext cx="4514461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student s1 = {"Ahmed", 20, 3.2};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student s2 {"Na-</a:t>
            </a:r>
            <a:r>
              <a:rPr lang="en-US" dirty="0" err="1">
                <a:latin typeface="Consolas" panose="020B0609020204030204" pitchFamily="49" charset="0"/>
              </a:rPr>
              <a:t>laiq</a:t>
            </a:r>
            <a:r>
              <a:rPr lang="en-US" dirty="0">
                <a:latin typeface="Consolas" panose="020B0609020204030204" pitchFamily="49" charset="0"/>
              </a:rPr>
              <a:t>", 19}; 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8C193-5809-F4AA-3EBD-64F67E872A8D}"/>
              </a:ext>
            </a:extLst>
          </p:cNvPr>
          <p:cNvSpPr txBox="1"/>
          <p:nvPr/>
        </p:nvSpPr>
        <p:spPr>
          <a:xfrm>
            <a:off x="6858777" y="1515843"/>
            <a:ext cx="26153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= sign is optional since C++11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352EB8-06F7-9DC5-9780-175C1A957D97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14186" y="1685120"/>
            <a:ext cx="644591" cy="256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B44993-2F8E-68EA-E962-4FAAE4761D8A}"/>
              </a:ext>
            </a:extLst>
          </p:cNvPr>
          <p:cNvSpPr txBox="1"/>
          <p:nvPr/>
        </p:nvSpPr>
        <p:spPr>
          <a:xfrm>
            <a:off x="9116007" y="2371189"/>
            <a:ext cx="2300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s3.gpa will be 0.0 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(default value for double)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B51EF6-B363-1D0F-78E8-1F3DE055BA6F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164285" y="2663577"/>
            <a:ext cx="951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DEA033-7D9E-0297-611F-1D5753E56C0E}"/>
              </a:ext>
            </a:extLst>
          </p:cNvPr>
          <p:cNvSpPr txBox="1"/>
          <p:nvPr/>
        </p:nvSpPr>
        <p:spPr>
          <a:xfrm>
            <a:off x="838200" y="4926151"/>
            <a:ext cx="333258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Designated initializers (C++20)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83183A-51E5-0005-6F9B-F533D2EBB93A}"/>
              </a:ext>
            </a:extLst>
          </p:cNvPr>
          <p:cNvSpPr txBox="1"/>
          <p:nvPr/>
        </p:nvSpPr>
        <p:spPr>
          <a:xfrm>
            <a:off x="4601546" y="4387542"/>
            <a:ext cx="6539205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student s3 {.name = "Ali", .age = 21, .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 = 3.8};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student s4 {.name = "Prodigy", .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 = 3.7};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student s5 {.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 = 2.2, .name = "Nobody"}; 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BB19CF-3F24-4909-8942-C5D82D6D10ED}"/>
              </a:ext>
            </a:extLst>
          </p:cNvPr>
          <p:cNvSpPr txBox="1"/>
          <p:nvPr/>
        </p:nvSpPr>
        <p:spPr>
          <a:xfrm>
            <a:off x="11109647" y="4893425"/>
            <a:ext cx="92373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s3.age will be 0</a:t>
            </a:r>
            <a:endParaRPr lang="en-PK" sz="1600" dirty="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C806D8-36AE-1F2C-91B6-5E5D63D8B41A}"/>
              </a:ext>
            </a:extLst>
          </p:cNvPr>
          <p:cNvSpPr txBox="1"/>
          <p:nvPr/>
        </p:nvSpPr>
        <p:spPr>
          <a:xfrm>
            <a:off x="6536481" y="6029452"/>
            <a:ext cx="4600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error, designator order must match declaration order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682A35-5315-7D4E-D602-1C2BBA7CF122}"/>
              </a:ext>
            </a:extLst>
          </p:cNvPr>
          <p:cNvCxnSpPr>
            <a:cxnSpLocks/>
          </p:cNvCxnSpPr>
          <p:nvPr/>
        </p:nvCxnSpPr>
        <p:spPr>
          <a:xfrm flipH="1">
            <a:off x="10235058" y="5139646"/>
            <a:ext cx="8745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786482-C3A8-C48D-1570-40D113061359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8164285" y="5864870"/>
            <a:ext cx="672602" cy="164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75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Passing </a:t>
            </a:r>
            <a:r>
              <a:rPr lang="en-US" sz="3600" dirty="0">
                <a:latin typeface="Consolas" panose="020B0609020204030204" pitchFamily="49" charset="0"/>
              </a:rPr>
              <a:t>struct</a:t>
            </a:r>
            <a:r>
              <a:rPr lang="en-US" sz="3600" dirty="0"/>
              <a:t> to functions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605CE-9A83-1996-9884-20887AD615B2}"/>
              </a:ext>
            </a:extLst>
          </p:cNvPr>
          <p:cNvSpPr txBox="1"/>
          <p:nvPr/>
        </p:nvSpPr>
        <p:spPr>
          <a:xfrm>
            <a:off x="838200" y="2532111"/>
            <a:ext cx="2212910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Pass by value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3489649" y="2132001"/>
            <a:ext cx="7940350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print_v</a:t>
            </a:r>
            <a:r>
              <a:rPr lang="en-US" dirty="0">
                <a:latin typeface="Consolas" panose="020B0609020204030204" pitchFamily="49" charset="0"/>
              </a:rPr>
              <a:t>(student s)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s.name &lt;&lt; " " &lt;&lt; </a:t>
            </a:r>
            <a:r>
              <a:rPr lang="en-US" dirty="0" err="1">
                <a:latin typeface="Consolas" panose="020B0609020204030204" pitchFamily="49" charset="0"/>
              </a:rPr>
              <a:t>s.age</a:t>
            </a:r>
            <a:r>
              <a:rPr lang="en-US" dirty="0">
                <a:latin typeface="Consolas" panose="020B0609020204030204" pitchFamily="49" charset="0"/>
              </a:rPr>
              <a:t> &lt;&lt; " " &lt;&lt; </a:t>
            </a:r>
            <a:r>
              <a:rPr lang="en-US" dirty="0" err="1">
                <a:latin typeface="Consolas" panose="020B0609020204030204" pitchFamily="49" charset="0"/>
              </a:rPr>
              <a:t>s.gpa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EA17E-F2C4-DCE5-F1B5-228F5A0A0F5A}"/>
              </a:ext>
            </a:extLst>
          </p:cNvPr>
          <p:cNvSpPr txBox="1"/>
          <p:nvPr/>
        </p:nvSpPr>
        <p:spPr>
          <a:xfrm>
            <a:off x="716902" y="3778329"/>
            <a:ext cx="2455506" cy="70788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Pass by reference</a:t>
            </a:r>
          </a:p>
          <a:p>
            <a:pPr algn="ctr"/>
            <a:r>
              <a:rPr lang="en-US" sz="2000" dirty="0"/>
              <a:t>(using C++ reference)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401AE-92FD-EC53-2CD7-7B416632E546}"/>
              </a:ext>
            </a:extLst>
          </p:cNvPr>
          <p:cNvSpPr txBox="1"/>
          <p:nvPr/>
        </p:nvSpPr>
        <p:spPr>
          <a:xfrm>
            <a:off x="3489649" y="3493716"/>
            <a:ext cx="7940350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print_r</a:t>
            </a:r>
            <a:r>
              <a:rPr lang="en-US" dirty="0">
                <a:latin typeface="Consolas" panose="020B0609020204030204" pitchFamily="49" charset="0"/>
              </a:rPr>
              <a:t>(const student&amp; s)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s.name &lt;&lt; " " &lt;&lt; </a:t>
            </a:r>
            <a:r>
              <a:rPr lang="en-US" dirty="0" err="1">
                <a:latin typeface="Consolas" panose="020B0609020204030204" pitchFamily="49" charset="0"/>
              </a:rPr>
              <a:t>s.age</a:t>
            </a:r>
            <a:r>
              <a:rPr lang="en-US" dirty="0">
                <a:latin typeface="Consolas" panose="020B0609020204030204" pitchFamily="49" charset="0"/>
              </a:rPr>
              <a:t> &lt;&lt; " " &lt;&lt; </a:t>
            </a:r>
            <a:r>
              <a:rPr lang="en-US" dirty="0" err="1">
                <a:latin typeface="Consolas" panose="020B0609020204030204" pitchFamily="49" charset="0"/>
              </a:rPr>
              <a:t>s.gpa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0C73E-BF95-687F-E4DF-83707E26FA92}"/>
              </a:ext>
            </a:extLst>
          </p:cNvPr>
          <p:cNvSpPr txBox="1"/>
          <p:nvPr/>
        </p:nvSpPr>
        <p:spPr>
          <a:xfrm>
            <a:off x="782219" y="5103215"/>
            <a:ext cx="2455506" cy="70788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Pass by address</a:t>
            </a:r>
          </a:p>
          <a:p>
            <a:pPr algn="ctr"/>
            <a:r>
              <a:rPr lang="en-US" sz="2000" dirty="0"/>
              <a:t>(using C++ pointers)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C081B-9D5D-DE68-A1DC-92A95A209F27}"/>
              </a:ext>
            </a:extLst>
          </p:cNvPr>
          <p:cNvSpPr txBox="1"/>
          <p:nvPr/>
        </p:nvSpPr>
        <p:spPr>
          <a:xfrm>
            <a:off x="3478766" y="4856994"/>
            <a:ext cx="8333791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print_a</a:t>
            </a:r>
            <a:r>
              <a:rPr lang="en-US" dirty="0">
                <a:latin typeface="Consolas" panose="020B0609020204030204" pitchFamily="49" charset="0"/>
              </a:rPr>
              <a:t>(const student* s)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s-&gt;name &lt;&lt; " " &lt;&lt; s-&gt;age &lt;&lt; " " &lt;&lt; s-&gt;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FF8963-6D9B-9432-04A9-A641D7C112A3}"/>
              </a:ext>
            </a:extLst>
          </p:cNvPr>
          <p:cNvSpPr txBox="1"/>
          <p:nvPr/>
        </p:nvSpPr>
        <p:spPr>
          <a:xfrm>
            <a:off x="5070503" y="6057323"/>
            <a:ext cx="5536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oerator</a:t>
            </a:r>
            <a:r>
              <a:rPr lang="en-US" sz="1600" dirty="0">
                <a:solidFill>
                  <a:schemeClr val="accent1"/>
                </a:solidFill>
              </a:rPr>
              <a:t> to dereference and access a field through a pointer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s-&gt;name</a:t>
            </a:r>
            <a:r>
              <a:rPr lang="en-US" sz="1600" dirty="0">
                <a:solidFill>
                  <a:schemeClr val="accent1"/>
                </a:solidFill>
              </a:rPr>
              <a:t> is same as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(*s).name</a:t>
            </a:r>
            <a:endParaRPr lang="en-PK" sz="16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C18CB-4765-58EA-81A2-98F5B7F33C79}"/>
              </a:ext>
            </a:extLst>
          </p:cNvPr>
          <p:cNvSpPr txBox="1"/>
          <p:nvPr/>
        </p:nvSpPr>
        <p:spPr>
          <a:xfrm>
            <a:off x="838199" y="1555566"/>
            <a:ext cx="10591799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Values of type student can be passed to functions just like any other values</a:t>
            </a:r>
          </a:p>
        </p:txBody>
      </p:sp>
    </p:spTree>
    <p:extLst>
      <p:ext uri="{BB962C8B-B14F-4D97-AF65-F5344CB8AC3E}">
        <p14:creationId xmlns:p14="http://schemas.microsoft.com/office/powerpoint/2010/main" val="193415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Returning </a:t>
            </a:r>
            <a:r>
              <a:rPr lang="en-US" sz="3600" dirty="0">
                <a:latin typeface="Consolas" panose="020B0609020204030204" pitchFamily="49" charset="0"/>
              </a:rPr>
              <a:t>struct</a:t>
            </a:r>
            <a:r>
              <a:rPr lang="en-US" sz="3600" dirty="0"/>
              <a:t> from functions</a:t>
            </a:r>
            <a:endParaRPr lang="en-PK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838199" y="2413337"/>
            <a:ext cx="7940350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student </a:t>
            </a:r>
            <a:r>
              <a:rPr lang="en-US" dirty="0" err="1">
                <a:latin typeface="Consolas" panose="020B0609020204030204" pitchFamily="49" charset="0"/>
              </a:rPr>
              <a:t>create_student</a:t>
            </a:r>
            <a:r>
              <a:rPr lang="en-US" dirty="0">
                <a:latin typeface="Consolas" panose="020B0609020204030204" pitchFamily="49" charset="0"/>
              </a:rPr>
              <a:t>(string name, int age, double 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student s;</a:t>
            </a:r>
          </a:p>
          <a:p>
            <a:r>
              <a:rPr lang="en-US" dirty="0">
                <a:latin typeface="Consolas" panose="020B0609020204030204" pitchFamily="49" charset="0"/>
              </a:rPr>
              <a:t>    s.name =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s.age</a:t>
            </a:r>
            <a:r>
              <a:rPr lang="en-US" dirty="0">
                <a:latin typeface="Consolas" panose="020B0609020204030204" pitchFamily="49" charset="0"/>
              </a:rPr>
              <a:t> = age;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s.gpa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gpa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s;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C18CB-4765-58EA-81A2-98F5B7F33C79}"/>
              </a:ext>
            </a:extLst>
          </p:cNvPr>
          <p:cNvSpPr txBox="1"/>
          <p:nvPr/>
        </p:nvSpPr>
        <p:spPr>
          <a:xfrm>
            <a:off x="838199" y="1851957"/>
            <a:ext cx="7940350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 structure can be returned from functions just like any other value</a:t>
            </a:r>
          </a:p>
        </p:txBody>
      </p:sp>
    </p:spTree>
    <p:extLst>
      <p:ext uri="{BB962C8B-B14F-4D97-AF65-F5344CB8AC3E}">
        <p14:creationId xmlns:p14="http://schemas.microsoft.com/office/powerpoint/2010/main" val="136857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56DBC4-D465-5AF9-1162-5460BDB5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Example: A data type for Complex Numbers</a:t>
            </a:r>
          </a:p>
        </p:txBody>
      </p:sp>
      <p:pic>
        <p:nvPicPr>
          <p:cNvPr id="11" name="Picture 10" descr="A sticker of a mathematical symbol&#10;&#10;Description automatically generated">
            <a:extLst>
              <a:ext uri="{FF2B5EF4-FFF2-40B4-BE49-F238E27FC236}">
                <a16:creationId xmlns:a16="http://schemas.microsoft.com/office/drawing/2014/main" id="{E6B32B31-005C-737C-941A-28C34A95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6644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Crash course in complex numbers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FC18CB-4765-58EA-81A2-98F5B7F33C79}"/>
                  </a:ext>
                </a:extLst>
              </p:cNvPr>
              <p:cNvSpPr txBox="1"/>
              <p:nvPr/>
            </p:nvSpPr>
            <p:spPr>
              <a:xfrm>
                <a:off x="838198" y="1851957"/>
                <a:ext cx="9462797" cy="43011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 complex number is a number of the form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are real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≝</m:t>
                    </m:r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FC18CB-4765-58EA-81A2-98F5B7F33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851957"/>
                <a:ext cx="9462797" cy="430118"/>
              </a:xfrm>
              <a:prstGeom prst="rect">
                <a:avLst/>
              </a:prstGeom>
              <a:blipFill>
                <a:blip r:embed="rId2"/>
                <a:stretch>
                  <a:fillRect l="-644" t="-1429" b="-2571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E4DECDC-91EA-DEB4-04AC-B8C72961FBE2}"/>
              </a:ext>
            </a:extLst>
          </p:cNvPr>
          <p:cNvSpPr txBox="1"/>
          <p:nvPr/>
        </p:nvSpPr>
        <p:spPr>
          <a:xfrm>
            <a:off x="838198" y="2443344"/>
            <a:ext cx="9462797" cy="70788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Complex numbers are a </a:t>
            </a:r>
            <a:r>
              <a:rPr lang="en-US" sz="2000" i="1" dirty="0">
                <a:solidFill>
                  <a:schemeClr val="accent1"/>
                </a:solidFill>
              </a:rPr>
              <a:t>quintessential mathematical abstraction </a:t>
            </a:r>
            <a:r>
              <a:rPr lang="en-US" sz="2000" dirty="0"/>
              <a:t>that have been used for centuries to give insight into real-world problems not easily addressed otherwise.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66B670-1765-E6B9-75AA-2C2F71EE5536}"/>
                  </a:ext>
                </a:extLst>
              </p:cNvPr>
              <p:cNvSpPr txBox="1"/>
              <p:nvPr/>
            </p:nvSpPr>
            <p:spPr>
              <a:xfrm>
                <a:off x="893402" y="3363684"/>
                <a:ext cx="9462797" cy="132343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To perform </a:t>
                </a:r>
                <a:r>
                  <a:rPr lang="en-US" sz="2000" i="1" dirty="0">
                    <a:solidFill>
                      <a:schemeClr val="accent1"/>
                    </a:solidFill>
                  </a:rPr>
                  <a:t>algebraic operations </a:t>
                </a:r>
                <a:r>
                  <a:rPr lang="en-US" sz="2000" dirty="0"/>
                  <a:t>on complex numbers, use real algebra, 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and collect terms.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Addition example: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(3+4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)+(−2+3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)=1+7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Multiplication example: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(3+4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)×(−2+3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)=−18+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66B670-1765-E6B9-75AA-2C2F71EE5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02" y="3363684"/>
                <a:ext cx="9462797" cy="1323439"/>
              </a:xfrm>
              <a:prstGeom prst="rect">
                <a:avLst/>
              </a:prstGeom>
              <a:blipFill>
                <a:blip r:embed="rId3"/>
                <a:stretch>
                  <a:fillRect l="-709" t="-2765" b="-737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AC988-BAD8-7CA0-D31E-2EB71956BE15}"/>
                  </a:ext>
                </a:extLst>
              </p:cNvPr>
              <p:cNvSpPr txBox="1"/>
              <p:nvPr/>
            </p:nvSpPr>
            <p:spPr>
              <a:xfrm>
                <a:off x="893402" y="4889542"/>
                <a:ext cx="9462797" cy="43774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>
                    <a:solidFill>
                      <a:schemeClr val="accent1"/>
                    </a:solidFill>
                  </a:rPr>
                  <a:t>magnitude</a:t>
                </a:r>
                <a:r>
                  <a:rPr lang="en-US" sz="2000" dirty="0"/>
                  <a:t> or </a:t>
                </a:r>
                <a:r>
                  <a:rPr lang="en-US" sz="2000" i="1" dirty="0">
                    <a:solidFill>
                      <a:schemeClr val="accent1"/>
                    </a:solidFill>
                  </a:rPr>
                  <a:t>absolute</a:t>
                </a:r>
                <a:r>
                  <a:rPr lang="en-US" sz="2000" dirty="0"/>
                  <a:t> value of a complex number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AC988-BAD8-7CA0-D31E-2EB71956B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02" y="4889542"/>
                <a:ext cx="9462797" cy="437749"/>
              </a:xfrm>
              <a:prstGeom prst="rect">
                <a:avLst/>
              </a:prstGeom>
              <a:blipFill>
                <a:blip r:embed="rId4"/>
                <a:stretch>
                  <a:fillRect l="-709" b="-236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C59C07-91CB-42FC-6365-87932ADF3590}"/>
                  </a:ext>
                </a:extLst>
              </p:cNvPr>
              <p:cNvSpPr txBox="1"/>
              <p:nvPr/>
            </p:nvSpPr>
            <p:spPr>
              <a:xfrm>
                <a:off x="10303051" y="4816278"/>
                <a:ext cx="12892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1"/>
                    </a:solidFill>
                  </a:rPr>
                  <a:t>Example:</a:t>
                </a:r>
              </a:p>
              <a:p>
                <a:pPr algn="ctr"/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|3+4</m:t>
                    </m:r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|=5</m:t>
                    </m:r>
                  </m:oMath>
                </a14:m>
                <a:endParaRPr lang="en-PK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C59C07-91CB-42FC-6365-87932ADF3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051" y="4816278"/>
                <a:ext cx="1289263" cy="584775"/>
              </a:xfrm>
              <a:prstGeom prst="rect">
                <a:avLst/>
              </a:prstGeom>
              <a:blipFill>
                <a:blip r:embed="rId5"/>
                <a:stretch>
                  <a:fillRect t="-3125" b="-520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17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data type for complex numbers</a:t>
            </a:r>
            <a:endParaRPr lang="en-PK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5093734" y="2358385"/>
            <a:ext cx="2511491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struct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{</a:t>
            </a:r>
          </a:p>
          <a:p>
            <a:r>
              <a:rPr lang="fr-FR" dirty="0">
                <a:latin typeface="Consolas" panose="020B0609020204030204" pitchFamily="49" charset="0"/>
              </a:rPr>
              <a:t>    double re;</a:t>
            </a:r>
          </a:p>
          <a:p>
            <a:r>
              <a:rPr lang="fr-FR" dirty="0">
                <a:latin typeface="Consolas" panose="020B0609020204030204" pitchFamily="49" charset="0"/>
              </a:rPr>
              <a:t>    double </a:t>
            </a:r>
            <a:r>
              <a:rPr lang="fr-FR" dirty="0" err="1">
                <a:latin typeface="Consolas" panose="020B0609020204030204" pitchFamily="49" charset="0"/>
              </a:rPr>
              <a:t>im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latin typeface="Consolas" panose="020B0609020204030204" pitchFamily="49" charset="0"/>
              </a:rPr>
              <a:t>};</a:t>
            </a:r>
            <a:endParaRPr lang="en-PK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386F9F-2D9A-B84B-6F2A-C7F4F3CB706C}"/>
                  </a:ext>
                </a:extLst>
              </p:cNvPr>
              <p:cNvSpPr txBox="1"/>
              <p:nvPr/>
            </p:nvSpPr>
            <p:spPr>
              <a:xfrm>
                <a:off x="838198" y="1851957"/>
                <a:ext cx="9462797" cy="43011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 complex number is a number of the form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are real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≝</m:t>
                    </m:r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386F9F-2D9A-B84B-6F2A-C7F4F3CB7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851957"/>
                <a:ext cx="9462797" cy="430118"/>
              </a:xfrm>
              <a:prstGeom prst="rect">
                <a:avLst/>
              </a:prstGeom>
              <a:blipFill>
                <a:blip r:embed="rId2"/>
                <a:stretch>
                  <a:fillRect l="-644" t="-1429" b="-2571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F9350B7-24CE-38D3-7DA6-DA8359D37DBC}"/>
              </a:ext>
            </a:extLst>
          </p:cNvPr>
          <p:cNvSpPr txBox="1"/>
          <p:nvPr/>
        </p:nvSpPr>
        <p:spPr>
          <a:xfrm>
            <a:off x="838198" y="2740703"/>
            <a:ext cx="3463213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Representing complex values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3AD88-9D7C-9E29-67B1-1E45FBF2960F}"/>
              </a:ext>
            </a:extLst>
          </p:cNvPr>
          <p:cNvSpPr txBox="1"/>
          <p:nvPr/>
        </p:nvSpPr>
        <p:spPr>
          <a:xfrm>
            <a:off x="838198" y="3645269"/>
            <a:ext cx="8464422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Operations on complex values: functions that accept and return complex values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320C1-76D2-95C7-8A87-9CF3AD702BF8}"/>
              </a:ext>
            </a:extLst>
          </p:cNvPr>
          <p:cNvSpPr txBox="1"/>
          <p:nvPr/>
        </p:nvSpPr>
        <p:spPr>
          <a:xfrm>
            <a:off x="2876157" y="4428643"/>
            <a:ext cx="6911655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add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const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&amp; a, </a:t>
            </a:r>
            <a:r>
              <a:rPr lang="fr-FR" dirty="0" err="1">
                <a:latin typeface="Consolas" panose="020B0609020204030204" pitchFamily="49" charset="0"/>
              </a:rPr>
              <a:t>const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&amp; b) {…}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227687-D1F9-2290-DE4A-A542E3701A53}"/>
              </a:ext>
            </a:extLst>
          </p:cNvPr>
          <p:cNvSpPr/>
          <p:nvPr/>
        </p:nvSpPr>
        <p:spPr>
          <a:xfrm>
            <a:off x="838198" y="4206587"/>
            <a:ext cx="10031965" cy="24554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079B1-7C9C-D086-0B92-39F817AEB7E0}"/>
              </a:ext>
            </a:extLst>
          </p:cNvPr>
          <p:cNvSpPr txBox="1"/>
          <p:nvPr/>
        </p:nvSpPr>
        <p:spPr>
          <a:xfrm>
            <a:off x="1396485" y="4428643"/>
            <a:ext cx="1358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add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1E262-1B92-965E-8F9E-0A77E6746D5E}"/>
              </a:ext>
            </a:extLst>
          </p:cNvPr>
          <p:cNvSpPr txBox="1"/>
          <p:nvPr/>
        </p:nvSpPr>
        <p:spPr>
          <a:xfrm>
            <a:off x="1522448" y="5083228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using add()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CCA5D7-6A27-008C-F079-732E01E9FD72}"/>
              </a:ext>
            </a:extLst>
          </p:cNvPr>
          <p:cNvSpPr txBox="1"/>
          <p:nvPr/>
        </p:nvSpPr>
        <p:spPr>
          <a:xfrm>
            <a:off x="2876157" y="4845795"/>
            <a:ext cx="3219843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a{3,2}, b{-1,3};</a:t>
            </a:r>
          </a:p>
          <a:p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c = </a:t>
            </a:r>
            <a:r>
              <a:rPr lang="fr-FR" dirty="0" err="1">
                <a:latin typeface="Consolas" panose="020B0609020204030204" pitchFamily="49" charset="0"/>
              </a:rPr>
              <a:t>add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a,b</a:t>
            </a:r>
            <a:r>
              <a:rPr lang="fr-FR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BF6CED-4A1C-CA3A-FD0B-4EF3D77440FF}"/>
              </a:ext>
            </a:extLst>
          </p:cNvPr>
          <p:cNvSpPr txBox="1"/>
          <p:nvPr/>
        </p:nvSpPr>
        <p:spPr>
          <a:xfrm>
            <a:off x="1030586" y="5721405"/>
            <a:ext cx="1845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overload + operator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for complex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A7770-7D21-3FC9-E14A-C8E835E8FEC5}"/>
              </a:ext>
            </a:extLst>
          </p:cNvPr>
          <p:cNvSpPr txBox="1"/>
          <p:nvPr/>
        </p:nvSpPr>
        <p:spPr>
          <a:xfrm>
            <a:off x="2876156" y="5615611"/>
            <a:ext cx="7424839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operator</a:t>
            </a:r>
            <a:r>
              <a:rPr lang="fr-FR" dirty="0">
                <a:latin typeface="Consolas" panose="020B0609020204030204" pitchFamily="49" charset="0"/>
              </a:rPr>
              <a:t>+(</a:t>
            </a:r>
            <a:r>
              <a:rPr lang="fr-FR" dirty="0" err="1">
                <a:latin typeface="Consolas" panose="020B0609020204030204" pitchFamily="49" charset="0"/>
              </a:rPr>
              <a:t>const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&amp; a, </a:t>
            </a:r>
            <a:r>
              <a:rPr lang="fr-FR" dirty="0" err="1">
                <a:latin typeface="Consolas" panose="020B0609020204030204" pitchFamily="49" charset="0"/>
              </a:rPr>
              <a:t>const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&amp; b) {…}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65732D-030C-7A6A-F297-B276F71C2705}"/>
              </a:ext>
            </a:extLst>
          </p:cNvPr>
          <p:cNvSpPr txBox="1"/>
          <p:nvPr/>
        </p:nvSpPr>
        <p:spPr>
          <a:xfrm>
            <a:off x="2876158" y="6013793"/>
            <a:ext cx="250760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c = a + b;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127A9E-FB09-92A8-E67B-CEF579E8CC5E}"/>
              </a:ext>
            </a:extLst>
          </p:cNvPr>
          <p:cNvSpPr txBox="1"/>
          <p:nvPr/>
        </p:nvSpPr>
        <p:spPr>
          <a:xfrm>
            <a:off x="5747484" y="6044571"/>
            <a:ext cx="33484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equivalent to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c = operator+(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a,b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47380B-FB3A-7C28-B31E-0E6618F0844D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5437496" y="6213848"/>
            <a:ext cx="309988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01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data type for complex numbers</a:t>
            </a:r>
            <a:endParaRPr lang="en-PK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852968" y="1843065"/>
            <a:ext cx="2511491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nsolas" panose="020B0609020204030204" pitchFamily="49" charset="0"/>
              </a:rPr>
              <a:t>struct</a:t>
            </a:r>
            <a:r>
              <a:rPr lang="fr-FR" dirty="0">
                <a:latin typeface="Consolas" panose="020B0609020204030204" pitchFamily="49" charset="0"/>
              </a:rPr>
              <a:t> </a:t>
            </a:r>
            <a:r>
              <a:rPr lang="fr-FR" dirty="0" err="1">
                <a:latin typeface="Consolas" panose="020B0609020204030204" pitchFamily="49" charset="0"/>
              </a:rPr>
              <a:t>complex</a:t>
            </a:r>
            <a:r>
              <a:rPr lang="fr-FR" dirty="0">
                <a:latin typeface="Consolas" panose="020B0609020204030204" pitchFamily="49" charset="0"/>
              </a:rPr>
              <a:t> {</a:t>
            </a:r>
          </a:p>
          <a:p>
            <a:r>
              <a:rPr lang="fr-FR" dirty="0">
                <a:latin typeface="Consolas" panose="020B0609020204030204" pitchFamily="49" charset="0"/>
              </a:rPr>
              <a:t>    double re;</a:t>
            </a:r>
          </a:p>
          <a:p>
            <a:r>
              <a:rPr lang="fr-FR" dirty="0">
                <a:latin typeface="Consolas" panose="020B0609020204030204" pitchFamily="49" charset="0"/>
              </a:rPr>
              <a:t>    double </a:t>
            </a:r>
            <a:r>
              <a:rPr lang="fr-FR" dirty="0" err="1">
                <a:latin typeface="Consolas" panose="020B0609020204030204" pitchFamily="49" charset="0"/>
              </a:rPr>
              <a:t>im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latin typeface="Consolas" panose="020B0609020204030204" pitchFamily="49" charset="0"/>
              </a:rPr>
              <a:t>};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F535A-DFF3-2C87-B043-609C94349BFC}"/>
              </a:ext>
            </a:extLst>
          </p:cNvPr>
          <p:cNvSpPr txBox="1"/>
          <p:nvPr/>
        </p:nvSpPr>
        <p:spPr>
          <a:xfrm>
            <a:off x="852968" y="1473733"/>
            <a:ext cx="854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values:</a:t>
            </a:r>
            <a:endParaRPr lang="en-PK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29FF1F-336F-1EA2-4BFB-BBFEABAAA817}"/>
              </a:ext>
            </a:extLst>
          </p:cNvPr>
          <p:cNvSpPr txBox="1"/>
          <p:nvPr/>
        </p:nvSpPr>
        <p:spPr>
          <a:xfrm>
            <a:off x="764019" y="3164765"/>
            <a:ext cx="127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operations:</a:t>
            </a:r>
            <a:endParaRPr lang="en-PK" b="1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1B035A6-5281-E49B-55EB-4E2F4C79C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646216"/>
              </p:ext>
            </p:extLst>
          </p:nvPr>
        </p:nvGraphicFramePr>
        <p:xfrm>
          <a:off x="852968" y="3484986"/>
          <a:ext cx="10515600" cy="257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138">
                  <a:extLst>
                    <a:ext uri="{9D8B030D-6E8A-4147-A177-3AD203B41FA5}">
                      <a16:colId xmlns:a16="http://schemas.microsoft.com/office/drawing/2014/main" val="866095505"/>
                    </a:ext>
                  </a:extLst>
                </a:gridCol>
                <a:gridCol w="7025951">
                  <a:extLst>
                    <a:ext uri="{9D8B030D-6E8A-4147-A177-3AD203B41FA5}">
                      <a16:colId xmlns:a16="http://schemas.microsoft.com/office/drawing/2014/main" val="3026268615"/>
                    </a:ext>
                  </a:extLst>
                </a:gridCol>
                <a:gridCol w="2420511">
                  <a:extLst>
                    <a:ext uri="{9D8B030D-6E8A-4147-A177-3AD203B41FA5}">
                      <a16:colId xmlns:a16="http://schemas.microsoft.com/office/drawing/2014/main" val="2615783198"/>
                    </a:ext>
                  </a:extLst>
                </a:gridCol>
              </a:tblGrid>
              <a:tr h="352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function implementing the operation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use example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52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+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</a:rPr>
                        <a:t>complex operator+(const complex&amp; a, const complex&amp; b)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complex c = a + b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1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+=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void operator+=(complex&amp; a, const complex&amp; b)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a += b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20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*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</a:rPr>
                        <a:t>complex operator*(const complex&amp; a, const complex&amp; b)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complex c = a * b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8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*=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void operator*=(complex&amp; a, const complex&amp; b)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a *= b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87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&lt;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bool operator&lt;(const complex&amp; a, const complex&amp; b)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800">
                          <a:latin typeface="Consolas" panose="020B0609020204030204" pitchFamily="49" charset="0"/>
                        </a:rPr>
                        <a:t>(a&lt;b</a:t>
                      </a:r>
                      <a:r>
                        <a:rPr lang="en-US" sz="1800" dirty="0">
                          <a:latin typeface="Consolas" panose="020B0609020204030204" pitchFamily="49" charset="0"/>
                        </a:rPr>
                        <a:t>) {…}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015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abs()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nsolas" panose="020B0609020204030204" pitchFamily="49" charset="0"/>
                        </a:rPr>
                        <a:t>double abs(const complex&amp; a)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double x = abs(a)</a:t>
                      </a:r>
                      <a:endParaRPr lang="en-PK" sz="1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5972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ACA9DCB-837D-5762-20BC-EB2930CC746E}"/>
              </a:ext>
            </a:extLst>
          </p:cNvPr>
          <p:cNvSpPr txBox="1"/>
          <p:nvPr/>
        </p:nvSpPr>
        <p:spPr>
          <a:xfrm>
            <a:off x="8158522" y="2925636"/>
            <a:ext cx="3824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assuming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chemeClr val="accent1"/>
                </a:solidFill>
              </a:rPr>
              <a:t> are variable of type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complex</a:t>
            </a:r>
            <a:endParaRPr lang="en-PK" sz="16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2B6CE4-C40B-3AC0-0FFB-3AFF6A64BF10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0070616" y="3264190"/>
            <a:ext cx="0" cy="220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079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Implementing </a:t>
            </a:r>
            <a:r>
              <a:rPr lang="en-US" sz="3600" dirty="0">
                <a:latin typeface="Consolas" panose="020B0609020204030204" pitchFamily="49" charset="0"/>
              </a:rPr>
              <a:t>complex</a:t>
            </a:r>
            <a:r>
              <a:rPr lang="en-US" sz="3600" dirty="0"/>
              <a:t> operations</a:t>
            </a:r>
            <a:endParaRPr lang="en-PK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2151473" y="1473732"/>
            <a:ext cx="8214837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operator+=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F535A-DFF3-2C87-B043-609C94349BFC}"/>
              </a:ext>
            </a:extLst>
          </p:cNvPr>
          <p:cNvSpPr txBox="1"/>
          <p:nvPr/>
        </p:nvSpPr>
        <p:spPr>
          <a:xfrm>
            <a:off x="838200" y="2182858"/>
            <a:ext cx="1031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complex addition</a:t>
            </a:r>
            <a:endParaRPr lang="en-PK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BBA23-C238-846E-7268-49E000CDCA80}"/>
              </a:ext>
            </a:extLst>
          </p:cNvPr>
          <p:cNvSpPr txBox="1"/>
          <p:nvPr/>
        </p:nvSpPr>
        <p:spPr>
          <a:xfrm>
            <a:off x="2136705" y="4160710"/>
            <a:ext cx="8214837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imag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complex 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imag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operator*=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7F2EE-11D6-1575-8EE5-D0B6E8B2F9A2}"/>
              </a:ext>
            </a:extLst>
          </p:cNvPr>
          <p:cNvSpPr txBox="1"/>
          <p:nvPr/>
        </p:nvSpPr>
        <p:spPr>
          <a:xfrm>
            <a:off x="429209" y="4795191"/>
            <a:ext cx="1618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complex multiplication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48564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Implementing </a:t>
            </a:r>
            <a:r>
              <a:rPr lang="en-US" sz="3600" dirty="0">
                <a:latin typeface="Consolas" panose="020B0609020204030204" pitchFamily="49" charset="0"/>
              </a:rPr>
              <a:t>complex</a:t>
            </a:r>
            <a:r>
              <a:rPr lang="en-US" sz="3600" dirty="0"/>
              <a:t> operations</a:t>
            </a:r>
            <a:endParaRPr lang="en-PK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2136704" y="1857944"/>
            <a:ext cx="8214837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F535A-DFF3-2C87-B043-609C94349BFC}"/>
              </a:ext>
            </a:extLst>
          </p:cNvPr>
          <p:cNvSpPr txBox="1"/>
          <p:nvPr/>
        </p:nvSpPr>
        <p:spPr>
          <a:xfrm>
            <a:off x="746450" y="2134943"/>
            <a:ext cx="130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magnitude</a:t>
            </a:r>
            <a:endParaRPr lang="en-PK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BBA23-C238-846E-7268-49E000CDCA80}"/>
              </a:ext>
            </a:extLst>
          </p:cNvPr>
          <p:cNvSpPr txBox="1"/>
          <p:nvPr/>
        </p:nvSpPr>
        <p:spPr>
          <a:xfrm>
            <a:off x="2136705" y="4160710"/>
            <a:ext cx="8214837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precision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+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 &lt;&lt; "i"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7F2EE-11D6-1575-8EE5-D0B6E8B2F9A2}"/>
              </a:ext>
            </a:extLst>
          </p:cNvPr>
          <p:cNvSpPr txBox="1"/>
          <p:nvPr/>
        </p:nvSpPr>
        <p:spPr>
          <a:xfrm>
            <a:off x="429209" y="4576208"/>
            <a:ext cx="1618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 stream operator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65048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3E73-3F97-57D6-BAE7-B91B9AC1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client for </a:t>
            </a:r>
            <a:r>
              <a:rPr lang="en-US" sz="3600" dirty="0">
                <a:latin typeface="Consolas" panose="020B0609020204030204" pitchFamily="49" charset="0"/>
              </a:rPr>
              <a:t>complex</a:t>
            </a:r>
            <a:r>
              <a:rPr lang="en-US" sz="3600" dirty="0"/>
              <a:t> data type</a:t>
            </a:r>
            <a:endParaRPr lang="en-PK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ACA61-2D4E-CD37-0437-7B60CBAD99D5}"/>
              </a:ext>
            </a:extLst>
          </p:cNvPr>
          <p:cNvSpPr txBox="1"/>
          <p:nvPr/>
        </p:nvSpPr>
        <p:spPr>
          <a:xfrm>
            <a:off x="2220680" y="2117434"/>
            <a:ext cx="7277884" cy="34163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a+b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"a*b: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after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exceuting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a*=b: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"Magnitude of a: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F535A-DFF3-2C87-B043-609C94349BFC}"/>
              </a:ext>
            </a:extLst>
          </p:cNvPr>
          <p:cNvSpPr txBox="1"/>
          <p:nvPr/>
        </p:nvSpPr>
        <p:spPr>
          <a:xfrm>
            <a:off x="746450" y="2134943"/>
            <a:ext cx="130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test client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714590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CF2F2E-72FA-3EB9-3DA7-40ED77D0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Abstract Data Types</a:t>
            </a:r>
          </a:p>
        </p:txBody>
      </p:sp>
      <p:pic>
        <p:nvPicPr>
          <p:cNvPr id="6" name="Picture 5" descr="Vibrant multicolour checkered floor design">
            <a:extLst>
              <a:ext uri="{FF2B5EF4-FFF2-40B4-BE49-F238E27FC236}">
                <a16:creationId xmlns:a16="http://schemas.microsoft.com/office/drawing/2014/main" id="{FEAE2FC6-29BF-93AD-660C-3E8F9A05C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2" r="2706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0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9190-3328-DAB7-1365-534F634C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Abstract Data Types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BE811-8B08-CBB7-8815-B13709FDB769}"/>
              </a:ext>
            </a:extLst>
          </p:cNvPr>
          <p:cNvSpPr txBox="1"/>
          <p:nvPr/>
        </p:nvSpPr>
        <p:spPr>
          <a:xfrm>
            <a:off x="838198" y="1724352"/>
            <a:ext cx="10515600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An </a:t>
            </a:r>
            <a:r>
              <a:rPr lang="en-US" sz="2400" dirty="0">
                <a:solidFill>
                  <a:schemeClr val="accent1"/>
                </a:solidFill>
              </a:rPr>
              <a:t>abstract data type </a:t>
            </a:r>
            <a:r>
              <a:rPr lang="en-US" sz="2400" dirty="0"/>
              <a:t>is a data type whose representation is hidden from the client.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19489-02DD-D941-8879-83192D63FB2C}"/>
              </a:ext>
            </a:extLst>
          </p:cNvPr>
          <p:cNvSpPr txBox="1"/>
          <p:nvPr/>
        </p:nvSpPr>
        <p:spPr>
          <a:xfrm>
            <a:off x="838197" y="4515041"/>
            <a:ext cx="9462797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1"/>
                </a:solidFill>
              </a:rPr>
              <a:t>Impact: </a:t>
            </a:r>
            <a:r>
              <a:rPr lang="en-US" sz="2400" dirty="0"/>
              <a:t>Clients can use ADTs without knowing implementation details.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42CC8-AE22-3734-0326-1FAC2B16C2E4}"/>
              </a:ext>
            </a:extLst>
          </p:cNvPr>
          <p:cNvSpPr txBox="1"/>
          <p:nvPr/>
        </p:nvSpPr>
        <p:spPr>
          <a:xfrm>
            <a:off x="838197" y="5135982"/>
            <a:ext cx="10199915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1"/>
                </a:solidFill>
              </a:rPr>
              <a:t>Best practice: </a:t>
            </a:r>
            <a:r>
              <a:rPr lang="en-US" sz="2400" dirty="0"/>
              <a:t>Use abstract data types (representation is hidden from the client).</a:t>
            </a:r>
            <a:endParaRPr lang="en-PK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36820-8ADE-CDC6-47A5-9412628D9927}"/>
              </a:ext>
            </a:extLst>
          </p:cNvPr>
          <p:cNvSpPr txBox="1"/>
          <p:nvPr/>
        </p:nvSpPr>
        <p:spPr>
          <a:xfrm>
            <a:off x="838197" y="2478329"/>
            <a:ext cx="10199915" cy="187743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1"/>
                </a:solidFill>
              </a:rPr>
              <a:t>Example: </a:t>
            </a:r>
            <a:r>
              <a:rPr lang="en-US" sz="2400" dirty="0"/>
              <a:t>std::</a:t>
            </a:r>
            <a:r>
              <a:rPr lang="en-US" sz="2400" dirty="0">
                <a:latin typeface="Consolas" panose="020B0609020204030204" pitchFamily="49" charset="0"/>
              </a:rPr>
              <a:t>string</a:t>
            </a:r>
            <a:r>
              <a:rPr lang="en-US" sz="2400" dirty="0"/>
              <a:t> or </a:t>
            </a:r>
            <a:r>
              <a:rPr lang="en-US" sz="2400" dirty="0">
                <a:latin typeface="Consolas" panose="020B0609020204030204" pitchFamily="49" charset="0"/>
              </a:rPr>
              <a:t>std::vector</a:t>
            </a:r>
            <a:r>
              <a:rPr lang="en-US" sz="2400" dirty="0"/>
              <a:t> in standard library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 can </a:t>
            </a:r>
            <a:r>
              <a:rPr lang="en-US" sz="2400"/>
              <a:t>use them </a:t>
            </a:r>
            <a:r>
              <a:rPr lang="en-US" sz="2400" dirty="0"/>
              <a:t>without knowing how they </a:t>
            </a:r>
            <a:r>
              <a:rPr lang="en-US" sz="2400"/>
              <a:t>are represented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Compare to complex data type implemented earlier where representation of complex numbers is separate from operations on complex values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530841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9190-3328-DAB7-1365-534F634C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Object oriented programming</a:t>
            </a:r>
            <a:endParaRPr lang="en-PK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BF692-91A1-4D81-CC11-17A55398D26C}"/>
              </a:ext>
            </a:extLst>
          </p:cNvPr>
          <p:cNvSpPr txBox="1"/>
          <p:nvPr/>
        </p:nvSpPr>
        <p:spPr>
          <a:xfrm>
            <a:off x="838198" y="1650075"/>
            <a:ext cx="6577484" cy="150810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1"/>
                </a:solidFill>
              </a:rPr>
              <a:t>Object-oriented programming (OOP).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Create your own abstract data types.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them in your programs (manipulate objects)</a:t>
            </a:r>
            <a:endParaRPr lang="en-US" sz="2400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806C3F-CB4B-E1D0-CF7A-CF6D612F5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50058"/>
              </p:ext>
            </p:extLst>
          </p:nvPr>
        </p:nvGraphicFramePr>
        <p:xfrm>
          <a:off x="838198" y="4119052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174964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782323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9745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type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of values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 of operations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41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sequence of characters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size, substring, compare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571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vector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sequence of values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size, access, insert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204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map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key-value pairs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size, insert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5970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FBB383-2057-181A-FBE4-D90829E9AA3A}"/>
              </a:ext>
            </a:extLst>
          </p:cNvPr>
          <p:cNvSpPr txBox="1"/>
          <p:nvPr/>
        </p:nvSpPr>
        <p:spPr>
          <a:xfrm>
            <a:off x="838198" y="3657387"/>
            <a:ext cx="1478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Examples:</a:t>
            </a:r>
            <a:endParaRPr lang="en-PK" sz="2400" b="1" dirty="0"/>
          </a:p>
        </p:txBody>
      </p:sp>
    </p:spTree>
    <p:extLst>
      <p:ext uri="{BB962C8B-B14F-4D97-AF65-F5344CB8AC3E}">
        <p14:creationId xmlns:p14="http://schemas.microsoft.com/office/powerpoint/2010/main" val="285451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14382</TotalTime>
  <Words>1464</Words>
  <Application>Microsoft Office PowerPoint</Application>
  <PresentationFormat>Widescreen</PresentationFormat>
  <Paragraphs>202</Paragraphs>
  <Slides>16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Consolas</vt:lpstr>
      <vt:lpstr>Office Theme</vt:lpstr>
      <vt:lpstr>Introduction to Programming</vt:lpstr>
      <vt:lpstr>Types in C++</vt:lpstr>
      <vt:lpstr>Creating new types</vt:lpstr>
      <vt:lpstr>Initializing structures</vt:lpstr>
      <vt:lpstr>Passing struct to functions</vt:lpstr>
      <vt:lpstr>Returning struct from functions</vt:lpstr>
      <vt:lpstr>Example: A data type for Complex Numbers</vt:lpstr>
      <vt:lpstr>Crash course in complex numbers</vt:lpstr>
      <vt:lpstr>A data type for complex numbers</vt:lpstr>
      <vt:lpstr>A data type for complex numbers</vt:lpstr>
      <vt:lpstr>Implementing complex operations</vt:lpstr>
      <vt:lpstr>Implementing complex operations</vt:lpstr>
      <vt:lpstr>A client for complex data type</vt:lpstr>
      <vt:lpstr>Abstract Data Types</vt:lpstr>
      <vt:lpstr>Abstract Data Types</vt:lpstr>
      <vt:lpstr>Object oriented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Imran Rauf</dc:creator>
  <cp:lastModifiedBy>Maria Rahim Khowaja / Lecturer</cp:lastModifiedBy>
  <cp:revision>953</cp:revision>
  <dcterms:created xsi:type="dcterms:W3CDTF">2023-08-23T19:46:54Z</dcterms:created>
  <dcterms:modified xsi:type="dcterms:W3CDTF">2024-11-26T05:27:34Z</dcterms:modified>
</cp:coreProperties>
</file>